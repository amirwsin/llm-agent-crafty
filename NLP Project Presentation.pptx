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B6B"/>
    <a:srgbClr val="333334"/>
    <a:srgbClr val="245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744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3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res.cloudinary.com/b6fb0b0b89b19eca4055df569955127dde736438"/>
          <p:cNvPicPr>
            <a:picLocks noChangeAspect="1"/>
          </p:cNvPicPr>
          <p:nvPr/>
        </p:nvPicPr>
        <p:blipFill>
          <a:blip r:embed="rId3">
            <a:alphaModFix amt="20000"/>
          </a:blip>
          <a:srcRect l="3" r="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535C">
                  <a:alpha val="95000"/>
                </a:srgbClr>
              </a:gs>
              <a:gs pos="50000">
                <a:srgbClr val="1A535C">
                  <a:alpha val="85000"/>
                </a:srgbClr>
              </a:gs>
              <a:gs pos="100000">
                <a:srgbClr val="4A6C7C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847725" y="2070735"/>
            <a:ext cx="10496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توسعه و ارتقای عامل‌های سیاست‌گذار هوشمند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916555" y="3804285"/>
            <a:ext cx="6362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2250" b="1" dirty="0" err="1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در</a:t>
            </a:r>
            <a:r>
              <a:rPr lang="en-US" sz="2250" b="1" dirty="0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2250" b="1" dirty="0" err="1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مدل</a:t>
            </a:r>
            <a:r>
              <a:rPr lang="en-US" sz="2250" b="1" dirty="0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CRAFTY با بهره‌گیری از مدل‌های زبانی بزرگ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884477" y="460438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0" name="Text 7"/>
          <p:cNvSpPr/>
          <p:nvPr/>
        </p:nvSpPr>
        <p:spPr>
          <a:xfrm>
            <a:off x="6657499" y="4547235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chemeClr val="bg1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Gemini &amp; GPT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33661" y="4528185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6033611" y="460438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3" name="Text 10"/>
          <p:cNvSpPr/>
          <p:nvPr/>
        </p:nvSpPr>
        <p:spPr>
          <a:xfrm>
            <a:off x="4074319" y="454723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chemeClr val="bg1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ABM + LLM Integration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81000" y="57111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381000" y="5859780"/>
            <a:ext cx="639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عنوان مقاله مرجع</a:t>
            </a:r>
            <a:endParaRPr lang="en-US" sz="1600" dirty="0">
              <a:solidFill>
                <a:srgbClr val="FF6B6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80999" y="6206490"/>
            <a:ext cx="639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Exploring the opportunities and challenges of using LLMs to represent institutional agency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506075" y="585978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ارائه‌دهنده</a:t>
            </a:r>
            <a:endParaRPr lang="en-US" sz="1600" dirty="0">
              <a:solidFill>
                <a:srgbClr val="FF6B6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496550" y="6155055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امیرحسین بیگدلی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600" y="495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430000" y="64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32532" y="401053"/>
            <a:ext cx="2238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80000"/>
              </a:lnSpc>
            </a:pPr>
            <a:r>
              <a:rPr lang="en-US" sz="36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بیان مسئله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984932" y="895350"/>
            <a:ext cx="2105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50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Problem Statement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153400" y="1371600"/>
            <a:ext cx="3638550" cy="3943350"/>
          </a:xfrm>
          <a:custGeom>
            <a:avLst/>
            <a:gdLst/>
            <a:ahLst/>
            <a:cxnLst/>
            <a:rect l="l" t="t" r="r" b="b"/>
            <a:pathLst>
              <a:path w="3638550" h="3943350">
                <a:moveTo>
                  <a:pt x="152382" y="0"/>
                </a:moveTo>
                <a:lnTo>
                  <a:pt x="3600450" y="0"/>
                </a:lnTo>
                <a:cubicBezTo>
                  <a:pt x="3621492" y="0"/>
                  <a:pt x="3638550" y="17058"/>
                  <a:pt x="3638550" y="38100"/>
                </a:cubicBezTo>
                <a:lnTo>
                  <a:pt x="3638550" y="3905250"/>
                </a:lnTo>
                <a:cubicBezTo>
                  <a:pt x="3638550" y="3926292"/>
                  <a:pt x="3621492" y="3943350"/>
                  <a:pt x="3600450" y="3943350"/>
                </a:cubicBezTo>
                <a:lnTo>
                  <a:pt x="152382" y="3943350"/>
                </a:lnTo>
                <a:cubicBezTo>
                  <a:pt x="68224" y="3943350"/>
                  <a:pt x="0" y="3875126"/>
                  <a:pt x="0" y="3790968"/>
                </a:cubicBezTo>
                <a:lnTo>
                  <a:pt x="0" y="152382"/>
                </a:lnTo>
                <a:cubicBezTo>
                  <a:pt x="0" y="68280"/>
                  <a:pt x="68280" y="0"/>
                  <a:pt x="1523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791950" y="1371600"/>
            <a:ext cx="38100" cy="3943350"/>
          </a:xfrm>
          <a:custGeom>
            <a:avLst/>
            <a:gdLst/>
            <a:ahLst/>
            <a:cxnLst/>
            <a:rect l="l" t="t" r="r" b="b"/>
            <a:pathLst>
              <a:path w="38100" h="394335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905250"/>
                </a:lnTo>
                <a:cubicBezTo>
                  <a:pt x="38100" y="3926278"/>
                  <a:pt x="21028" y="3943350"/>
                  <a:pt x="0" y="3943350"/>
                </a:cubicBezTo>
                <a:lnTo>
                  <a:pt x="0" y="394335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110871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96638" y="17335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8730165" y="1676400"/>
            <a:ext cx="2257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چالش مدل‌های کلاسیک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82000" y="2209800"/>
            <a:ext cx="3248025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rtl="1"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سیاست‌گذاران در مدل‌های سنتی یا </a:t>
            </a:r>
            <a:r>
              <a:rPr lang="en-US" sz="1350" dirty="0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حذف می‌شدند 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یا مانند </a:t>
            </a:r>
            <a:r>
              <a:rPr lang="en-US" sz="1350" dirty="0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ربات‌های ریاضی 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عمل می‌کردند - بدون درک متن و شرایط پیچیده واقعی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382000" y="4556760"/>
            <a:ext cx="3162300" cy="533400"/>
          </a:xfrm>
          <a:custGeom>
            <a:avLst/>
            <a:gdLst/>
            <a:ahLst/>
            <a:cxnLst/>
            <a:rect l="l" t="t" r="r" b="b"/>
            <a:pathLst>
              <a:path w="3162300" h="533400">
                <a:moveTo>
                  <a:pt x="114302" y="0"/>
                </a:moveTo>
                <a:lnTo>
                  <a:pt x="3047998" y="0"/>
                </a:lnTo>
                <a:cubicBezTo>
                  <a:pt x="3111083" y="0"/>
                  <a:pt x="3162300" y="51217"/>
                  <a:pt x="3162300" y="114302"/>
                </a:cubicBezTo>
                <a:lnTo>
                  <a:pt x="3162300" y="419098"/>
                </a:lnTo>
                <a:cubicBezTo>
                  <a:pt x="3162300" y="482183"/>
                  <a:pt x="3111083" y="533400"/>
                  <a:pt x="30479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20450" y="47396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724900" y="4724400"/>
            <a:ext cx="2365057" cy="18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فقدان توانایی استدلال و تفسیر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67200" y="1371600"/>
            <a:ext cx="3638550" cy="3943350"/>
          </a:xfrm>
          <a:custGeom>
            <a:avLst/>
            <a:gdLst/>
            <a:ahLst/>
            <a:cxnLst/>
            <a:rect l="l" t="t" r="r" b="b"/>
            <a:pathLst>
              <a:path w="3638550" h="3943350">
                <a:moveTo>
                  <a:pt x="152382" y="0"/>
                </a:moveTo>
                <a:lnTo>
                  <a:pt x="3600450" y="0"/>
                </a:lnTo>
                <a:cubicBezTo>
                  <a:pt x="3621492" y="0"/>
                  <a:pt x="3638550" y="17058"/>
                  <a:pt x="3638550" y="38100"/>
                </a:cubicBezTo>
                <a:lnTo>
                  <a:pt x="3638550" y="3905250"/>
                </a:lnTo>
                <a:cubicBezTo>
                  <a:pt x="3638550" y="3926292"/>
                  <a:pt x="3621492" y="3943350"/>
                  <a:pt x="3600450" y="3943350"/>
                </a:cubicBezTo>
                <a:lnTo>
                  <a:pt x="152382" y="3943350"/>
                </a:lnTo>
                <a:cubicBezTo>
                  <a:pt x="68224" y="3943350"/>
                  <a:pt x="0" y="3875126"/>
                  <a:pt x="0" y="3790968"/>
                </a:cubicBezTo>
                <a:lnTo>
                  <a:pt x="0" y="152382"/>
                </a:lnTo>
                <a:cubicBezTo>
                  <a:pt x="0" y="68280"/>
                  <a:pt x="68280" y="0"/>
                  <a:pt x="1523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05750" y="1371600"/>
            <a:ext cx="38100" cy="3943350"/>
          </a:xfrm>
          <a:custGeom>
            <a:avLst/>
            <a:gdLst/>
            <a:ahLst/>
            <a:cxnLst/>
            <a:rect l="l" t="t" r="r" b="b"/>
            <a:pathLst>
              <a:path w="38100" h="394335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905250"/>
                </a:lnTo>
                <a:cubicBezTo>
                  <a:pt x="38100" y="3926278"/>
                  <a:pt x="21028" y="3943350"/>
                  <a:pt x="0" y="3943350"/>
                </a:cubicBezTo>
                <a:lnTo>
                  <a:pt x="0" y="3943350"/>
                </a:lnTo>
                <a:lnTo>
                  <a:pt x="0" y="0"/>
                </a:ln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17" name="Shape 15"/>
          <p:cNvSpPr/>
          <p:nvPr/>
        </p:nvSpPr>
        <p:spPr>
          <a:xfrm>
            <a:off x="72009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7C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34250" y="1733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19" name="Text 17"/>
          <p:cNvSpPr/>
          <p:nvPr/>
        </p:nvSpPr>
        <p:spPr>
          <a:xfrm>
            <a:off x="5957888" y="1668780"/>
            <a:ext cx="1133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خلاء موجود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95800" y="2209800"/>
            <a:ext cx="3248025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rtl="1">
              <a:lnSpc>
                <a:spcPct val="140000"/>
              </a:lnSpc>
            </a:pP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نبود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استدلال</a:t>
            </a:r>
            <a:r>
              <a:rPr lang="en-US" sz="1350" dirty="0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منطقی</a:t>
            </a:r>
            <a:r>
              <a:rPr lang="en-US" sz="1350" dirty="0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(Reasoning) و </a:t>
            </a:r>
            <a:r>
              <a:rPr lang="en-US" sz="1350" dirty="0" err="1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حافظه</a:t>
            </a:r>
            <a:r>
              <a:rPr lang="en-US" sz="1350" dirty="0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تاریخی</a:t>
            </a:r>
            <a:r>
              <a:rPr lang="en-US" sz="1350" dirty="0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در تصمیمات نهادی، منجر به شبیه‌سازی‌های غیرواقع‌گرایانه می‌شود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95800" y="4556760"/>
            <a:ext cx="3162300" cy="533400"/>
          </a:xfrm>
          <a:custGeom>
            <a:avLst/>
            <a:gdLst/>
            <a:ahLst/>
            <a:cxnLst/>
            <a:rect l="l" t="t" r="r" b="b"/>
            <a:pathLst>
              <a:path w="3162300" h="533400">
                <a:moveTo>
                  <a:pt x="114302" y="0"/>
                </a:moveTo>
                <a:lnTo>
                  <a:pt x="3047998" y="0"/>
                </a:lnTo>
                <a:cubicBezTo>
                  <a:pt x="3111083" y="0"/>
                  <a:pt x="3162300" y="51217"/>
                  <a:pt x="3162300" y="114302"/>
                </a:cubicBezTo>
                <a:lnTo>
                  <a:pt x="3162300" y="419098"/>
                </a:lnTo>
                <a:cubicBezTo>
                  <a:pt x="3162300" y="482183"/>
                  <a:pt x="3111083" y="533400"/>
                  <a:pt x="30479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334250" y="47396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23" name="Text 21"/>
          <p:cNvSpPr/>
          <p:nvPr/>
        </p:nvSpPr>
        <p:spPr>
          <a:xfrm>
            <a:off x="4838700" y="470916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عدم یادگیری از تجربیات گذشته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81000" y="1371600"/>
            <a:ext cx="3638550" cy="3943350"/>
          </a:xfrm>
          <a:custGeom>
            <a:avLst/>
            <a:gdLst/>
            <a:ahLst/>
            <a:cxnLst/>
            <a:rect l="l" t="t" r="r" b="b"/>
            <a:pathLst>
              <a:path w="3638550" h="3943350">
                <a:moveTo>
                  <a:pt x="152382" y="0"/>
                </a:moveTo>
                <a:lnTo>
                  <a:pt x="3600450" y="0"/>
                </a:lnTo>
                <a:cubicBezTo>
                  <a:pt x="3621492" y="0"/>
                  <a:pt x="3638550" y="17058"/>
                  <a:pt x="3638550" y="38100"/>
                </a:cubicBezTo>
                <a:lnTo>
                  <a:pt x="3638550" y="3905250"/>
                </a:lnTo>
                <a:cubicBezTo>
                  <a:pt x="3638550" y="3926292"/>
                  <a:pt x="3621492" y="3943350"/>
                  <a:pt x="3600450" y="3943350"/>
                </a:cubicBezTo>
                <a:lnTo>
                  <a:pt x="152382" y="3943350"/>
                </a:lnTo>
                <a:cubicBezTo>
                  <a:pt x="68224" y="3943350"/>
                  <a:pt x="0" y="3875126"/>
                  <a:pt x="0" y="3790968"/>
                </a:cubicBezTo>
                <a:lnTo>
                  <a:pt x="0" y="152382"/>
                </a:lnTo>
                <a:cubicBezTo>
                  <a:pt x="0" y="68280"/>
                  <a:pt x="68280" y="0"/>
                  <a:pt x="1523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19550" y="1371600"/>
            <a:ext cx="38100" cy="3943350"/>
          </a:xfrm>
          <a:custGeom>
            <a:avLst/>
            <a:gdLst/>
            <a:ahLst/>
            <a:cxnLst/>
            <a:rect l="l" t="t" r="r" b="b"/>
            <a:pathLst>
              <a:path w="38100" h="394335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905250"/>
                </a:lnTo>
                <a:cubicBezTo>
                  <a:pt x="38100" y="3926278"/>
                  <a:pt x="21028" y="3943350"/>
                  <a:pt x="0" y="3943350"/>
                </a:cubicBezTo>
                <a:lnTo>
                  <a:pt x="0" y="3943350"/>
                </a:lnTo>
                <a:lnTo>
                  <a:pt x="0" y="0"/>
                </a:ln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26" name="Shape 24"/>
          <p:cNvSpPr/>
          <p:nvPr/>
        </p:nvSpPr>
        <p:spPr>
          <a:xfrm>
            <a:off x="33147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71863" y="17335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28" name="Text 26"/>
          <p:cNvSpPr/>
          <p:nvPr/>
        </p:nvSpPr>
        <p:spPr>
          <a:xfrm>
            <a:off x="1596315" y="1676400"/>
            <a:ext cx="1609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راهکار پیشنهادی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9600" y="2209800"/>
            <a:ext cx="3248025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rtl="1"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استفاده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از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LLM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به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عنوان مغز متفکر نهاد سیاست‌گذار برای شبیه‌سازی رفتارهای واقع‌گرایانه انسانی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مثل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احتیاط</a:t>
            </a:r>
            <a:r>
              <a:rPr lang="en-US" sz="1350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و </a:t>
            </a:r>
            <a:r>
              <a:rPr lang="en-US" sz="1350" dirty="0" err="1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یادگیری</a:t>
            </a:r>
            <a:r>
              <a:rPr lang="en-US" sz="1350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از</a:t>
            </a:r>
            <a:r>
              <a:rPr lang="en-US" sz="1350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شکست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9600" y="4556760"/>
            <a:ext cx="3162300" cy="533400"/>
          </a:xfrm>
          <a:custGeom>
            <a:avLst/>
            <a:gdLst/>
            <a:ahLst/>
            <a:cxnLst/>
            <a:rect l="l" t="t" r="r" b="b"/>
            <a:pathLst>
              <a:path w="3162300" h="533400">
                <a:moveTo>
                  <a:pt x="114302" y="0"/>
                </a:moveTo>
                <a:lnTo>
                  <a:pt x="3047998" y="0"/>
                </a:lnTo>
                <a:cubicBezTo>
                  <a:pt x="3111083" y="0"/>
                  <a:pt x="3162300" y="51217"/>
                  <a:pt x="3162300" y="114302"/>
                </a:cubicBezTo>
                <a:lnTo>
                  <a:pt x="3162300" y="419098"/>
                </a:lnTo>
                <a:cubicBezTo>
                  <a:pt x="3162300" y="482183"/>
                  <a:pt x="3111083" y="533400"/>
                  <a:pt x="30479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535C">
              <a:alpha val="5098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48050" y="47396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" y="470916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تصمیم‌گیری شفاف و تبیین‌پذیر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84810" y="5551170"/>
            <a:ext cx="11418570" cy="922020"/>
          </a:xfrm>
          <a:custGeom>
            <a:avLst/>
            <a:gdLst/>
            <a:ahLst/>
            <a:cxnLst/>
            <a:rect l="l" t="t" r="r" b="b"/>
            <a:pathLst>
              <a:path w="11418570" h="9220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807717"/>
                </a:lnTo>
                <a:cubicBezTo>
                  <a:pt x="11418570" y="870845"/>
                  <a:pt x="11367395" y="922020"/>
                  <a:pt x="1130426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>
                  <a:alpha val="10000"/>
                </a:srgbClr>
              </a:gs>
              <a:gs pos="100000">
                <a:srgbClr val="4A6C7C">
                  <a:alpha val="10000"/>
                </a:srgbClr>
              </a:gs>
            </a:gsLst>
            <a:lin ang="0" scaled="1"/>
          </a:gradFill>
          <a:ln w="10160">
            <a:solidFill>
              <a:srgbClr val="1A535C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414919" y="589788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132159"/>
                </a:moveTo>
                <a:cubicBezTo>
                  <a:pt x="200025" y="161761"/>
                  <a:pt x="176049" y="185738"/>
                  <a:pt x="146447" y="185738"/>
                </a:cubicBezTo>
                <a:lnTo>
                  <a:pt x="142875" y="185738"/>
                </a:lnTo>
                <a:cubicBezTo>
                  <a:pt x="134972" y="185738"/>
                  <a:pt x="128588" y="179353"/>
                  <a:pt x="128588" y="171450"/>
                </a:cubicBezTo>
                <a:cubicBezTo>
                  <a:pt x="128588" y="163547"/>
                  <a:pt x="134972" y="157163"/>
                  <a:pt x="142875" y="157163"/>
                </a:cubicBezTo>
                <a:lnTo>
                  <a:pt x="146447" y="157163"/>
                </a:lnTo>
                <a:cubicBezTo>
                  <a:pt x="160243" y="157163"/>
                  <a:pt x="171450" y="145956"/>
                  <a:pt x="171450" y="132159"/>
                </a:cubicBezTo>
                <a:lnTo>
                  <a:pt x="171450" y="128588"/>
                </a:lnTo>
                <a:lnTo>
                  <a:pt x="142875" y="128588"/>
                </a:lnTo>
                <a:cubicBezTo>
                  <a:pt x="127114" y="128588"/>
                  <a:pt x="114300" y="115773"/>
                  <a:pt x="114300" y="100013"/>
                </a:cubicBezTo>
                <a:lnTo>
                  <a:pt x="114300" y="71438"/>
                </a:lnTo>
                <a:cubicBezTo>
                  <a:pt x="114300" y="55677"/>
                  <a:pt x="127114" y="42863"/>
                  <a:pt x="142875" y="42863"/>
                </a:cubicBezTo>
                <a:lnTo>
                  <a:pt x="171450" y="42863"/>
                </a:lnTo>
                <a:cubicBezTo>
                  <a:pt x="187211" y="42863"/>
                  <a:pt x="200025" y="55677"/>
                  <a:pt x="200025" y="71438"/>
                </a:cubicBezTo>
                <a:lnTo>
                  <a:pt x="200025" y="132159"/>
                </a:lnTo>
                <a:close/>
                <a:moveTo>
                  <a:pt x="85725" y="132159"/>
                </a:moveTo>
                <a:cubicBezTo>
                  <a:pt x="85725" y="161761"/>
                  <a:pt x="61749" y="185738"/>
                  <a:pt x="32147" y="185738"/>
                </a:cubicBezTo>
                <a:lnTo>
                  <a:pt x="28575" y="185738"/>
                </a:lnTo>
                <a:cubicBezTo>
                  <a:pt x="20672" y="185738"/>
                  <a:pt x="14288" y="179353"/>
                  <a:pt x="14288" y="171450"/>
                </a:cubicBezTo>
                <a:cubicBezTo>
                  <a:pt x="14288" y="163547"/>
                  <a:pt x="20672" y="157163"/>
                  <a:pt x="28575" y="157163"/>
                </a:cubicBezTo>
                <a:lnTo>
                  <a:pt x="32147" y="157163"/>
                </a:lnTo>
                <a:cubicBezTo>
                  <a:pt x="45943" y="157163"/>
                  <a:pt x="57150" y="145956"/>
                  <a:pt x="57150" y="132159"/>
                </a:cubicBezTo>
                <a:lnTo>
                  <a:pt x="57150" y="128588"/>
                </a:lnTo>
                <a:lnTo>
                  <a:pt x="28575" y="128588"/>
                </a:lnTo>
                <a:cubicBezTo>
                  <a:pt x="12814" y="128588"/>
                  <a:pt x="0" y="115773"/>
                  <a:pt x="0" y="100013"/>
                </a:cubicBezTo>
                <a:lnTo>
                  <a:pt x="0" y="71438"/>
                </a:lnTo>
                <a:cubicBezTo>
                  <a:pt x="0" y="55677"/>
                  <a:pt x="12814" y="42863"/>
                  <a:pt x="28575" y="42863"/>
                </a:cubicBezTo>
                <a:lnTo>
                  <a:pt x="57150" y="42863"/>
                </a:lnTo>
                <a:cubicBezTo>
                  <a:pt x="72911" y="42863"/>
                  <a:pt x="85725" y="55677"/>
                  <a:pt x="85725" y="71438"/>
                </a:cubicBezTo>
                <a:lnTo>
                  <a:pt x="85725" y="132159"/>
                </a:ln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5" name="Text 33"/>
          <p:cNvSpPr/>
          <p:nvPr/>
        </p:nvSpPr>
        <p:spPr>
          <a:xfrm>
            <a:off x="579120" y="5745480"/>
            <a:ext cx="107727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اهمیت کلیدی: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عدم قطعیت در پیش‌بینی‌های اقلیمی اغلب ناشی از عدم قطعیت در رفتارهای انسانی است. استفاده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از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LLM</a:t>
            </a:r>
            <a:r>
              <a:rPr lang="fa-IR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این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امکان را می‌دهد که برای اولین بار،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استدلال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منطقی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و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تفسیر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کیفی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را وارد مدل‌های عددی کنیم.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9657" y="470315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144710" y="0"/>
                </a:moveTo>
                <a:lnTo>
                  <a:pt x="361783" y="0"/>
                </a:lnTo>
                <a:cubicBezTo>
                  <a:pt x="441650" y="0"/>
                  <a:pt x="506493" y="64842"/>
                  <a:pt x="506493" y="144710"/>
                </a:cubicBezTo>
                <a:lnTo>
                  <a:pt x="506493" y="361783"/>
                </a:lnTo>
                <a:cubicBezTo>
                  <a:pt x="506493" y="441650"/>
                  <a:pt x="441650" y="506493"/>
                  <a:pt x="361783" y="506493"/>
                </a:cubicBezTo>
                <a:lnTo>
                  <a:pt x="144710" y="506493"/>
                </a:lnTo>
                <a:cubicBezTo>
                  <a:pt x="64842" y="506493"/>
                  <a:pt x="0" y="441650"/>
                  <a:pt x="0" y="361783"/>
                </a:cubicBezTo>
                <a:lnTo>
                  <a:pt x="0" y="144710"/>
                </a:lnTo>
                <a:cubicBezTo>
                  <a:pt x="0" y="64842"/>
                  <a:pt x="64842" y="0"/>
                  <a:pt x="144710" y="0"/>
                </a:cubicBezTo>
                <a:close/>
              </a:path>
            </a:pathLst>
          </a:custGeom>
          <a:solidFill>
            <a:srgbClr val="1A535C"/>
          </a:solidFill>
          <a:ln/>
          <a:effectLst>
            <a:outerShdw blurRad="135668" dist="904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477936" y="615027"/>
            <a:ext cx="189935" cy="217068"/>
          </a:xfrm>
          <a:custGeom>
            <a:avLst/>
            <a:gdLst/>
            <a:ahLst/>
            <a:cxnLst/>
            <a:rect l="l" t="t" r="r" b="b"/>
            <a:pathLst>
              <a:path w="189935" h="217068">
                <a:moveTo>
                  <a:pt x="27134" y="13567"/>
                </a:moveTo>
                <a:cubicBezTo>
                  <a:pt x="12168" y="13567"/>
                  <a:pt x="0" y="25734"/>
                  <a:pt x="0" y="40700"/>
                </a:cubicBezTo>
                <a:lnTo>
                  <a:pt x="0" y="67834"/>
                </a:lnTo>
                <a:cubicBezTo>
                  <a:pt x="0" y="82800"/>
                  <a:pt x="12168" y="94967"/>
                  <a:pt x="27134" y="94967"/>
                </a:cubicBezTo>
                <a:lnTo>
                  <a:pt x="162801" y="94967"/>
                </a:lnTo>
                <a:cubicBezTo>
                  <a:pt x="177767" y="94967"/>
                  <a:pt x="189935" y="82800"/>
                  <a:pt x="189935" y="67834"/>
                </a:cubicBezTo>
                <a:lnTo>
                  <a:pt x="189935" y="40700"/>
                </a:lnTo>
                <a:cubicBezTo>
                  <a:pt x="189935" y="25734"/>
                  <a:pt x="177767" y="13567"/>
                  <a:pt x="162801" y="13567"/>
                </a:cubicBezTo>
                <a:lnTo>
                  <a:pt x="27134" y="13567"/>
                </a:lnTo>
                <a:close/>
                <a:moveTo>
                  <a:pt x="118709" y="44092"/>
                </a:moveTo>
                <a:cubicBezTo>
                  <a:pt x="124325" y="44092"/>
                  <a:pt x="128884" y="48651"/>
                  <a:pt x="128884" y="54267"/>
                </a:cubicBezTo>
                <a:cubicBezTo>
                  <a:pt x="128884" y="59883"/>
                  <a:pt x="124325" y="64442"/>
                  <a:pt x="118709" y="64442"/>
                </a:cubicBezTo>
                <a:cubicBezTo>
                  <a:pt x="113093" y="64442"/>
                  <a:pt x="108534" y="59883"/>
                  <a:pt x="108534" y="54267"/>
                </a:cubicBezTo>
                <a:cubicBezTo>
                  <a:pt x="108534" y="48651"/>
                  <a:pt x="113093" y="44092"/>
                  <a:pt x="118709" y="44092"/>
                </a:cubicBezTo>
                <a:close/>
                <a:moveTo>
                  <a:pt x="142451" y="54267"/>
                </a:moveTo>
                <a:cubicBezTo>
                  <a:pt x="142451" y="48651"/>
                  <a:pt x="147010" y="44092"/>
                  <a:pt x="152626" y="44092"/>
                </a:cubicBezTo>
                <a:cubicBezTo>
                  <a:pt x="158242" y="44092"/>
                  <a:pt x="162801" y="48651"/>
                  <a:pt x="162801" y="54267"/>
                </a:cubicBezTo>
                <a:cubicBezTo>
                  <a:pt x="162801" y="59883"/>
                  <a:pt x="158242" y="64442"/>
                  <a:pt x="152626" y="64442"/>
                </a:cubicBezTo>
                <a:cubicBezTo>
                  <a:pt x="147010" y="64442"/>
                  <a:pt x="142451" y="59883"/>
                  <a:pt x="142451" y="54267"/>
                </a:cubicBezTo>
                <a:close/>
                <a:moveTo>
                  <a:pt x="27134" y="122101"/>
                </a:moveTo>
                <a:cubicBezTo>
                  <a:pt x="12168" y="122101"/>
                  <a:pt x="0" y="134269"/>
                  <a:pt x="0" y="149234"/>
                </a:cubicBezTo>
                <a:lnTo>
                  <a:pt x="0" y="176368"/>
                </a:lnTo>
                <a:cubicBezTo>
                  <a:pt x="0" y="191334"/>
                  <a:pt x="12168" y="203501"/>
                  <a:pt x="27134" y="203501"/>
                </a:cubicBezTo>
                <a:lnTo>
                  <a:pt x="162801" y="203501"/>
                </a:lnTo>
                <a:cubicBezTo>
                  <a:pt x="177767" y="203501"/>
                  <a:pt x="189935" y="191334"/>
                  <a:pt x="189935" y="176368"/>
                </a:cubicBezTo>
                <a:lnTo>
                  <a:pt x="189935" y="149234"/>
                </a:lnTo>
                <a:cubicBezTo>
                  <a:pt x="189935" y="134269"/>
                  <a:pt x="177767" y="122101"/>
                  <a:pt x="162801" y="122101"/>
                </a:cubicBezTo>
                <a:lnTo>
                  <a:pt x="27134" y="122101"/>
                </a:lnTo>
                <a:close/>
                <a:moveTo>
                  <a:pt x="118709" y="152626"/>
                </a:moveTo>
                <a:cubicBezTo>
                  <a:pt x="124325" y="152626"/>
                  <a:pt x="128884" y="157185"/>
                  <a:pt x="128884" y="162801"/>
                </a:cubicBezTo>
                <a:cubicBezTo>
                  <a:pt x="128884" y="168417"/>
                  <a:pt x="124325" y="172976"/>
                  <a:pt x="118709" y="172976"/>
                </a:cubicBezTo>
                <a:cubicBezTo>
                  <a:pt x="113093" y="172976"/>
                  <a:pt x="108534" y="168417"/>
                  <a:pt x="108534" y="162801"/>
                </a:cubicBezTo>
                <a:cubicBezTo>
                  <a:pt x="108534" y="157185"/>
                  <a:pt x="113093" y="152626"/>
                  <a:pt x="118709" y="152626"/>
                </a:cubicBezTo>
                <a:close/>
                <a:moveTo>
                  <a:pt x="142451" y="162801"/>
                </a:moveTo>
                <a:cubicBezTo>
                  <a:pt x="142451" y="157185"/>
                  <a:pt x="147010" y="152626"/>
                  <a:pt x="152626" y="152626"/>
                </a:cubicBezTo>
                <a:cubicBezTo>
                  <a:pt x="158242" y="152626"/>
                  <a:pt x="162801" y="157185"/>
                  <a:pt x="162801" y="162801"/>
                </a:cubicBezTo>
                <a:cubicBezTo>
                  <a:pt x="162801" y="168417"/>
                  <a:pt x="158242" y="172976"/>
                  <a:pt x="152626" y="172976"/>
                </a:cubicBezTo>
                <a:cubicBezTo>
                  <a:pt x="147010" y="172976"/>
                  <a:pt x="142451" y="168417"/>
                  <a:pt x="142451" y="16280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859055" y="361780"/>
            <a:ext cx="4315890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80000"/>
              </a:lnSpc>
            </a:pPr>
            <a:r>
              <a:rPr lang="en-US" sz="3418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معرفی محیط شبیه‌سازی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9056" y="868271"/>
            <a:ext cx="4315890" cy="21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424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CRAFTY &amp; Java Backend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02424" y="1302409"/>
            <a:ext cx="5625685" cy="1908392"/>
          </a:xfrm>
          <a:custGeom>
            <a:avLst/>
            <a:gdLst/>
            <a:ahLst/>
            <a:cxnLst/>
            <a:rect l="l" t="t" r="r" b="b"/>
            <a:pathLst>
              <a:path w="5625685" h="1908392">
                <a:moveTo>
                  <a:pt x="144713" y="0"/>
                </a:moveTo>
                <a:lnTo>
                  <a:pt x="5480972" y="0"/>
                </a:lnTo>
                <a:cubicBezTo>
                  <a:pt x="5560895" y="0"/>
                  <a:pt x="5625685" y="64790"/>
                  <a:pt x="5625685" y="144713"/>
                </a:cubicBezTo>
                <a:lnTo>
                  <a:pt x="5625685" y="1763678"/>
                </a:lnTo>
                <a:cubicBezTo>
                  <a:pt x="5625685" y="1843601"/>
                  <a:pt x="5560895" y="1908392"/>
                  <a:pt x="5480972" y="1908392"/>
                </a:cubicBezTo>
                <a:lnTo>
                  <a:pt x="144713" y="1908392"/>
                </a:lnTo>
                <a:cubicBezTo>
                  <a:pt x="64790" y="1908392"/>
                  <a:pt x="0" y="1843601"/>
                  <a:pt x="0" y="1763678"/>
                </a:cubicBezTo>
                <a:lnTo>
                  <a:pt x="0" y="144713"/>
                </a:lnTo>
                <a:cubicBezTo>
                  <a:pt x="0" y="64844"/>
                  <a:pt x="64844" y="0"/>
                  <a:pt x="14471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668" dist="904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174945" y="1519478"/>
            <a:ext cx="434136" cy="434136"/>
          </a:xfrm>
          <a:custGeom>
            <a:avLst/>
            <a:gdLst/>
            <a:ahLst/>
            <a:cxnLst/>
            <a:rect l="l" t="t" r="r" b="b"/>
            <a:pathLst>
              <a:path w="434136" h="434136">
                <a:moveTo>
                  <a:pt x="108534" y="0"/>
                </a:moveTo>
                <a:lnTo>
                  <a:pt x="325602" y="0"/>
                </a:lnTo>
                <a:cubicBezTo>
                  <a:pt x="385504" y="0"/>
                  <a:pt x="434136" y="48633"/>
                  <a:pt x="434136" y="108534"/>
                </a:cubicBezTo>
                <a:lnTo>
                  <a:pt x="434136" y="325602"/>
                </a:lnTo>
                <a:cubicBezTo>
                  <a:pt x="434136" y="385504"/>
                  <a:pt x="385504" y="434136"/>
                  <a:pt x="325602" y="434136"/>
                </a:cubicBezTo>
                <a:lnTo>
                  <a:pt x="108534" y="434136"/>
                </a:lnTo>
                <a:cubicBezTo>
                  <a:pt x="48633" y="434136"/>
                  <a:pt x="0" y="385504"/>
                  <a:pt x="0" y="325602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8" name="Shape 6"/>
          <p:cNvSpPr/>
          <p:nvPr/>
        </p:nvSpPr>
        <p:spPr>
          <a:xfrm>
            <a:off x="11301568" y="1646101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124327" y="98924"/>
                </a:moveTo>
                <a:lnTo>
                  <a:pt x="56881" y="98924"/>
                </a:lnTo>
                <a:cubicBezTo>
                  <a:pt x="57906" y="121712"/>
                  <a:pt x="62958" y="142698"/>
                  <a:pt x="70130" y="158067"/>
                </a:cubicBezTo>
                <a:cubicBezTo>
                  <a:pt x="74158" y="166723"/>
                  <a:pt x="78504" y="172835"/>
                  <a:pt x="82531" y="176580"/>
                </a:cubicBezTo>
                <a:cubicBezTo>
                  <a:pt x="86488" y="180290"/>
                  <a:pt x="89209" y="180890"/>
                  <a:pt x="90622" y="180890"/>
                </a:cubicBezTo>
                <a:cubicBezTo>
                  <a:pt x="92035" y="180890"/>
                  <a:pt x="94755" y="180290"/>
                  <a:pt x="98712" y="176580"/>
                </a:cubicBezTo>
                <a:cubicBezTo>
                  <a:pt x="102740" y="172835"/>
                  <a:pt x="107086" y="166688"/>
                  <a:pt x="111113" y="158067"/>
                </a:cubicBezTo>
                <a:cubicBezTo>
                  <a:pt x="118285" y="142698"/>
                  <a:pt x="123337" y="121712"/>
                  <a:pt x="124362" y="98924"/>
                </a:cubicBezTo>
                <a:close/>
                <a:moveTo>
                  <a:pt x="56846" y="81966"/>
                </a:moveTo>
                <a:lnTo>
                  <a:pt x="124291" y="81966"/>
                </a:lnTo>
                <a:cubicBezTo>
                  <a:pt x="123302" y="59178"/>
                  <a:pt x="118250" y="38192"/>
                  <a:pt x="111078" y="22823"/>
                </a:cubicBezTo>
                <a:cubicBezTo>
                  <a:pt x="107050" y="14203"/>
                  <a:pt x="102705" y="8055"/>
                  <a:pt x="98677" y="4310"/>
                </a:cubicBezTo>
                <a:cubicBezTo>
                  <a:pt x="94720" y="601"/>
                  <a:pt x="92000" y="0"/>
                  <a:pt x="90586" y="0"/>
                </a:cubicBezTo>
                <a:cubicBezTo>
                  <a:pt x="89173" y="0"/>
                  <a:pt x="86453" y="601"/>
                  <a:pt x="82496" y="4310"/>
                </a:cubicBezTo>
                <a:cubicBezTo>
                  <a:pt x="78468" y="8055"/>
                  <a:pt x="74123" y="14203"/>
                  <a:pt x="70095" y="22823"/>
                </a:cubicBezTo>
                <a:cubicBezTo>
                  <a:pt x="62923" y="38192"/>
                  <a:pt x="57871" y="59178"/>
                  <a:pt x="56846" y="81966"/>
                </a:cubicBezTo>
                <a:close/>
                <a:moveTo>
                  <a:pt x="39888" y="81966"/>
                </a:moveTo>
                <a:cubicBezTo>
                  <a:pt x="41124" y="51723"/>
                  <a:pt x="48932" y="23636"/>
                  <a:pt x="60344" y="5194"/>
                </a:cubicBezTo>
                <a:cubicBezTo>
                  <a:pt x="27805" y="16711"/>
                  <a:pt x="3851" y="46353"/>
                  <a:pt x="530" y="81966"/>
                </a:cubicBezTo>
                <a:lnTo>
                  <a:pt x="39888" y="81966"/>
                </a:lnTo>
                <a:close/>
                <a:moveTo>
                  <a:pt x="530" y="98924"/>
                </a:moveTo>
                <a:cubicBezTo>
                  <a:pt x="3851" y="134537"/>
                  <a:pt x="27805" y="164179"/>
                  <a:pt x="60344" y="175697"/>
                </a:cubicBezTo>
                <a:cubicBezTo>
                  <a:pt x="48932" y="157254"/>
                  <a:pt x="41124" y="129167"/>
                  <a:pt x="39888" y="98924"/>
                </a:cubicBezTo>
                <a:lnTo>
                  <a:pt x="530" y="98924"/>
                </a:lnTo>
                <a:close/>
                <a:moveTo>
                  <a:pt x="141285" y="98924"/>
                </a:moveTo>
                <a:cubicBezTo>
                  <a:pt x="140049" y="129167"/>
                  <a:pt x="132241" y="157254"/>
                  <a:pt x="120829" y="175697"/>
                </a:cubicBezTo>
                <a:cubicBezTo>
                  <a:pt x="153368" y="164144"/>
                  <a:pt x="177322" y="134537"/>
                  <a:pt x="180643" y="98924"/>
                </a:cubicBezTo>
                <a:lnTo>
                  <a:pt x="141285" y="98924"/>
                </a:lnTo>
                <a:close/>
                <a:moveTo>
                  <a:pt x="180643" y="81966"/>
                </a:moveTo>
                <a:cubicBezTo>
                  <a:pt x="177322" y="46353"/>
                  <a:pt x="153368" y="16711"/>
                  <a:pt x="120829" y="5194"/>
                </a:cubicBezTo>
                <a:cubicBezTo>
                  <a:pt x="132241" y="23636"/>
                  <a:pt x="140049" y="51723"/>
                  <a:pt x="141285" y="81966"/>
                </a:cubicBezTo>
                <a:lnTo>
                  <a:pt x="180643" y="8196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896202" y="1591834"/>
            <a:ext cx="1152120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709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بستر عملیاتی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19492" y="2098326"/>
            <a:ext cx="5272950" cy="533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282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مدل</a:t>
            </a:r>
            <a:r>
              <a:rPr lang="en-US" sz="1282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282" b="1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CRAFTY</a:t>
            </a:r>
            <a:r>
              <a:rPr lang="fa-IR" sz="1282" b="1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282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توسعه</a:t>
            </a:r>
            <a:r>
              <a:rPr lang="en-US" sz="1282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یافته </a:t>
            </a:r>
            <a:r>
              <a:rPr lang="en-US" sz="1282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با</a:t>
            </a:r>
            <a:r>
              <a:rPr lang="en-US" sz="1282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282" b="1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جاوا</a:t>
            </a:r>
            <a:r>
              <a:rPr lang="en-US" sz="1282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که تغییرات کاربری زمین را بر اساس تقاضای بازار شبیه‌سازی می‌کند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437235" y="2808320"/>
            <a:ext cx="162801" cy="144712"/>
          </a:xfrm>
          <a:custGeom>
            <a:avLst/>
            <a:gdLst/>
            <a:ahLst/>
            <a:cxnLst/>
            <a:rect l="l" t="t" r="r" b="b"/>
            <a:pathLst>
              <a:path w="162801" h="144712">
                <a:moveTo>
                  <a:pt x="101977" y="339"/>
                </a:moveTo>
                <a:cubicBezTo>
                  <a:pt x="97172" y="-1046"/>
                  <a:pt x="92169" y="1752"/>
                  <a:pt x="90784" y="6557"/>
                </a:cubicBezTo>
                <a:lnTo>
                  <a:pt x="54606" y="133180"/>
                </a:lnTo>
                <a:cubicBezTo>
                  <a:pt x="53221" y="137985"/>
                  <a:pt x="56019" y="142988"/>
                  <a:pt x="60824" y="144373"/>
                </a:cubicBezTo>
                <a:cubicBezTo>
                  <a:pt x="65629" y="145758"/>
                  <a:pt x="70632" y="142960"/>
                  <a:pt x="72017" y="138155"/>
                </a:cubicBezTo>
                <a:lnTo>
                  <a:pt x="108195" y="11532"/>
                </a:lnTo>
                <a:cubicBezTo>
                  <a:pt x="109580" y="6727"/>
                  <a:pt x="106782" y="1724"/>
                  <a:pt x="101977" y="339"/>
                </a:cubicBezTo>
                <a:close/>
                <a:moveTo>
                  <a:pt x="120235" y="38807"/>
                </a:moveTo>
                <a:cubicBezTo>
                  <a:pt x="116702" y="42340"/>
                  <a:pt x="116702" y="48077"/>
                  <a:pt x="120235" y="51610"/>
                </a:cubicBezTo>
                <a:lnTo>
                  <a:pt x="140981" y="72356"/>
                </a:lnTo>
                <a:lnTo>
                  <a:pt x="120235" y="93102"/>
                </a:lnTo>
                <a:cubicBezTo>
                  <a:pt x="116702" y="96635"/>
                  <a:pt x="116702" y="102373"/>
                  <a:pt x="120235" y="105906"/>
                </a:cubicBezTo>
                <a:cubicBezTo>
                  <a:pt x="123768" y="109439"/>
                  <a:pt x="129506" y="109439"/>
                  <a:pt x="133039" y="105906"/>
                </a:cubicBezTo>
                <a:lnTo>
                  <a:pt x="160173" y="78772"/>
                </a:lnTo>
                <a:cubicBezTo>
                  <a:pt x="163706" y="75239"/>
                  <a:pt x="163706" y="69501"/>
                  <a:pt x="160173" y="65968"/>
                </a:cubicBezTo>
                <a:lnTo>
                  <a:pt x="133039" y="38835"/>
                </a:lnTo>
                <a:cubicBezTo>
                  <a:pt x="129506" y="35302"/>
                  <a:pt x="123768" y="35302"/>
                  <a:pt x="120235" y="38835"/>
                </a:cubicBezTo>
                <a:close/>
                <a:moveTo>
                  <a:pt x="42594" y="38807"/>
                </a:moveTo>
                <a:cubicBezTo>
                  <a:pt x="39061" y="35274"/>
                  <a:pt x="33323" y="35274"/>
                  <a:pt x="29790" y="38807"/>
                </a:cubicBezTo>
                <a:lnTo>
                  <a:pt x="2657" y="65940"/>
                </a:lnTo>
                <a:cubicBezTo>
                  <a:pt x="-876" y="69473"/>
                  <a:pt x="-876" y="75211"/>
                  <a:pt x="2657" y="78744"/>
                </a:cubicBezTo>
                <a:lnTo>
                  <a:pt x="29790" y="105877"/>
                </a:lnTo>
                <a:cubicBezTo>
                  <a:pt x="33323" y="109410"/>
                  <a:pt x="39061" y="109410"/>
                  <a:pt x="42594" y="105877"/>
                </a:cubicBezTo>
                <a:cubicBezTo>
                  <a:pt x="46127" y="102344"/>
                  <a:pt x="46127" y="96607"/>
                  <a:pt x="42594" y="93074"/>
                </a:cubicBezTo>
                <a:lnTo>
                  <a:pt x="21848" y="72356"/>
                </a:lnTo>
                <a:lnTo>
                  <a:pt x="42566" y="51610"/>
                </a:lnTo>
                <a:cubicBezTo>
                  <a:pt x="46099" y="48077"/>
                  <a:pt x="46099" y="42340"/>
                  <a:pt x="42566" y="38807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12" name="Text 10"/>
          <p:cNvSpPr/>
          <p:nvPr/>
        </p:nvSpPr>
        <p:spPr>
          <a:xfrm>
            <a:off x="9004413" y="2772142"/>
            <a:ext cx="2387751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139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Agent-Based Modeling Framework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02424" y="3387169"/>
            <a:ext cx="5625685" cy="2677175"/>
          </a:xfrm>
          <a:custGeom>
            <a:avLst/>
            <a:gdLst/>
            <a:ahLst/>
            <a:cxnLst/>
            <a:rect l="l" t="t" r="r" b="b"/>
            <a:pathLst>
              <a:path w="5625685" h="2677175">
                <a:moveTo>
                  <a:pt x="144701" y="0"/>
                </a:moveTo>
                <a:lnTo>
                  <a:pt x="5480984" y="0"/>
                </a:lnTo>
                <a:cubicBezTo>
                  <a:pt x="5560900" y="0"/>
                  <a:pt x="5625685" y="64785"/>
                  <a:pt x="5625685" y="144701"/>
                </a:cubicBezTo>
                <a:lnTo>
                  <a:pt x="5625685" y="2532474"/>
                </a:lnTo>
                <a:cubicBezTo>
                  <a:pt x="5625685" y="2612390"/>
                  <a:pt x="5560900" y="2677175"/>
                  <a:pt x="5480984" y="2677175"/>
                </a:cubicBezTo>
                <a:lnTo>
                  <a:pt x="144701" y="2677175"/>
                </a:lnTo>
                <a:cubicBezTo>
                  <a:pt x="64838" y="2677175"/>
                  <a:pt x="0" y="2612337"/>
                  <a:pt x="0" y="2532474"/>
                </a:cubicBezTo>
                <a:lnTo>
                  <a:pt x="0" y="144701"/>
                </a:lnTo>
                <a:cubicBezTo>
                  <a:pt x="0" y="64838"/>
                  <a:pt x="64838" y="0"/>
                  <a:pt x="1447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668" dist="904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174945" y="3604237"/>
            <a:ext cx="434136" cy="434136"/>
          </a:xfrm>
          <a:custGeom>
            <a:avLst/>
            <a:gdLst/>
            <a:ahLst/>
            <a:cxnLst/>
            <a:rect l="l" t="t" r="r" b="b"/>
            <a:pathLst>
              <a:path w="434136" h="434136">
                <a:moveTo>
                  <a:pt x="108534" y="0"/>
                </a:moveTo>
                <a:lnTo>
                  <a:pt x="325602" y="0"/>
                </a:lnTo>
                <a:cubicBezTo>
                  <a:pt x="385504" y="0"/>
                  <a:pt x="434136" y="48633"/>
                  <a:pt x="434136" y="108534"/>
                </a:cubicBezTo>
                <a:lnTo>
                  <a:pt x="434136" y="325602"/>
                </a:lnTo>
                <a:cubicBezTo>
                  <a:pt x="434136" y="385504"/>
                  <a:pt x="385504" y="434136"/>
                  <a:pt x="325602" y="434136"/>
                </a:cubicBezTo>
                <a:lnTo>
                  <a:pt x="108534" y="434136"/>
                </a:lnTo>
                <a:cubicBezTo>
                  <a:pt x="48633" y="434136"/>
                  <a:pt x="0" y="385504"/>
                  <a:pt x="0" y="325602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01568" y="3730861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11306" y="22611"/>
                </a:moveTo>
                <a:cubicBezTo>
                  <a:pt x="5052" y="22611"/>
                  <a:pt x="0" y="27663"/>
                  <a:pt x="0" y="33917"/>
                </a:cubicBezTo>
                <a:cubicBezTo>
                  <a:pt x="0" y="40170"/>
                  <a:pt x="5052" y="45223"/>
                  <a:pt x="11306" y="45223"/>
                </a:cubicBezTo>
                <a:lnTo>
                  <a:pt x="41937" y="45223"/>
                </a:lnTo>
                <a:cubicBezTo>
                  <a:pt x="46282" y="55221"/>
                  <a:pt x="56246" y="62181"/>
                  <a:pt x="67834" y="62181"/>
                </a:cubicBezTo>
                <a:cubicBezTo>
                  <a:pt x="79422" y="62181"/>
                  <a:pt x="89385" y="55221"/>
                  <a:pt x="93731" y="45223"/>
                </a:cubicBezTo>
                <a:lnTo>
                  <a:pt x="169585" y="45223"/>
                </a:lnTo>
                <a:cubicBezTo>
                  <a:pt x="175838" y="45223"/>
                  <a:pt x="180890" y="40170"/>
                  <a:pt x="180890" y="33917"/>
                </a:cubicBezTo>
                <a:cubicBezTo>
                  <a:pt x="180890" y="27663"/>
                  <a:pt x="175838" y="22611"/>
                  <a:pt x="169585" y="22611"/>
                </a:cubicBezTo>
                <a:lnTo>
                  <a:pt x="93731" y="22611"/>
                </a:lnTo>
                <a:cubicBezTo>
                  <a:pt x="89385" y="12613"/>
                  <a:pt x="79422" y="5653"/>
                  <a:pt x="67834" y="5653"/>
                </a:cubicBezTo>
                <a:cubicBezTo>
                  <a:pt x="56246" y="5653"/>
                  <a:pt x="46282" y="12613"/>
                  <a:pt x="41937" y="22611"/>
                </a:cubicBezTo>
                <a:lnTo>
                  <a:pt x="11306" y="22611"/>
                </a:lnTo>
                <a:close/>
                <a:moveTo>
                  <a:pt x="11306" y="79139"/>
                </a:moveTo>
                <a:cubicBezTo>
                  <a:pt x="5052" y="79139"/>
                  <a:pt x="0" y="84192"/>
                  <a:pt x="0" y="90445"/>
                </a:cubicBezTo>
                <a:cubicBezTo>
                  <a:pt x="0" y="96699"/>
                  <a:pt x="5052" y="101751"/>
                  <a:pt x="11306" y="101751"/>
                </a:cubicBezTo>
                <a:lnTo>
                  <a:pt x="98465" y="101751"/>
                </a:lnTo>
                <a:cubicBezTo>
                  <a:pt x="102811" y="111749"/>
                  <a:pt x="112774" y="118709"/>
                  <a:pt x="124362" y="118709"/>
                </a:cubicBezTo>
                <a:cubicBezTo>
                  <a:pt x="135950" y="118709"/>
                  <a:pt x="145913" y="111749"/>
                  <a:pt x="150259" y="101751"/>
                </a:cubicBezTo>
                <a:lnTo>
                  <a:pt x="169585" y="101751"/>
                </a:lnTo>
                <a:cubicBezTo>
                  <a:pt x="175838" y="101751"/>
                  <a:pt x="180890" y="96699"/>
                  <a:pt x="180890" y="90445"/>
                </a:cubicBezTo>
                <a:cubicBezTo>
                  <a:pt x="180890" y="84192"/>
                  <a:pt x="175838" y="79139"/>
                  <a:pt x="169585" y="79139"/>
                </a:cubicBezTo>
                <a:lnTo>
                  <a:pt x="150259" y="79139"/>
                </a:lnTo>
                <a:cubicBezTo>
                  <a:pt x="145913" y="69141"/>
                  <a:pt x="135950" y="62181"/>
                  <a:pt x="124362" y="62181"/>
                </a:cubicBezTo>
                <a:cubicBezTo>
                  <a:pt x="112774" y="62181"/>
                  <a:pt x="102811" y="69141"/>
                  <a:pt x="98465" y="79139"/>
                </a:cubicBezTo>
                <a:lnTo>
                  <a:pt x="11306" y="79139"/>
                </a:lnTo>
                <a:close/>
                <a:moveTo>
                  <a:pt x="11306" y="135668"/>
                </a:moveTo>
                <a:cubicBezTo>
                  <a:pt x="5052" y="135668"/>
                  <a:pt x="0" y="140720"/>
                  <a:pt x="0" y="146973"/>
                </a:cubicBezTo>
                <a:cubicBezTo>
                  <a:pt x="0" y="153227"/>
                  <a:pt x="5052" y="158279"/>
                  <a:pt x="11306" y="158279"/>
                </a:cubicBezTo>
                <a:lnTo>
                  <a:pt x="30631" y="158279"/>
                </a:lnTo>
                <a:cubicBezTo>
                  <a:pt x="34977" y="168277"/>
                  <a:pt x="44940" y="175237"/>
                  <a:pt x="56528" y="175237"/>
                </a:cubicBezTo>
                <a:cubicBezTo>
                  <a:pt x="68116" y="175237"/>
                  <a:pt x="78080" y="168277"/>
                  <a:pt x="82425" y="158279"/>
                </a:cubicBezTo>
                <a:lnTo>
                  <a:pt x="169585" y="158279"/>
                </a:lnTo>
                <a:cubicBezTo>
                  <a:pt x="175838" y="158279"/>
                  <a:pt x="180890" y="153227"/>
                  <a:pt x="180890" y="146973"/>
                </a:cubicBezTo>
                <a:cubicBezTo>
                  <a:pt x="180890" y="140720"/>
                  <a:pt x="175838" y="135668"/>
                  <a:pt x="169585" y="135668"/>
                </a:cubicBezTo>
                <a:lnTo>
                  <a:pt x="82425" y="135668"/>
                </a:lnTo>
                <a:cubicBezTo>
                  <a:pt x="78080" y="125669"/>
                  <a:pt x="68116" y="118709"/>
                  <a:pt x="56528" y="118709"/>
                </a:cubicBezTo>
                <a:cubicBezTo>
                  <a:pt x="44940" y="118709"/>
                  <a:pt x="34977" y="125669"/>
                  <a:pt x="30631" y="135668"/>
                </a:cubicBezTo>
                <a:lnTo>
                  <a:pt x="11306" y="13566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05037" y="3676593"/>
            <a:ext cx="1166742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متغیر کلیدی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086567" y="4183086"/>
            <a:ext cx="2523418" cy="1049163"/>
          </a:xfrm>
          <a:custGeom>
            <a:avLst/>
            <a:gdLst/>
            <a:ahLst/>
            <a:cxnLst/>
            <a:rect l="l" t="t" r="r" b="b"/>
            <a:pathLst>
              <a:path w="2523418" h="1049163">
                <a:moveTo>
                  <a:pt x="108536" y="0"/>
                </a:moveTo>
                <a:lnTo>
                  <a:pt x="2414882" y="0"/>
                </a:lnTo>
                <a:cubicBezTo>
                  <a:pt x="2474825" y="0"/>
                  <a:pt x="2523418" y="48593"/>
                  <a:pt x="2523418" y="108536"/>
                </a:cubicBezTo>
                <a:lnTo>
                  <a:pt x="2523418" y="940627"/>
                </a:lnTo>
                <a:cubicBezTo>
                  <a:pt x="2523418" y="1000570"/>
                  <a:pt x="2474825" y="1049163"/>
                  <a:pt x="2414882" y="1049163"/>
                </a:cubicBezTo>
                <a:lnTo>
                  <a:pt x="108536" y="1049163"/>
                </a:lnTo>
                <a:cubicBezTo>
                  <a:pt x="48593" y="1049163"/>
                  <a:pt x="0" y="1000570"/>
                  <a:pt x="0" y="940627"/>
                </a:cubicBezTo>
                <a:lnTo>
                  <a:pt x="0" y="108536"/>
                </a:lnTo>
                <a:cubicBezTo>
                  <a:pt x="0" y="48593"/>
                  <a:pt x="48593" y="0"/>
                  <a:pt x="108536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52857" y="4327798"/>
            <a:ext cx="189935" cy="217068"/>
          </a:xfrm>
          <a:custGeom>
            <a:avLst/>
            <a:gdLst/>
            <a:ahLst/>
            <a:cxnLst/>
            <a:rect l="l" t="t" r="r" b="b"/>
            <a:pathLst>
              <a:path w="189935" h="217068">
                <a:moveTo>
                  <a:pt x="81401" y="54267"/>
                </a:moveTo>
                <a:cubicBezTo>
                  <a:pt x="81401" y="31804"/>
                  <a:pt x="63163" y="13567"/>
                  <a:pt x="40700" y="13567"/>
                </a:cubicBezTo>
                <a:cubicBezTo>
                  <a:pt x="18237" y="13567"/>
                  <a:pt x="0" y="31804"/>
                  <a:pt x="0" y="54267"/>
                </a:cubicBezTo>
                <a:cubicBezTo>
                  <a:pt x="0" y="76730"/>
                  <a:pt x="18237" y="94967"/>
                  <a:pt x="40700" y="94967"/>
                </a:cubicBezTo>
                <a:cubicBezTo>
                  <a:pt x="63163" y="94967"/>
                  <a:pt x="81401" y="76730"/>
                  <a:pt x="81401" y="54267"/>
                </a:cubicBezTo>
                <a:close/>
                <a:moveTo>
                  <a:pt x="189935" y="162801"/>
                </a:moveTo>
                <a:cubicBezTo>
                  <a:pt x="189935" y="140338"/>
                  <a:pt x="171698" y="122101"/>
                  <a:pt x="149234" y="122101"/>
                </a:cubicBezTo>
                <a:cubicBezTo>
                  <a:pt x="126771" y="122101"/>
                  <a:pt x="108534" y="140338"/>
                  <a:pt x="108534" y="162801"/>
                </a:cubicBezTo>
                <a:cubicBezTo>
                  <a:pt x="108534" y="185264"/>
                  <a:pt x="126771" y="203501"/>
                  <a:pt x="149234" y="203501"/>
                </a:cubicBezTo>
                <a:cubicBezTo>
                  <a:pt x="171698" y="203501"/>
                  <a:pt x="189935" y="185264"/>
                  <a:pt x="189935" y="162801"/>
                </a:cubicBezTo>
                <a:close/>
                <a:moveTo>
                  <a:pt x="185949" y="36715"/>
                </a:moveTo>
                <a:cubicBezTo>
                  <a:pt x="191249" y="31416"/>
                  <a:pt x="191249" y="22809"/>
                  <a:pt x="185949" y="17510"/>
                </a:cubicBezTo>
                <a:cubicBezTo>
                  <a:pt x="180650" y="12210"/>
                  <a:pt x="172044" y="12210"/>
                  <a:pt x="166744" y="17510"/>
                </a:cubicBezTo>
                <a:lnTo>
                  <a:pt x="3943" y="180311"/>
                </a:lnTo>
                <a:cubicBezTo>
                  <a:pt x="-1357" y="185610"/>
                  <a:pt x="-1357" y="194217"/>
                  <a:pt x="3943" y="199516"/>
                </a:cubicBezTo>
                <a:cubicBezTo>
                  <a:pt x="9242" y="204816"/>
                  <a:pt x="17849" y="204816"/>
                  <a:pt x="23148" y="199516"/>
                </a:cubicBezTo>
                <a:lnTo>
                  <a:pt x="185949" y="36715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9186057" y="4617223"/>
            <a:ext cx="2324439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4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Tax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95101" y="4870469"/>
            <a:ext cx="230635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نرخ مالیات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19341" y="4183086"/>
            <a:ext cx="2523418" cy="1049163"/>
          </a:xfrm>
          <a:custGeom>
            <a:avLst/>
            <a:gdLst/>
            <a:ahLst/>
            <a:cxnLst/>
            <a:rect l="l" t="t" r="r" b="b"/>
            <a:pathLst>
              <a:path w="2523418" h="1049163">
                <a:moveTo>
                  <a:pt x="108536" y="0"/>
                </a:moveTo>
                <a:lnTo>
                  <a:pt x="2414882" y="0"/>
                </a:lnTo>
                <a:cubicBezTo>
                  <a:pt x="2474825" y="0"/>
                  <a:pt x="2523418" y="48593"/>
                  <a:pt x="2523418" y="108536"/>
                </a:cubicBezTo>
                <a:lnTo>
                  <a:pt x="2523418" y="940627"/>
                </a:lnTo>
                <a:cubicBezTo>
                  <a:pt x="2523418" y="1000570"/>
                  <a:pt x="2474825" y="1049163"/>
                  <a:pt x="2414882" y="1049163"/>
                </a:cubicBezTo>
                <a:lnTo>
                  <a:pt x="108536" y="1049163"/>
                </a:lnTo>
                <a:cubicBezTo>
                  <a:pt x="48593" y="1049163"/>
                  <a:pt x="0" y="1000570"/>
                  <a:pt x="0" y="940627"/>
                </a:cubicBezTo>
                <a:lnTo>
                  <a:pt x="0" y="108536"/>
                </a:lnTo>
                <a:cubicBezTo>
                  <a:pt x="0" y="48593"/>
                  <a:pt x="48593" y="0"/>
                  <a:pt x="108536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58497" y="4327798"/>
            <a:ext cx="244202" cy="217068"/>
          </a:xfrm>
          <a:custGeom>
            <a:avLst/>
            <a:gdLst/>
            <a:ahLst/>
            <a:cxnLst/>
            <a:rect l="l" t="t" r="r" b="b"/>
            <a:pathLst>
              <a:path w="244202" h="217068">
                <a:moveTo>
                  <a:pt x="122101" y="-6783"/>
                </a:moveTo>
                <a:cubicBezTo>
                  <a:pt x="116462" y="-6783"/>
                  <a:pt x="111926" y="-2247"/>
                  <a:pt x="111926" y="3392"/>
                </a:cubicBezTo>
                <a:lnTo>
                  <a:pt x="111926" y="8479"/>
                </a:lnTo>
                <a:lnTo>
                  <a:pt x="111163" y="8479"/>
                </a:lnTo>
                <a:cubicBezTo>
                  <a:pt x="95646" y="8479"/>
                  <a:pt x="83096" y="21071"/>
                  <a:pt x="83096" y="36545"/>
                </a:cubicBezTo>
                <a:cubicBezTo>
                  <a:pt x="83096" y="50706"/>
                  <a:pt x="93653" y="62661"/>
                  <a:pt x="107686" y="64400"/>
                </a:cubicBezTo>
                <a:lnTo>
                  <a:pt x="133548" y="67622"/>
                </a:lnTo>
                <a:cubicBezTo>
                  <a:pt x="135710" y="67876"/>
                  <a:pt x="137364" y="69742"/>
                  <a:pt x="137364" y="71946"/>
                </a:cubicBezTo>
                <a:cubicBezTo>
                  <a:pt x="137364" y="74363"/>
                  <a:pt x="135413" y="76271"/>
                  <a:pt x="133039" y="76271"/>
                </a:cubicBezTo>
                <a:lnTo>
                  <a:pt x="101751" y="76313"/>
                </a:lnTo>
                <a:cubicBezTo>
                  <a:pt x="95179" y="76313"/>
                  <a:pt x="89880" y="81613"/>
                  <a:pt x="89880" y="88184"/>
                </a:cubicBezTo>
                <a:cubicBezTo>
                  <a:pt x="89880" y="94755"/>
                  <a:pt x="95179" y="100055"/>
                  <a:pt x="101751" y="100055"/>
                </a:cubicBezTo>
                <a:lnTo>
                  <a:pt x="111926" y="100055"/>
                </a:lnTo>
                <a:lnTo>
                  <a:pt x="111926" y="105142"/>
                </a:lnTo>
                <a:cubicBezTo>
                  <a:pt x="111926" y="110781"/>
                  <a:pt x="116462" y="115318"/>
                  <a:pt x="122101" y="115318"/>
                </a:cubicBezTo>
                <a:cubicBezTo>
                  <a:pt x="127740" y="115318"/>
                  <a:pt x="132276" y="110781"/>
                  <a:pt x="132276" y="105142"/>
                </a:cubicBezTo>
                <a:lnTo>
                  <a:pt x="132276" y="100055"/>
                </a:lnTo>
                <a:lnTo>
                  <a:pt x="133039" y="100055"/>
                </a:lnTo>
                <a:cubicBezTo>
                  <a:pt x="148556" y="100055"/>
                  <a:pt x="161105" y="87463"/>
                  <a:pt x="161105" y="71989"/>
                </a:cubicBezTo>
                <a:cubicBezTo>
                  <a:pt x="161105" y="57828"/>
                  <a:pt x="150549" y="45873"/>
                  <a:pt x="136516" y="44134"/>
                </a:cubicBezTo>
                <a:lnTo>
                  <a:pt x="110654" y="40912"/>
                </a:lnTo>
                <a:cubicBezTo>
                  <a:pt x="108492" y="40658"/>
                  <a:pt x="106838" y="38792"/>
                  <a:pt x="106838" y="36588"/>
                </a:cubicBezTo>
                <a:cubicBezTo>
                  <a:pt x="106838" y="34171"/>
                  <a:pt x="108789" y="32263"/>
                  <a:pt x="111163" y="32263"/>
                </a:cubicBezTo>
                <a:lnTo>
                  <a:pt x="139059" y="32221"/>
                </a:lnTo>
                <a:cubicBezTo>
                  <a:pt x="145631" y="32221"/>
                  <a:pt x="150930" y="26922"/>
                  <a:pt x="150930" y="20350"/>
                </a:cubicBezTo>
                <a:cubicBezTo>
                  <a:pt x="150930" y="13779"/>
                  <a:pt x="145631" y="8479"/>
                  <a:pt x="139059" y="8479"/>
                </a:cubicBezTo>
                <a:lnTo>
                  <a:pt x="132276" y="8479"/>
                </a:lnTo>
                <a:lnTo>
                  <a:pt x="132276" y="3392"/>
                </a:lnTo>
                <a:cubicBezTo>
                  <a:pt x="132276" y="-2247"/>
                  <a:pt x="127740" y="-6783"/>
                  <a:pt x="122101" y="-6783"/>
                </a:cubicBezTo>
                <a:close/>
                <a:moveTo>
                  <a:pt x="46339" y="144783"/>
                </a:moveTo>
                <a:lnTo>
                  <a:pt x="28278" y="162801"/>
                </a:lnTo>
                <a:lnTo>
                  <a:pt x="13567" y="162801"/>
                </a:lnTo>
                <a:cubicBezTo>
                  <a:pt x="6063" y="162801"/>
                  <a:pt x="0" y="168864"/>
                  <a:pt x="0" y="176368"/>
                </a:cubicBezTo>
                <a:lnTo>
                  <a:pt x="0" y="203501"/>
                </a:lnTo>
                <a:cubicBezTo>
                  <a:pt x="0" y="211006"/>
                  <a:pt x="6063" y="217068"/>
                  <a:pt x="13567" y="217068"/>
                </a:cubicBezTo>
                <a:lnTo>
                  <a:pt x="149446" y="217068"/>
                </a:lnTo>
                <a:cubicBezTo>
                  <a:pt x="161741" y="217068"/>
                  <a:pt x="173739" y="213125"/>
                  <a:pt x="183660" y="205833"/>
                </a:cubicBezTo>
                <a:lnTo>
                  <a:pt x="237334" y="166278"/>
                </a:lnTo>
                <a:cubicBezTo>
                  <a:pt x="244880" y="160724"/>
                  <a:pt x="246491" y="150125"/>
                  <a:pt x="240937" y="142578"/>
                </a:cubicBezTo>
                <a:cubicBezTo>
                  <a:pt x="235383" y="135032"/>
                  <a:pt x="224784" y="133421"/>
                  <a:pt x="217238" y="138975"/>
                </a:cubicBezTo>
                <a:lnTo>
                  <a:pt x="166447" y="176368"/>
                </a:lnTo>
                <a:lnTo>
                  <a:pt x="118709" y="176368"/>
                </a:lnTo>
                <a:cubicBezTo>
                  <a:pt x="113071" y="176368"/>
                  <a:pt x="108534" y="171832"/>
                  <a:pt x="108534" y="166193"/>
                </a:cubicBezTo>
                <a:cubicBezTo>
                  <a:pt x="108534" y="160554"/>
                  <a:pt x="113071" y="156018"/>
                  <a:pt x="118709" y="156018"/>
                </a:cubicBezTo>
                <a:lnTo>
                  <a:pt x="149234" y="156018"/>
                </a:lnTo>
                <a:cubicBezTo>
                  <a:pt x="156739" y="156018"/>
                  <a:pt x="162801" y="149955"/>
                  <a:pt x="162801" y="142451"/>
                </a:cubicBezTo>
                <a:cubicBezTo>
                  <a:pt x="162801" y="134947"/>
                  <a:pt x="156739" y="128884"/>
                  <a:pt x="149234" y="128884"/>
                </a:cubicBezTo>
                <a:lnTo>
                  <a:pt x="84707" y="128884"/>
                </a:lnTo>
                <a:cubicBezTo>
                  <a:pt x="70335" y="128884"/>
                  <a:pt x="56514" y="134608"/>
                  <a:pt x="46339" y="144783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23" name="Text 21"/>
          <p:cNvSpPr/>
          <p:nvPr/>
        </p:nvSpPr>
        <p:spPr>
          <a:xfrm>
            <a:off x="6518831" y="4617223"/>
            <a:ext cx="2324439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4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Subsidy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27875" y="4870469"/>
            <a:ext cx="230635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یارانه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19492" y="5376961"/>
            <a:ext cx="5263905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139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این متغیرها توسط نهاد تعیین شده و بر تولید </a:t>
            </a:r>
            <a:r>
              <a:rPr lang="en-US" sz="1139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محصولات</a:t>
            </a:r>
            <a:r>
              <a:rPr lang="en-US" sz="1139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39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گوشت</a:t>
            </a:r>
            <a:r>
              <a:rPr lang="en-US" sz="1139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، </a:t>
            </a:r>
            <a:r>
              <a:rPr lang="en-US" sz="1139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غلات</a:t>
            </a:r>
            <a:r>
              <a:rPr lang="en-US" sz="1139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و</a:t>
            </a:r>
            <a:r>
              <a:rPr lang="fa-IR" sz="1139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…</a:t>
            </a:r>
            <a:r>
              <a:rPr lang="en-US" sz="1139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اثر می‌گذارند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1630" y="1302409"/>
            <a:ext cx="5625685" cy="4766457"/>
          </a:xfrm>
          <a:custGeom>
            <a:avLst/>
            <a:gdLst/>
            <a:ahLst/>
            <a:cxnLst/>
            <a:rect l="l" t="t" r="r" b="b"/>
            <a:pathLst>
              <a:path w="5625685" h="4766457">
                <a:moveTo>
                  <a:pt x="144710" y="0"/>
                </a:moveTo>
                <a:lnTo>
                  <a:pt x="5480976" y="0"/>
                </a:lnTo>
                <a:cubicBezTo>
                  <a:pt x="5560897" y="0"/>
                  <a:pt x="5625685" y="64789"/>
                  <a:pt x="5625685" y="144710"/>
                </a:cubicBezTo>
                <a:lnTo>
                  <a:pt x="5625685" y="4621747"/>
                </a:lnTo>
                <a:cubicBezTo>
                  <a:pt x="5625685" y="4701668"/>
                  <a:pt x="5560897" y="4766457"/>
                  <a:pt x="5480976" y="4766457"/>
                </a:cubicBezTo>
                <a:lnTo>
                  <a:pt x="144710" y="4766457"/>
                </a:lnTo>
                <a:cubicBezTo>
                  <a:pt x="64789" y="4766457"/>
                  <a:pt x="0" y="4701668"/>
                  <a:pt x="0" y="4621747"/>
                </a:cubicBezTo>
                <a:lnTo>
                  <a:pt x="0" y="144710"/>
                </a:lnTo>
                <a:cubicBezTo>
                  <a:pt x="0" y="64789"/>
                  <a:pt x="64789" y="0"/>
                  <a:pt x="1447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668" dist="904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34151" y="1519478"/>
            <a:ext cx="434136" cy="434136"/>
          </a:xfrm>
          <a:custGeom>
            <a:avLst/>
            <a:gdLst/>
            <a:ahLst/>
            <a:cxnLst/>
            <a:rect l="l" t="t" r="r" b="b"/>
            <a:pathLst>
              <a:path w="434136" h="434136">
                <a:moveTo>
                  <a:pt x="108534" y="0"/>
                </a:moveTo>
                <a:lnTo>
                  <a:pt x="325602" y="0"/>
                </a:lnTo>
                <a:cubicBezTo>
                  <a:pt x="385504" y="0"/>
                  <a:pt x="434136" y="48633"/>
                  <a:pt x="434136" y="108534"/>
                </a:cubicBezTo>
                <a:lnTo>
                  <a:pt x="434136" y="325602"/>
                </a:lnTo>
                <a:cubicBezTo>
                  <a:pt x="434136" y="385504"/>
                  <a:pt x="385504" y="434136"/>
                  <a:pt x="325602" y="434136"/>
                </a:cubicBezTo>
                <a:lnTo>
                  <a:pt x="108534" y="434136"/>
                </a:lnTo>
                <a:cubicBezTo>
                  <a:pt x="48633" y="434136"/>
                  <a:pt x="0" y="385504"/>
                  <a:pt x="0" y="325602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28" name="Shape 26"/>
          <p:cNvSpPr/>
          <p:nvPr/>
        </p:nvSpPr>
        <p:spPr>
          <a:xfrm>
            <a:off x="5460774" y="1646101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177569" y="53207"/>
                </a:moveTo>
                <a:lnTo>
                  <a:pt x="143652" y="87124"/>
                </a:lnTo>
                <a:cubicBezTo>
                  <a:pt x="140402" y="90374"/>
                  <a:pt x="135562" y="91328"/>
                  <a:pt x="131322" y="89562"/>
                </a:cubicBezTo>
                <a:cubicBezTo>
                  <a:pt x="127082" y="87795"/>
                  <a:pt x="124362" y="83697"/>
                  <a:pt x="124362" y="79139"/>
                </a:cubicBezTo>
                <a:lnTo>
                  <a:pt x="124362" y="56528"/>
                </a:lnTo>
                <a:lnTo>
                  <a:pt x="11306" y="56528"/>
                </a:lnTo>
                <a:cubicBezTo>
                  <a:pt x="5052" y="56528"/>
                  <a:pt x="0" y="51476"/>
                  <a:pt x="0" y="45223"/>
                </a:cubicBezTo>
                <a:cubicBezTo>
                  <a:pt x="0" y="38969"/>
                  <a:pt x="5052" y="33917"/>
                  <a:pt x="11306" y="33917"/>
                </a:cubicBezTo>
                <a:lnTo>
                  <a:pt x="124362" y="33917"/>
                </a:lnTo>
                <a:lnTo>
                  <a:pt x="124362" y="11306"/>
                </a:lnTo>
                <a:cubicBezTo>
                  <a:pt x="124362" y="6748"/>
                  <a:pt x="127118" y="2614"/>
                  <a:pt x="131357" y="848"/>
                </a:cubicBezTo>
                <a:cubicBezTo>
                  <a:pt x="135597" y="-919"/>
                  <a:pt x="140437" y="71"/>
                  <a:pt x="143688" y="3286"/>
                </a:cubicBezTo>
                <a:lnTo>
                  <a:pt x="177605" y="37203"/>
                </a:lnTo>
                <a:cubicBezTo>
                  <a:pt x="182021" y="41619"/>
                  <a:pt x="182021" y="48791"/>
                  <a:pt x="177605" y="53207"/>
                </a:cubicBezTo>
                <a:close/>
                <a:moveTo>
                  <a:pt x="37203" y="177569"/>
                </a:moveTo>
                <a:lnTo>
                  <a:pt x="3286" y="143652"/>
                </a:lnTo>
                <a:cubicBezTo>
                  <a:pt x="-1131" y="139236"/>
                  <a:pt x="-1131" y="132064"/>
                  <a:pt x="3286" y="127648"/>
                </a:cubicBezTo>
                <a:lnTo>
                  <a:pt x="37203" y="93731"/>
                </a:lnTo>
                <a:cubicBezTo>
                  <a:pt x="40453" y="90480"/>
                  <a:pt x="45293" y="89527"/>
                  <a:pt x="49533" y="91293"/>
                </a:cubicBezTo>
                <a:cubicBezTo>
                  <a:pt x="53772" y="93060"/>
                  <a:pt x="56528" y="97193"/>
                  <a:pt x="56528" y="101751"/>
                </a:cubicBezTo>
                <a:lnTo>
                  <a:pt x="56528" y="124362"/>
                </a:lnTo>
                <a:lnTo>
                  <a:pt x="169585" y="124362"/>
                </a:lnTo>
                <a:cubicBezTo>
                  <a:pt x="175838" y="124362"/>
                  <a:pt x="180890" y="129414"/>
                  <a:pt x="180890" y="135668"/>
                </a:cubicBezTo>
                <a:cubicBezTo>
                  <a:pt x="180890" y="141921"/>
                  <a:pt x="175838" y="146973"/>
                  <a:pt x="169585" y="146973"/>
                </a:cubicBezTo>
                <a:lnTo>
                  <a:pt x="56528" y="146973"/>
                </a:lnTo>
                <a:lnTo>
                  <a:pt x="56528" y="169585"/>
                </a:lnTo>
                <a:cubicBezTo>
                  <a:pt x="56528" y="174142"/>
                  <a:pt x="53772" y="178276"/>
                  <a:pt x="49533" y="180042"/>
                </a:cubicBezTo>
                <a:cubicBezTo>
                  <a:pt x="45293" y="181809"/>
                  <a:pt x="40453" y="180820"/>
                  <a:pt x="37203" y="1776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273230" y="1591834"/>
            <a:ext cx="968516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709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نقش پروژه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78698" y="2098326"/>
            <a:ext cx="5272950" cy="533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282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ایجاد یک </a:t>
            </a:r>
            <a:r>
              <a:rPr lang="en-US" sz="1282" b="1" dirty="0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پل ارتباطی زنده (Gateway)</a:t>
            </a:r>
            <a:r>
              <a:rPr lang="fa-IR" sz="1282" b="1" dirty="0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282" b="1" dirty="0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282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بین محیط جاوا و عامل هوشمند پایتونی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78698" y="2844499"/>
            <a:ext cx="5191549" cy="3002777"/>
          </a:xfrm>
          <a:custGeom>
            <a:avLst/>
            <a:gdLst/>
            <a:ahLst/>
            <a:cxnLst/>
            <a:rect l="l" t="t" r="r" b="b"/>
            <a:pathLst>
              <a:path w="5191549" h="3002777">
                <a:moveTo>
                  <a:pt x="108520" y="0"/>
                </a:moveTo>
                <a:lnTo>
                  <a:pt x="5083029" y="0"/>
                </a:lnTo>
                <a:cubicBezTo>
                  <a:pt x="5142963" y="0"/>
                  <a:pt x="5191549" y="48586"/>
                  <a:pt x="5191549" y="108520"/>
                </a:cubicBezTo>
                <a:lnTo>
                  <a:pt x="5191549" y="2894257"/>
                </a:lnTo>
                <a:cubicBezTo>
                  <a:pt x="5191549" y="2954191"/>
                  <a:pt x="5142963" y="3002777"/>
                  <a:pt x="5083029" y="3002777"/>
                </a:cubicBezTo>
                <a:lnTo>
                  <a:pt x="108520" y="3002777"/>
                </a:lnTo>
                <a:cubicBezTo>
                  <a:pt x="48586" y="3002777"/>
                  <a:pt x="0" y="2954191"/>
                  <a:pt x="0" y="2894257"/>
                </a:cubicBezTo>
                <a:lnTo>
                  <a:pt x="0" y="108520"/>
                </a:lnTo>
                <a:cubicBezTo>
                  <a:pt x="0" y="48586"/>
                  <a:pt x="48586" y="0"/>
                  <a:pt x="10852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2" name="Shape 30"/>
          <p:cNvSpPr/>
          <p:nvPr/>
        </p:nvSpPr>
        <p:spPr>
          <a:xfrm>
            <a:off x="4690031" y="3423347"/>
            <a:ext cx="723561" cy="723561"/>
          </a:xfrm>
          <a:custGeom>
            <a:avLst/>
            <a:gdLst/>
            <a:ahLst/>
            <a:cxnLst/>
            <a:rect l="l" t="t" r="r" b="b"/>
            <a:pathLst>
              <a:path w="723561" h="723561">
                <a:moveTo>
                  <a:pt x="144712" y="0"/>
                </a:moveTo>
                <a:lnTo>
                  <a:pt x="578849" y="0"/>
                </a:lnTo>
                <a:cubicBezTo>
                  <a:pt x="658771" y="0"/>
                  <a:pt x="723561" y="64790"/>
                  <a:pt x="723561" y="144712"/>
                </a:cubicBezTo>
                <a:lnTo>
                  <a:pt x="723561" y="578849"/>
                </a:lnTo>
                <a:cubicBezTo>
                  <a:pt x="723561" y="658771"/>
                  <a:pt x="658771" y="723561"/>
                  <a:pt x="578849" y="723561"/>
                </a:cubicBezTo>
                <a:lnTo>
                  <a:pt x="144712" y="723561"/>
                </a:lnTo>
                <a:cubicBezTo>
                  <a:pt x="64790" y="723561"/>
                  <a:pt x="0" y="658771"/>
                  <a:pt x="0" y="578849"/>
                </a:cubicBezTo>
                <a:lnTo>
                  <a:pt x="0" y="144712"/>
                </a:lnTo>
                <a:cubicBezTo>
                  <a:pt x="0" y="64843"/>
                  <a:pt x="64843" y="0"/>
                  <a:pt x="144712" y="0"/>
                </a:cubicBezTo>
                <a:close/>
              </a:path>
            </a:pathLst>
          </a:custGeom>
          <a:solidFill>
            <a:srgbClr val="1A535C"/>
          </a:solidFill>
          <a:ln/>
          <a:effectLst>
            <a:outerShdw blurRad="135668" dist="904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29710" y="3622326"/>
            <a:ext cx="244202" cy="325602"/>
          </a:xfrm>
          <a:custGeom>
            <a:avLst/>
            <a:gdLst/>
            <a:ahLst/>
            <a:cxnLst/>
            <a:rect l="l" t="t" r="r" b="b"/>
            <a:pathLst>
              <a:path w="244202" h="325602">
                <a:moveTo>
                  <a:pt x="176665" y="198986"/>
                </a:moveTo>
                <a:cubicBezTo>
                  <a:pt x="182897" y="194725"/>
                  <a:pt x="191546" y="191037"/>
                  <a:pt x="191546" y="191037"/>
                </a:cubicBezTo>
                <a:cubicBezTo>
                  <a:pt x="191546" y="191037"/>
                  <a:pt x="166935" y="195489"/>
                  <a:pt x="142451" y="197524"/>
                </a:cubicBezTo>
                <a:cubicBezTo>
                  <a:pt x="112498" y="200004"/>
                  <a:pt x="80319" y="200513"/>
                  <a:pt x="64167" y="198350"/>
                </a:cubicBezTo>
                <a:cubicBezTo>
                  <a:pt x="25946" y="193263"/>
                  <a:pt x="85153" y="179208"/>
                  <a:pt x="85153" y="179208"/>
                </a:cubicBezTo>
                <a:cubicBezTo>
                  <a:pt x="85153" y="179208"/>
                  <a:pt x="62195" y="177682"/>
                  <a:pt x="33896" y="191291"/>
                </a:cubicBezTo>
                <a:cubicBezTo>
                  <a:pt x="509" y="207444"/>
                  <a:pt x="116568" y="214821"/>
                  <a:pt x="176665" y="198986"/>
                </a:cubicBezTo>
                <a:close/>
                <a:moveTo>
                  <a:pt x="122355" y="178573"/>
                </a:moveTo>
                <a:cubicBezTo>
                  <a:pt x="110272" y="151418"/>
                  <a:pt x="69508" y="127570"/>
                  <a:pt x="122355" y="85852"/>
                </a:cubicBezTo>
                <a:cubicBezTo>
                  <a:pt x="188302" y="33832"/>
                  <a:pt x="154470" y="0"/>
                  <a:pt x="154470" y="0"/>
                </a:cubicBezTo>
                <a:cubicBezTo>
                  <a:pt x="168143" y="53737"/>
                  <a:pt x="106393" y="70017"/>
                  <a:pt x="84072" y="103404"/>
                </a:cubicBezTo>
                <a:cubicBezTo>
                  <a:pt x="68873" y="126235"/>
                  <a:pt x="91512" y="150718"/>
                  <a:pt x="122355" y="178573"/>
                </a:cubicBezTo>
                <a:close/>
                <a:moveTo>
                  <a:pt x="195234" y="66520"/>
                </a:moveTo>
                <a:cubicBezTo>
                  <a:pt x="195298" y="66520"/>
                  <a:pt x="83817" y="94374"/>
                  <a:pt x="137046" y="155679"/>
                </a:cubicBezTo>
                <a:cubicBezTo>
                  <a:pt x="152753" y="173739"/>
                  <a:pt x="132912" y="190020"/>
                  <a:pt x="132912" y="190020"/>
                </a:cubicBezTo>
                <a:cubicBezTo>
                  <a:pt x="132912" y="190020"/>
                  <a:pt x="172785" y="169415"/>
                  <a:pt x="154470" y="143659"/>
                </a:cubicBezTo>
                <a:cubicBezTo>
                  <a:pt x="137364" y="119621"/>
                  <a:pt x="124263" y="107665"/>
                  <a:pt x="195234" y="66520"/>
                </a:cubicBezTo>
                <a:close/>
                <a:moveTo>
                  <a:pt x="191355" y="238542"/>
                </a:moveTo>
                <a:cubicBezTo>
                  <a:pt x="191037" y="239178"/>
                  <a:pt x="190592" y="239687"/>
                  <a:pt x="190083" y="240195"/>
                </a:cubicBezTo>
                <a:cubicBezTo>
                  <a:pt x="271674" y="218764"/>
                  <a:pt x="241658" y="164582"/>
                  <a:pt x="202675" y="178318"/>
                </a:cubicBezTo>
                <a:cubicBezTo>
                  <a:pt x="200576" y="179081"/>
                  <a:pt x="198732" y="180480"/>
                  <a:pt x="197460" y="182325"/>
                </a:cubicBezTo>
                <a:cubicBezTo>
                  <a:pt x="199749" y="181498"/>
                  <a:pt x="202102" y="180862"/>
                  <a:pt x="204455" y="180417"/>
                </a:cubicBezTo>
                <a:cubicBezTo>
                  <a:pt x="224170" y="176283"/>
                  <a:pt x="252469" y="206808"/>
                  <a:pt x="191355" y="238542"/>
                </a:cubicBezTo>
                <a:close/>
                <a:moveTo>
                  <a:pt x="221308" y="278161"/>
                </a:moveTo>
                <a:cubicBezTo>
                  <a:pt x="221308" y="278161"/>
                  <a:pt x="230529" y="285729"/>
                  <a:pt x="211196" y="291643"/>
                </a:cubicBezTo>
                <a:cubicBezTo>
                  <a:pt x="174375" y="302772"/>
                  <a:pt x="58062" y="306143"/>
                  <a:pt x="25756" y="292088"/>
                </a:cubicBezTo>
                <a:cubicBezTo>
                  <a:pt x="14118" y="287064"/>
                  <a:pt x="35931" y="280005"/>
                  <a:pt x="42799" y="278543"/>
                </a:cubicBezTo>
                <a:cubicBezTo>
                  <a:pt x="49921" y="277016"/>
                  <a:pt x="54055" y="277271"/>
                  <a:pt x="54055" y="277271"/>
                </a:cubicBezTo>
                <a:cubicBezTo>
                  <a:pt x="41145" y="268177"/>
                  <a:pt x="-29444" y="295141"/>
                  <a:pt x="18188" y="302836"/>
                </a:cubicBezTo>
                <a:cubicBezTo>
                  <a:pt x="148047" y="323949"/>
                  <a:pt x="255013" y="293360"/>
                  <a:pt x="221308" y="278161"/>
                </a:cubicBezTo>
                <a:close/>
                <a:moveTo>
                  <a:pt x="79175" y="251833"/>
                </a:moveTo>
                <a:cubicBezTo>
                  <a:pt x="29126" y="265824"/>
                  <a:pt x="109636" y="294696"/>
                  <a:pt x="173358" y="267414"/>
                </a:cubicBezTo>
                <a:cubicBezTo>
                  <a:pt x="167126" y="264997"/>
                  <a:pt x="161148" y="262072"/>
                  <a:pt x="155424" y="258638"/>
                </a:cubicBezTo>
                <a:cubicBezTo>
                  <a:pt x="126998" y="264043"/>
                  <a:pt x="113834" y="264425"/>
                  <a:pt x="88014" y="261499"/>
                </a:cubicBezTo>
                <a:cubicBezTo>
                  <a:pt x="66710" y="259083"/>
                  <a:pt x="79175" y="251833"/>
                  <a:pt x="79175" y="251833"/>
                </a:cubicBezTo>
                <a:close/>
                <a:moveTo>
                  <a:pt x="193517" y="313647"/>
                </a:moveTo>
                <a:cubicBezTo>
                  <a:pt x="143469" y="323059"/>
                  <a:pt x="81719" y="321978"/>
                  <a:pt x="45152" y="315936"/>
                </a:cubicBezTo>
                <a:cubicBezTo>
                  <a:pt x="45152" y="315872"/>
                  <a:pt x="52656" y="322105"/>
                  <a:pt x="91194" y="324585"/>
                </a:cubicBezTo>
                <a:cubicBezTo>
                  <a:pt x="149828" y="328337"/>
                  <a:pt x="239877" y="322486"/>
                  <a:pt x="241976" y="294759"/>
                </a:cubicBezTo>
                <a:cubicBezTo>
                  <a:pt x="241976" y="294759"/>
                  <a:pt x="237906" y="305252"/>
                  <a:pt x="193517" y="313647"/>
                </a:cubicBezTo>
                <a:close/>
                <a:moveTo>
                  <a:pt x="165790" y="224488"/>
                </a:moveTo>
                <a:cubicBezTo>
                  <a:pt x="128142" y="231737"/>
                  <a:pt x="106330" y="231547"/>
                  <a:pt x="78793" y="228685"/>
                </a:cubicBezTo>
                <a:cubicBezTo>
                  <a:pt x="57489" y="226459"/>
                  <a:pt x="71416" y="216157"/>
                  <a:pt x="71416" y="216157"/>
                </a:cubicBezTo>
                <a:cubicBezTo>
                  <a:pt x="16217" y="234472"/>
                  <a:pt x="102069" y="255204"/>
                  <a:pt x="179208" y="232628"/>
                </a:cubicBezTo>
                <a:cubicBezTo>
                  <a:pt x="174248" y="230847"/>
                  <a:pt x="169669" y="228112"/>
                  <a:pt x="165790" y="2244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07181" y="4255442"/>
            <a:ext cx="1085341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4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Java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16225" y="4508688"/>
            <a:ext cx="1067252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CRAFTY Model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748024" y="3640415"/>
            <a:ext cx="578849" cy="578849"/>
          </a:xfrm>
          <a:custGeom>
            <a:avLst/>
            <a:gdLst/>
            <a:ahLst/>
            <a:cxnLst/>
            <a:rect l="l" t="t" r="r" b="b"/>
            <a:pathLst>
              <a:path w="578849" h="578849">
                <a:moveTo>
                  <a:pt x="289424" y="0"/>
                </a:moveTo>
                <a:lnTo>
                  <a:pt x="289424" y="0"/>
                </a:lnTo>
                <a:cubicBezTo>
                  <a:pt x="449162" y="0"/>
                  <a:pt x="578849" y="129687"/>
                  <a:pt x="578849" y="289424"/>
                </a:cubicBezTo>
                <a:lnTo>
                  <a:pt x="578849" y="289424"/>
                </a:lnTo>
                <a:cubicBezTo>
                  <a:pt x="578849" y="449162"/>
                  <a:pt x="449162" y="578849"/>
                  <a:pt x="289424" y="578849"/>
                </a:cubicBezTo>
                <a:lnTo>
                  <a:pt x="289424" y="578849"/>
                </a:lnTo>
                <a:cubicBezTo>
                  <a:pt x="129687" y="578849"/>
                  <a:pt x="0" y="449162"/>
                  <a:pt x="0" y="289424"/>
                </a:cubicBezTo>
                <a:lnTo>
                  <a:pt x="0" y="289424"/>
                </a:lnTo>
                <a:cubicBezTo>
                  <a:pt x="0" y="129687"/>
                  <a:pt x="129687" y="0"/>
                  <a:pt x="289424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blurRad="135668" dist="904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42481" y="3821306"/>
            <a:ext cx="189935" cy="217068"/>
          </a:xfrm>
          <a:custGeom>
            <a:avLst/>
            <a:gdLst/>
            <a:ahLst/>
            <a:cxnLst/>
            <a:rect l="l" t="t" r="r" b="b"/>
            <a:pathLst>
              <a:path w="189935" h="217068">
                <a:moveTo>
                  <a:pt x="54267" y="-13567"/>
                </a:moveTo>
                <a:cubicBezTo>
                  <a:pt x="61771" y="-13567"/>
                  <a:pt x="67834" y="-7504"/>
                  <a:pt x="67834" y="0"/>
                </a:cubicBezTo>
                <a:lnTo>
                  <a:pt x="67834" y="40700"/>
                </a:lnTo>
                <a:lnTo>
                  <a:pt x="122101" y="40700"/>
                </a:lnTo>
                <a:lnTo>
                  <a:pt x="122101" y="0"/>
                </a:lnTo>
                <a:cubicBezTo>
                  <a:pt x="122101" y="-7504"/>
                  <a:pt x="128164" y="-13567"/>
                  <a:pt x="135668" y="-13567"/>
                </a:cubicBezTo>
                <a:cubicBezTo>
                  <a:pt x="143172" y="-13567"/>
                  <a:pt x="149234" y="-7504"/>
                  <a:pt x="149234" y="0"/>
                </a:cubicBezTo>
                <a:lnTo>
                  <a:pt x="149234" y="40700"/>
                </a:lnTo>
                <a:lnTo>
                  <a:pt x="176368" y="40700"/>
                </a:lnTo>
                <a:cubicBezTo>
                  <a:pt x="183872" y="40700"/>
                  <a:pt x="189935" y="46763"/>
                  <a:pt x="189935" y="54267"/>
                </a:cubicBezTo>
                <a:cubicBezTo>
                  <a:pt x="189935" y="61771"/>
                  <a:pt x="183872" y="67834"/>
                  <a:pt x="176368" y="67834"/>
                </a:cubicBezTo>
                <a:lnTo>
                  <a:pt x="176368" y="94967"/>
                </a:lnTo>
                <a:cubicBezTo>
                  <a:pt x="176368" y="135286"/>
                  <a:pt x="147030" y="168779"/>
                  <a:pt x="108534" y="175223"/>
                </a:cubicBezTo>
                <a:lnTo>
                  <a:pt x="108534" y="203501"/>
                </a:lnTo>
                <a:cubicBezTo>
                  <a:pt x="108534" y="211006"/>
                  <a:pt x="102471" y="217068"/>
                  <a:pt x="94967" y="217068"/>
                </a:cubicBezTo>
                <a:cubicBezTo>
                  <a:pt x="87463" y="217068"/>
                  <a:pt x="81401" y="211006"/>
                  <a:pt x="81401" y="203501"/>
                </a:cubicBezTo>
                <a:lnTo>
                  <a:pt x="81401" y="175223"/>
                </a:lnTo>
                <a:cubicBezTo>
                  <a:pt x="42905" y="168779"/>
                  <a:pt x="13567" y="135286"/>
                  <a:pt x="13567" y="94967"/>
                </a:cubicBezTo>
                <a:lnTo>
                  <a:pt x="13567" y="67834"/>
                </a:lnTo>
                <a:cubicBezTo>
                  <a:pt x="6063" y="67834"/>
                  <a:pt x="0" y="61771"/>
                  <a:pt x="0" y="54267"/>
                </a:cubicBezTo>
                <a:cubicBezTo>
                  <a:pt x="0" y="46763"/>
                  <a:pt x="6063" y="40700"/>
                  <a:pt x="13567" y="40700"/>
                </a:cubicBezTo>
                <a:lnTo>
                  <a:pt x="40700" y="40700"/>
                </a:lnTo>
                <a:lnTo>
                  <a:pt x="40700" y="0"/>
                </a:lnTo>
                <a:cubicBezTo>
                  <a:pt x="40700" y="-7504"/>
                  <a:pt x="46763" y="-13567"/>
                  <a:pt x="54267" y="-1356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2544221" y="4291620"/>
            <a:ext cx="1058208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Py4J Gateway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97274" y="3423347"/>
            <a:ext cx="723561" cy="723561"/>
          </a:xfrm>
          <a:custGeom>
            <a:avLst/>
            <a:gdLst/>
            <a:ahLst/>
            <a:cxnLst/>
            <a:rect l="l" t="t" r="r" b="b"/>
            <a:pathLst>
              <a:path w="723561" h="723561">
                <a:moveTo>
                  <a:pt x="144712" y="0"/>
                </a:moveTo>
                <a:lnTo>
                  <a:pt x="578849" y="0"/>
                </a:lnTo>
                <a:cubicBezTo>
                  <a:pt x="658771" y="0"/>
                  <a:pt x="723561" y="64790"/>
                  <a:pt x="723561" y="144712"/>
                </a:cubicBezTo>
                <a:lnTo>
                  <a:pt x="723561" y="578849"/>
                </a:lnTo>
                <a:cubicBezTo>
                  <a:pt x="723561" y="658771"/>
                  <a:pt x="658771" y="723561"/>
                  <a:pt x="578849" y="723561"/>
                </a:cubicBezTo>
                <a:lnTo>
                  <a:pt x="144712" y="723561"/>
                </a:lnTo>
                <a:cubicBezTo>
                  <a:pt x="64790" y="723561"/>
                  <a:pt x="0" y="658771"/>
                  <a:pt x="0" y="578849"/>
                </a:cubicBezTo>
                <a:lnTo>
                  <a:pt x="0" y="144712"/>
                </a:lnTo>
                <a:cubicBezTo>
                  <a:pt x="0" y="64843"/>
                  <a:pt x="64843" y="0"/>
                  <a:pt x="144712" y="0"/>
                </a:cubicBezTo>
                <a:close/>
              </a:path>
            </a:pathLst>
          </a:custGeom>
          <a:solidFill>
            <a:srgbClr val="4A6C7C"/>
          </a:solidFill>
          <a:ln/>
          <a:effectLst>
            <a:outerShdw blurRad="135668" dist="904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16603" y="3622326"/>
            <a:ext cx="284902" cy="325602"/>
          </a:xfrm>
          <a:custGeom>
            <a:avLst/>
            <a:gdLst/>
            <a:ahLst/>
            <a:cxnLst/>
            <a:rect l="l" t="t" r="r" b="b"/>
            <a:pathLst>
              <a:path w="284902" h="325602">
                <a:moveTo>
                  <a:pt x="279687" y="127506"/>
                </a:moveTo>
                <a:cubicBezTo>
                  <a:pt x="274791" y="107856"/>
                  <a:pt x="265506" y="93038"/>
                  <a:pt x="245728" y="93038"/>
                </a:cubicBezTo>
                <a:lnTo>
                  <a:pt x="220227" y="93038"/>
                </a:lnTo>
                <a:lnTo>
                  <a:pt x="220227" y="123182"/>
                </a:lnTo>
                <a:cubicBezTo>
                  <a:pt x="220227" y="146585"/>
                  <a:pt x="200385" y="166299"/>
                  <a:pt x="177746" y="166299"/>
                </a:cubicBezTo>
                <a:lnTo>
                  <a:pt x="109827" y="166299"/>
                </a:lnTo>
                <a:cubicBezTo>
                  <a:pt x="91258" y="166299"/>
                  <a:pt x="75868" y="182197"/>
                  <a:pt x="75868" y="200831"/>
                </a:cubicBezTo>
                <a:lnTo>
                  <a:pt x="75868" y="265569"/>
                </a:lnTo>
                <a:cubicBezTo>
                  <a:pt x="75868" y="284012"/>
                  <a:pt x="91894" y="294823"/>
                  <a:pt x="109827" y="300101"/>
                </a:cubicBezTo>
                <a:cubicBezTo>
                  <a:pt x="131322" y="306397"/>
                  <a:pt x="151990" y="307542"/>
                  <a:pt x="177746" y="300101"/>
                </a:cubicBezTo>
                <a:cubicBezTo>
                  <a:pt x="194853" y="295141"/>
                  <a:pt x="211705" y="285156"/>
                  <a:pt x="211705" y="265569"/>
                </a:cubicBezTo>
                <a:lnTo>
                  <a:pt x="211705" y="239687"/>
                </a:lnTo>
                <a:lnTo>
                  <a:pt x="143850" y="239687"/>
                </a:lnTo>
                <a:lnTo>
                  <a:pt x="143850" y="231038"/>
                </a:lnTo>
                <a:lnTo>
                  <a:pt x="245728" y="231038"/>
                </a:lnTo>
                <a:cubicBezTo>
                  <a:pt x="265506" y="231038"/>
                  <a:pt x="272819" y="217238"/>
                  <a:pt x="279687" y="196570"/>
                </a:cubicBezTo>
                <a:cubicBezTo>
                  <a:pt x="286810" y="175266"/>
                  <a:pt x="286492" y="154788"/>
                  <a:pt x="279687" y="127506"/>
                </a:cubicBezTo>
                <a:close/>
                <a:moveTo>
                  <a:pt x="182007" y="282803"/>
                </a:moveTo>
                <a:cubicBezTo>
                  <a:pt x="177167" y="283143"/>
                  <a:pt x="172542" y="280753"/>
                  <a:pt x="170018" y="276609"/>
                </a:cubicBezTo>
                <a:cubicBezTo>
                  <a:pt x="167495" y="272465"/>
                  <a:pt x="167495" y="267259"/>
                  <a:pt x="170018" y="263115"/>
                </a:cubicBezTo>
                <a:cubicBezTo>
                  <a:pt x="172542" y="258971"/>
                  <a:pt x="177167" y="256581"/>
                  <a:pt x="182007" y="256921"/>
                </a:cubicBezTo>
                <a:cubicBezTo>
                  <a:pt x="186847" y="256581"/>
                  <a:pt x="191472" y="258971"/>
                  <a:pt x="193995" y="263115"/>
                </a:cubicBezTo>
                <a:cubicBezTo>
                  <a:pt x="196518" y="267259"/>
                  <a:pt x="196518" y="272465"/>
                  <a:pt x="193995" y="276609"/>
                </a:cubicBezTo>
                <a:cubicBezTo>
                  <a:pt x="191472" y="280753"/>
                  <a:pt x="186847" y="283143"/>
                  <a:pt x="182007" y="282803"/>
                </a:cubicBezTo>
                <a:close/>
                <a:moveTo>
                  <a:pt x="106711" y="157777"/>
                </a:moveTo>
                <a:lnTo>
                  <a:pt x="174630" y="157777"/>
                </a:lnTo>
                <a:cubicBezTo>
                  <a:pt x="193517" y="157777"/>
                  <a:pt x="208589" y="142197"/>
                  <a:pt x="208589" y="123246"/>
                </a:cubicBezTo>
                <a:lnTo>
                  <a:pt x="208589" y="58443"/>
                </a:lnTo>
                <a:cubicBezTo>
                  <a:pt x="208589" y="40001"/>
                  <a:pt x="193072" y="26201"/>
                  <a:pt x="174630" y="23085"/>
                </a:cubicBezTo>
                <a:cubicBezTo>
                  <a:pt x="151863" y="19333"/>
                  <a:pt x="127125" y="19523"/>
                  <a:pt x="106711" y="23148"/>
                </a:cubicBezTo>
                <a:cubicBezTo>
                  <a:pt x="77967" y="28236"/>
                  <a:pt x="72752" y="38856"/>
                  <a:pt x="72752" y="58507"/>
                </a:cubicBezTo>
                <a:lnTo>
                  <a:pt x="72752" y="84390"/>
                </a:lnTo>
                <a:lnTo>
                  <a:pt x="140734" y="84390"/>
                </a:lnTo>
                <a:lnTo>
                  <a:pt x="140734" y="93038"/>
                </a:lnTo>
                <a:lnTo>
                  <a:pt x="47251" y="93038"/>
                </a:lnTo>
                <a:cubicBezTo>
                  <a:pt x="27473" y="93038"/>
                  <a:pt x="10175" y="104930"/>
                  <a:pt x="4770" y="127506"/>
                </a:cubicBezTo>
                <a:cubicBezTo>
                  <a:pt x="-1463" y="153389"/>
                  <a:pt x="-1717" y="169542"/>
                  <a:pt x="4770" y="196570"/>
                </a:cubicBezTo>
                <a:cubicBezTo>
                  <a:pt x="9603" y="216665"/>
                  <a:pt x="21113" y="231038"/>
                  <a:pt x="40891" y="231038"/>
                </a:cubicBezTo>
                <a:lnTo>
                  <a:pt x="64230" y="231038"/>
                </a:lnTo>
                <a:lnTo>
                  <a:pt x="64230" y="200004"/>
                </a:lnTo>
                <a:cubicBezTo>
                  <a:pt x="64230" y="177555"/>
                  <a:pt x="83626" y="157777"/>
                  <a:pt x="106711" y="157777"/>
                </a:cubicBezTo>
                <a:close/>
                <a:moveTo>
                  <a:pt x="102514" y="41145"/>
                </a:moveTo>
                <a:cubicBezTo>
                  <a:pt x="109674" y="41145"/>
                  <a:pt x="115487" y="46959"/>
                  <a:pt x="115487" y="54119"/>
                </a:cubicBezTo>
                <a:cubicBezTo>
                  <a:pt x="115487" y="61279"/>
                  <a:pt x="109674" y="67092"/>
                  <a:pt x="102514" y="67092"/>
                </a:cubicBezTo>
                <a:cubicBezTo>
                  <a:pt x="95354" y="67092"/>
                  <a:pt x="89541" y="61279"/>
                  <a:pt x="89541" y="54119"/>
                </a:cubicBezTo>
                <a:cubicBezTo>
                  <a:pt x="89541" y="46959"/>
                  <a:pt x="95354" y="41145"/>
                  <a:pt x="102514" y="411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750544" y="4255442"/>
            <a:ext cx="814006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4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Python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59588" y="4508688"/>
            <a:ext cx="795917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LLM Agent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008505" y="4942825"/>
            <a:ext cx="1221009" cy="325602"/>
          </a:xfrm>
          <a:custGeom>
            <a:avLst/>
            <a:gdLst/>
            <a:ahLst/>
            <a:cxnLst/>
            <a:rect l="l" t="t" r="r" b="b"/>
            <a:pathLst>
              <a:path w="1221009" h="325602">
                <a:moveTo>
                  <a:pt x="72355" y="0"/>
                </a:moveTo>
                <a:lnTo>
                  <a:pt x="1148654" y="0"/>
                </a:lnTo>
                <a:cubicBezTo>
                  <a:pt x="1188588" y="0"/>
                  <a:pt x="1221009" y="32421"/>
                  <a:pt x="1221009" y="72355"/>
                </a:cubicBezTo>
                <a:lnTo>
                  <a:pt x="1221009" y="253247"/>
                </a:lnTo>
                <a:cubicBezTo>
                  <a:pt x="1221009" y="293181"/>
                  <a:pt x="1188588" y="325602"/>
                  <a:pt x="1148654" y="325602"/>
                </a:cubicBezTo>
                <a:lnTo>
                  <a:pt x="72355" y="325602"/>
                </a:lnTo>
                <a:cubicBezTo>
                  <a:pt x="32421" y="325602"/>
                  <a:pt x="0" y="293181"/>
                  <a:pt x="0" y="253247"/>
                </a:cubicBezTo>
                <a:lnTo>
                  <a:pt x="0" y="72355"/>
                </a:lnTo>
                <a:cubicBezTo>
                  <a:pt x="0" y="32395"/>
                  <a:pt x="32395" y="0"/>
                  <a:pt x="7235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134" dist="90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121562" y="5015181"/>
            <a:ext cx="994896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7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DataCenter.java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120787" y="4942825"/>
            <a:ext cx="741650" cy="325602"/>
          </a:xfrm>
          <a:custGeom>
            <a:avLst/>
            <a:gdLst/>
            <a:ahLst/>
            <a:cxnLst/>
            <a:rect l="l" t="t" r="r" b="b"/>
            <a:pathLst>
              <a:path w="741650" h="325602">
                <a:moveTo>
                  <a:pt x="72355" y="0"/>
                </a:moveTo>
                <a:lnTo>
                  <a:pt x="669294" y="0"/>
                </a:lnTo>
                <a:cubicBezTo>
                  <a:pt x="709229" y="0"/>
                  <a:pt x="741650" y="32421"/>
                  <a:pt x="741650" y="72355"/>
                </a:cubicBezTo>
                <a:lnTo>
                  <a:pt x="741650" y="253247"/>
                </a:lnTo>
                <a:cubicBezTo>
                  <a:pt x="741650" y="293181"/>
                  <a:pt x="709229" y="325602"/>
                  <a:pt x="669294" y="325602"/>
                </a:cubicBezTo>
                <a:lnTo>
                  <a:pt x="72355" y="325602"/>
                </a:lnTo>
                <a:cubicBezTo>
                  <a:pt x="32421" y="325602"/>
                  <a:pt x="0" y="293181"/>
                  <a:pt x="0" y="253247"/>
                </a:cubicBezTo>
                <a:lnTo>
                  <a:pt x="0" y="72355"/>
                </a:lnTo>
                <a:cubicBezTo>
                  <a:pt x="0" y="32395"/>
                  <a:pt x="32395" y="0"/>
                  <a:pt x="7235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134" dist="90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233843" y="5015181"/>
            <a:ext cx="515537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7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main.py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57711" y="6172880"/>
            <a:ext cx="11468439" cy="578848"/>
          </a:xfrm>
          <a:custGeom>
            <a:avLst/>
            <a:gdLst/>
            <a:ahLst/>
            <a:cxnLst/>
            <a:rect l="l" t="t" r="r" b="b"/>
            <a:pathLst>
              <a:path w="11468439" h="615027">
                <a:moveTo>
                  <a:pt x="108534" y="0"/>
                </a:moveTo>
                <a:lnTo>
                  <a:pt x="11359905" y="0"/>
                </a:lnTo>
                <a:cubicBezTo>
                  <a:pt x="11419847" y="0"/>
                  <a:pt x="11468439" y="48592"/>
                  <a:pt x="11468439" y="108534"/>
                </a:cubicBezTo>
                <a:lnTo>
                  <a:pt x="11468439" y="506493"/>
                </a:lnTo>
                <a:cubicBezTo>
                  <a:pt x="11468439" y="566434"/>
                  <a:pt x="11419847" y="615027"/>
                  <a:pt x="11359905" y="615027"/>
                </a:cubicBezTo>
                <a:lnTo>
                  <a:pt x="108534" y="615027"/>
                </a:lnTo>
                <a:cubicBezTo>
                  <a:pt x="48592" y="615027"/>
                  <a:pt x="0" y="566434"/>
                  <a:pt x="0" y="506493"/>
                </a:cubicBezTo>
                <a:lnTo>
                  <a:pt x="0" y="108534"/>
                </a:lnTo>
                <a:cubicBezTo>
                  <a:pt x="0" y="48632"/>
                  <a:pt x="48632" y="0"/>
                  <a:pt x="108534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/>
              </a:gs>
              <a:gs pos="100000">
                <a:srgbClr val="4A6C7C"/>
              </a:gs>
            </a:gsLst>
            <a:lin ang="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11451469" y="6371857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08534" y="217068"/>
                </a:moveTo>
                <a:cubicBezTo>
                  <a:pt x="168436" y="217068"/>
                  <a:pt x="217068" y="168436"/>
                  <a:pt x="217068" y="108534"/>
                </a:cubicBezTo>
                <a:cubicBezTo>
                  <a:pt x="217068" y="48633"/>
                  <a:pt x="168436" y="0"/>
                  <a:pt x="108534" y="0"/>
                </a:cubicBezTo>
                <a:cubicBezTo>
                  <a:pt x="48633" y="0"/>
                  <a:pt x="0" y="48633"/>
                  <a:pt x="0" y="108534"/>
                </a:cubicBezTo>
                <a:cubicBezTo>
                  <a:pt x="0" y="168436"/>
                  <a:pt x="48633" y="217068"/>
                  <a:pt x="108534" y="217068"/>
                </a:cubicBezTo>
                <a:close/>
                <a:moveTo>
                  <a:pt x="94967" y="67834"/>
                </a:moveTo>
                <a:cubicBezTo>
                  <a:pt x="94967" y="60346"/>
                  <a:pt x="101046" y="54267"/>
                  <a:pt x="108534" y="54267"/>
                </a:cubicBezTo>
                <a:cubicBezTo>
                  <a:pt x="116022" y="54267"/>
                  <a:pt x="122101" y="60346"/>
                  <a:pt x="122101" y="67834"/>
                </a:cubicBezTo>
                <a:cubicBezTo>
                  <a:pt x="122101" y="75322"/>
                  <a:pt x="116022" y="81401"/>
                  <a:pt x="108534" y="81401"/>
                </a:cubicBezTo>
                <a:cubicBezTo>
                  <a:pt x="101046" y="81401"/>
                  <a:pt x="94967" y="75322"/>
                  <a:pt x="94967" y="67834"/>
                </a:cubicBezTo>
                <a:close/>
                <a:moveTo>
                  <a:pt x="91576" y="94967"/>
                </a:moveTo>
                <a:lnTo>
                  <a:pt x="111926" y="94967"/>
                </a:lnTo>
                <a:cubicBezTo>
                  <a:pt x="117565" y="94967"/>
                  <a:pt x="122101" y="99504"/>
                  <a:pt x="122101" y="105142"/>
                </a:cubicBezTo>
                <a:lnTo>
                  <a:pt x="122101" y="142451"/>
                </a:lnTo>
                <a:lnTo>
                  <a:pt x="125493" y="142451"/>
                </a:lnTo>
                <a:cubicBezTo>
                  <a:pt x="131131" y="142451"/>
                  <a:pt x="135668" y="146987"/>
                  <a:pt x="135668" y="152626"/>
                </a:cubicBezTo>
                <a:cubicBezTo>
                  <a:pt x="135668" y="158265"/>
                  <a:pt x="131131" y="162801"/>
                  <a:pt x="125493" y="162801"/>
                </a:cubicBezTo>
                <a:lnTo>
                  <a:pt x="91576" y="162801"/>
                </a:lnTo>
                <a:cubicBezTo>
                  <a:pt x="85937" y="162801"/>
                  <a:pt x="81401" y="158265"/>
                  <a:pt x="81401" y="152626"/>
                </a:cubicBezTo>
                <a:cubicBezTo>
                  <a:pt x="81401" y="146987"/>
                  <a:pt x="85937" y="142451"/>
                  <a:pt x="91576" y="142451"/>
                </a:cubicBezTo>
                <a:lnTo>
                  <a:pt x="101751" y="142451"/>
                </a:lnTo>
                <a:lnTo>
                  <a:pt x="101751" y="115318"/>
                </a:lnTo>
                <a:lnTo>
                  <a:pt x="91576" y="115318"/>
                </a:lnTo>
                <a:cubicBezTo>
                  <a:pt x="85937" y="115318"/>
                  <a:pt x="81401" y="110781"/>
                  <a:pt x="81401" y="105142"/>
                </a:cubicBezTo>
                <a:cubicBezTo>
                  <a:pt x="81401" y="99504"/>
                  <a:pt x="85937" y="94967"/>
                  <a:pt x="91576" y="94967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9" name="Text 47"/>
          <p:cNvSpPr/>
          <p:nvPr/>
        </p:nvSpPr>
        <p:spPr>
          <a:xfrm>
            <a:off x="5731872" y="6353768"/>
            <a:ext cx="5625685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82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تکنولوژی ارتباطی:</a:t>
            </a:r>
            <a:r>
              <a:rPr lang="en-US" sz="1282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استفاده از پروتکل Py4J </a:t>
            </a:r>
            <a:r>
              <a:rPr lang="fa-IR" sz="1282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282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برای</a:t>
            </a:r>
            <a:r>
              <a:rPr lang="en-US" sz="1282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ارتباط بی‌درنگ بین Java </a:t>
            </a:r>
            <a:r>
              <a:rPr lang="fa-IR" sz="1282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282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و Python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82243" y="491080"/>
            <a:ext cx="528855" cy="528855"/>
          </a:xfrm>
          <a:custGeom>
            <a:avLst/>
            <a:gdLst/>
            <a:ahLst/>
            <a:cxnLst/>
            <a:rect l="l" t="t" r="r" b="b"/>
            <a:pathLst>
              <a:path w="528855" h="528855">
                <a:moveTo>
                  <a:pt x="151099" y="0"/>
                </a:moveTo>
                <a:lnTo>
                  <a:pt x="377756" y="0"/>
                </a:lnTo>
                <a:cubicBezTo>
                  <a:pt x="461206" y="0"/>
                  <a:pt x="528855" y="67649"/>
                  <a:pt x="528855" y="151099"/>
                </a:cubicBezTo>
                <a:lnTo>
                  <a:pt x="528855" y="377756"/>
                </a:lnTo>
                <a:cubicBezTo>
                  <a:pt x="528855" y="461206"/>
                  <a:pt x="461206" y="528855"/>
                  <a:pt x="377756" y="528855"/>
                </a:cubicBezTo>
                <a:lnTo>
                  <a:pt x="151099" y="528855"/>
                </a:lnTo>
                <a:cubicBezTo>
                  <a:pt x="67649" y="528855"/>
                  <a:pt x="0" y="461206"/>
                  <a:pt x="0" y="377756"/>
                </a:cubicBezTo>
                <a:lnTo>
                  <a:pt x="0" y="151099"/>
                </a:lnTo>
                <a:cubicBezTo>
                  <a:pt x="0" y="67649"/>
                  <a:pt x="67649" y="0"/>
                  <a:pt x="151099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blurRad="141658" dist="944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433345" y="642181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0" y="35414"/>
                </a:moveTo>
                <a:cubicBezTo>
                  <a:pt x="0" y="23683"/>
                  <a:pt x="9518" y="14166"/>
                  <a:pt x="21249" y="14166"/>
                </a:cubicBezTo>
                <a:lnTo>
                  <a:pt x="63746" y="14166"/>
                </a:lnTo>
                <a:cubicBezTo>
                  <a:pt x="75477" y="14166"/>
                  <a:pt x="84995" y="23683"/>
                  <a:pt x="84995" y="35414"/>
                </a:cubicBezTo>
                <a:lnTo>
                  <a:pt x="84995" y="42497"/>
                </a:lnTo>
                <a:lnTo>
                  <a:pt x="141658" y="42497"/>
                </a:lnTo>
                <a:lnTo>
                  <a:pt x="141658" y="35414"/>
                </a:lnTo>
                <a:cubicBezTo>
                  <a:pt x="141658" y="23683"/>
                  <a:pt x="151175" y="14166"/>
                  <a:pt x="162906" y="14166"/>
                </a:cubicBezTo>
                <a:lnTo>
                  <a:pt x="205404" y="14166"/>
                </a:lnTo>
                <a:cubicBezTo>
                  <a:pt x="217135" y="14166"/>
                  <a:pt x="226652" y="23683"/>
                  <a:pt x="226652" y="35414"/>
                </a:cubicBezTo>
                <a:lnTo>
                  <a:pt x="226652" y="77912"/>
                </a:lnTo>
                <a:cubicBezTo>
                  <a:pt x="226652" y="89643"/>
                  <a:pt x="217135" y="99160"/>
                  <a:pt x="205404" y="99160"/>
                </a:cubicBezTo>
                <a:lnTo>
                  <a:pt x="162906" y="99160"/>
                </a:lnTo>
                <a:cubicBezTo>
                  <a:pt x="151175" y="99160"/>
                  <a:pt x="141658" y="89643"/>
                  <a:pt x="141658" y="77912"/>
                </a:cubicBezTo>
                <a:lnTo>
                  <a:pt x="141658" y="70829"/>
                </a:lnTo>
                <a:lnTo>
                  <a:pt x="84995" y="70829"/>
                </a:lnTo>
                <a:lnTo>
                  <a:pt x="84995" y="77912"/>
                </a:lnTo>
                <a:cubicBezTo>
                  <a:pt x="84995" y="81143"/>
                  <a:pt x="84242" y="84242"/>
                  <a:pt x="82958" y="86987"/>
                </a:cubicBezTo>
                <a:lnTo>
                  <a:pt x="113326" y="127492"/>
                </a:lnTo>
                <a:lnTo>
                  <a:pt x="148741" y="127492"/>
                </a:lnTo>
                <a:cubicBezTo>
                  <a:pt x="160472" y="127492"/>
                  <a:pt x="169989" y="137009"/>
                  <a:pt x="169989" y="148741"/>
                </a:cubicBezTo>
                <a:lnTo>
                  <a:pt x="169989" y="191238"/>
                </a:lnTo>
                <a:cubicBezTo>
                  <a:pt x="169989" y="202969"/>
                  <a:pt x="160472" y="212486"/>
                  <a:pt x="148741" y="212486"/>
                </a:cubicBezTo>
                <a:lnTo>
                  <a:pt x="106243" y="212486"/>
                </a:lnTo>
                <a:cubicBezTo>
                  <a:pt x="94512" y="212486"/>
                  <a:pt x="84995" y="202969"/>
                  <a:pt x="84995" y="191238"/>
                </a:cubicBezTo>
                <a:lnTo>
                  <a:pt x="84995" y="148741"/>
                </a:lnTo>
                <a:cubicBezTo>
                  <a:pt x="84995" y="145509"/>
                  <a:pt x="85747" y="142410"/>
                  <a:pt x="87031" y="139666"/>
                </a:cubicBezTo>
                <a:lnTo>
                  <a:pt x="56663" y="99160"/>
                </a:lnTo>
                <a:lnTo>
                  <a:pt x="21249" y="99160"/>
                </a:lnTo>
                <a:cubicBezTo>
                  <a:pt x="9518" y="99160"/>
                  <a:pt x="0" y="89643"/>
                  <a:pt x="0" y="77912"/>
                </a:cubicBezTo>
                <a:lnTo>
                  <a:pt x="0" y="3541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662158" y="377754"/>
            <a:ext cx="4530369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80000"/>
              </a:lnSpc>
            </a:pPr>
            <a:r>
              <a:rPr lang="en-US" sz="3569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متدولوژی عامل هوشمند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62158" y="868833"/>
            <a:ext cx="4530369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487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ReAct Architecture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41753" y="1359913"/>
            <a:ext cx="6771235" cy="4646370"/>
          </a:xfrm>
          <a:custGeom>
            <a:avLst/>
            <a:gdLst/>
            <a:ahLst/>
            <a:cxnLst/>
            <a:rect l="l" t="t" r="r" b="b"/>
            <a:pathLst>
              <a:path w="6771235" h="4646370">
                <a:moveTo>
                  <a:pt x="151100" y="0"/>
                </a:moveTo>
                <a:lnTo>
                  <a:pt x="6620135" y="0"/>
                </a:lnTo>
                <a:cubicBezTo>
                  <a:pt x="6703585" y="0"/>
                  <a:pt x="6771235" y="67650"/>
                  <a:pt x="6771235" y="151100"/>
                </a:cubicBezTo>
                <a:lnTo>
                  <a:pt x="6771235" y="4495270"/>
                </a:lnTo>
                <a:cubicBezTo>
                  <a:pt x="6771235" y="4578720"/>
                  <a:pt x="6703585" y="4646370"/>
                  <a:pt x="6620135" y="4646370"/>
                </a:cubicBezTo>
                <a:lnTo>
                  <a:pt x="151100" y="4646370"/>
                </a:lnTo>
                <a:cubicBezTo>
                  <a:pt x="67650" y="4646370"/>
                  <a:pt x="0" y="4578720"/>
                  <a:pt x="0" y="4495270"/>
                </a:cubicBezTo>
                <a:lnTo>
                  <a:pt x="0" y="151100"/>
                </a:lnTo>
                <a:cubicBezTo>
                  <a:pt x="0" y="67650"/>
                  <a:pt x="67650" y="0"/>
                  <a:pt x="151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1658" dist="944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68405" y="1586565"/>
            <a:ext cx="6317930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785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معماری ReAct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055591" y="2115421"/>
            <a:ext cx="528855" cy="528855"/>
          </a:xfrm>
          <a:custGeom>
            <a:avLst/>
            <a:gdLst/>
            <a:ahLst/>
            <a:cxnLst/>
            <a:rect l="l" t="t" r="r" b="b"/>
            <a:pathLst>
              <a:path w="528855" h="528855">
                <a:moveTo>
                  <a:pt x="113328" y="0"/>
                </a:moveTo>
                <a:lnTo>
                  <a:pt x="415527" y="0"/>
                </a:lnTo>
                <a:cubicBezTo>
                  <a:pt x="478116" y="0"/>
                  <a:pt x="528855" y="50739"/>
                  <a:pt x="528855" y="113328"/>
                </a:cubicBezTo>
                <a:lnTo>
                  <a:pt x="528855" y="415527"/>
                </a:lnTo>
                <a:cubicBezTo>
                  <a:pt x="528855" y="478116"/>
                  <a:pt x="478116" y="528855"/>
                  <a:pt x="415527" y="528855"/>
                </a:cubicBezTo>
                <a:lnTo>
                  <a:pt x="113328" y="528855"/>
                </a:lnTo>
                <a:cubicBezTo>
                  <a:pt x="50739" y="528855"/>
                  <a:pt x="0" y="478116"/>
                  <a:pt x="0" y="415527"/>
                </a:cubicBezTo>
                <a:lnTo>
                  <a:pt x="0" y="113328"/>
                </a:lnTo>
                <a:cubicBezTo>
                  <a:pt x="0" y="50781"/>
                  <a:pt x="50781" y="0"/>
                  <a:pt x="113328" y="0"/>
                </a:cubicBezTo>
                <a:close/>
              </a:path>
            </a:pathLst>
          </a:custGeom>
          <a:solidFill>
            <a:srgbClr val="1A535C"/>
          </a:solidFill>
          <a:ln/>
          <a:effectLst>
            <a:outerShdw blurRad="56663" dist="377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192527" y="2266522"/>
            <a:ext cx="254984" cy="226652"/>
          </a:xfrm>
          <a:custGeom>
            <a:avLst/>
            <a:gdLst/>
            <a:ahLst/>
            <a:cxnLst/>
            <a:rect l="l" t="t" r="r" b="b"/>
            <a:pathLst>
              <a:path w="254984" h="226652">
                <a:moveTo>
                  <a:pt x="127492" y="14166"/>
                </a:moveTo>
                <a:cubicBezTo>
                  <a:pt x="91723" y="14166"/>
                  <a:pt x="63082" y="30456"/>
                  <a:pt x="42232" y="49846"/>
                </a:cubicBezTo>
                <a:cubicBezTo>
                  <a:pt x="21514" y="69102"/>
                  <a:pt x="7658" y="92077"/>
                  <a:pt x="1062" y="107881"/>
                </a:cubicBezTo>
                <a:cubicBezTo>
                  <a:pt x="-398" y="111378"/>
                  <a:pt x="-398" y="115274"/>
                  <a:pt x="1062" y="118771"/>
                </a:cubicBezTo>
                <a:cubicBezTo>
                  <a:pt x="7658" y="134575"/>
                  <a:pt x="21514" y="157594"/>
                  <a:pt x="42232" y="176806"/>
                </a:cubicBezTo>
                <a:cubicBezTo>
                  <a:pt x="63082" y="196152"/>
                  <a:pt x="91723" y="212486"/>
                  <a:pt x="127492" y="212486"/>
                </a:cubicBezTo>
                <a:cubicBezTo>
                  <a:pt x="163260" y="212486"/>
                  <a:pt x="191902" y="196196"/>
                  <a:pt x="212752" y="176806"/>
                </a:cubicBezTo>
                <a:cubicBezTo>
                  <a:pt x="233469" y="157550"/>
                  <a:pt x="247325" y="134575"/>
                  <a:pt x="253921" y="118771"/>
                </a:cubicBezTo>
                <a:cubicBezTo>
                  <a:pt x="255382" y="115274"/>
                  <a:pt x="255382" y="111378"/>
                  <a:pt x="253921" y="107881"/>
                </a:cubicBezTo>
                <a:cubicBezTo>
                  <a:pt x="247325" y="92077"/>
                  <a:pt x="233469" y="69058"/>
                  <a:pt x="212752" y="49846"/>
                </a:cubicBezTo>
                <a:cubicBezTo>
                  <a:pt x="191902" y="30501"/>
                  <a:pt x="163260" y="14166"/>
                  <a:pt x="127492" y="14166"/>
                </a:cubicBezTo>
                <a:close/>
                <a:moveTo>
                  <a:pt x="63746" y="113326"/>
                </a:moveTo>
                <a:cubicBezTo>
                  <a:pt x="63746" y="78144"/>
                  <a:pt x="92310" y="49580"/>
                  <a:pt x="127492" y="49580"/>
                </a:cubicBezTo>
                <a:cubicBezTo>
                  <a:pt x="162674" y="49580"/>
                  <a:pt x="191238" y="78144"/>
                  <a:pt x="191238" y="113326"/>
                </a:cubicBezTo>
                <a:cubicBezTo>
                  <a:pt x="191238" y="148508"/>
                  <a:pt x="162674" y="177072"/>
                  <a:pt x="127492" y="177072"/>
                </a:cubicBezTo>
                <a:cubicBezTo>
                  <a:pt x="92310" y="177072"/>
                  <a:pt x="63746" y="148508"/>
                  <a:pt x="63746" y="113326"/>
                </a:cubicBezTo>
                <a:close/>
                <a:moveTo>
                  <a:pt x="127492" y="84995"/>
                </a:moveTo>
                <a:cubicBezTo>
                  <a:pt x="127492" y="100621"/>
                  <a:pt x="114787" y="113326"/>
                  <a:pt x="99160" y="113326"/>
                </a:cubicBezTo>
                <a:cubicBezTo>
                  <a:pt x="94070" y="113326"/>
                  <a:pt x="89289" y="111998"/>
                  <a:pt x="85127" y="109608"/>
                </a:cubicBezTo>
                <a:cubicBezTo>
                  <a:pt x="84685" y="114433"/>
                  <a:pt x="85083" y="119391"/>
                  <a:pt x="86411" y="124305"/>
                </a:cubicBezTo>
                <a:cubicBezTo>
                  <a:pt x="92476" y="146970"/>
                  <a:pt x="115805" y="160427"/>
                  <a:pt x="138470" y="154363"/>
                </a:cubicBezTo>
                <a:cubicBezTo>
                  <a:pt x="161136" y="148298"/>
                  <a:pt x="174593" y="124969"/>
                  <a:pt x="168528" y="102303"/>
                </a:cubicBezTo>
                <a:cubicBezTo>
                  <a:pt x="163128" y="82073"/>
                  <a:pt x="143960" y="69191"/>
                  <a:pt x="123773" y="70962"/>
                </a:cubicBezTo>
                <a:cubicBezTo>
                  <a:pt x="126120" y="75079"/>
                  <a:pt x="127492" y="79859"/>
                  <a:pt x="127492" y="8499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268405" y="2115421"/>
            <a:ext cx="5637974" cy="868833"/>
          </a:xfrm>
          <a:custGeom>
            <a:avLst/>
            <a:gdLst/>
            <a:ahLst/>
            <a:cxnLst/>
            <a:rect l="l" t="t" r="r" b="b"/>
            <a:pathLst>
              <a:path w="5637974" h="868833">
                <a:moveTo>
                  <a:pt x="113322" y="0"/>
                </a:moveTo>
                <a:lnTo>
                  <a:pt x="5524652" y="0"/>
                </a:lnTo>
                <a:cubicBezTo>
                  <a:pt x="5587238" y="0"/>
                  <a:pt x="5637974" y="50736"/>
                  <a:pt x="5637974" y="113322"/>
                </a:cubicBezTo>
                <a:lnTo>
                  <a:pt x="5637974" y="755512"/>
                </a:lnTo>
                <a:cubicBezTo>
                  <a:pt x="5637974" y="818097"/>
                  <a:pt x="5587238" y="868833"/>
                  <a:pt x="5524652" y="868833"/>
                </a:cubicBezTo>
                <a:lnTo>
                  <a:pt x="113322" y="868833"/>
                </a:lnTo>
                <a:cubicBezTo>
                  <a:pt x="50736" y="868833"/>
                  <a:pt x="0" y="818097"/>
                  <a:pt x="0" y="755512"/>
                </a:cubicBezTo>
                <a:lnTo>
                  <a:pt x="0" y="113322"/>
                </a:lnTo>
                <a:cubicBezTo>
                  <a:pt x="0" y="50736"/>
                  <a:pt x="50736" y="0"/>
                  <a:pt x="11332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5419506" y="2266522"/>
            <a:ext cx="5430209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487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مشاهده (Observation)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19506" y="2606500"/>
            <a:ext cx="5411321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19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عامل ابتدا وضعیت فعلی سیستم را مشاهده و تحلیل می‌کند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341431" y="3135356"/>
            <a:ext cx="169989" cy="226652"/>
          </a:xfrm>
          <a:custGeom>
            <a:avLst/>
            <a:gdLst/>
            <a:ahLst/>
            <a:cxnLst/>
            <a:rect l="l" t="t" r="r" b="b"/>
            <a:pathLst>
              <a:path w="169989" h="226652">
                <a:moveTo>
                  <a:pt x="74990" y="222491"/>
                </a:moveTo>
                <a:cubicBezTo>
                  <a:pt x="80524" y="228025"/>
                  <a:pt x="89510" y="228025"/>
                  <a:pt x="95043" y="222491"/>
                </a:cubicBezTo>
                <a:lnTo>
                  <a:pt x="165872" y="151662"/>
                </a:lnTo>
                <a:cubicBezTo>
                  <a:pt x="171406" y="146129"/>
                  <a:pt x="171406" y="137142"/>
                  <a:pt x="165872" y="131609"/>
                </a:cubicBezTo>
                <a:cubicBezTo>
                  <a:pt x="160339" y="126075"/>
                  <a:pt x="151352" y="126075"/>
                  <a:pt x="145819" y="131609"/>
                </a:cubicBezTo>
                <a:lnTo>
                  <a:pt x="99160" y="178267"/>
                </a:lnTo>
                <a:lnTo>
                  <a:pt x="99160" y="14166"/>
                </a:lnTo>
                <a:cubicBezTo>
                  <a:pt x="99160" y="6330"/>
                  <a:pt x="92830" y="0"/>
                  <a:pt x="84995" y="0"/>
                </a:cubicBezTo>
                <a:cubicBezTo>
                  <a:pt x="77159" y="0"/>
                  <a:pt x="70829" y="6330"/>
                  <a:pt x="70829" y="14166"/>
                </a:cubicBezTo>
                <a:lnTo>
                  <a:pt x="70829" y="178267"/>
                </a:lnTo>
                <a:lnTo>
                  <a:pt x="24170" y="131609"/>
                </a:lnTo>
                <a:cubicBezTo>
                  <a:pt x="18637" y="126075"/>
                  <a:pt x="9650" y="126075"/>
                  <a:pt x="4117" y="131609"/>
                </a:cubicBezTo>
                <a:cubicBezTo>
                  <a:pt x="-1417" y="137142"/>
                  <a:pt x="-1417" y="146129"/>
                  <a:pt x="4117" y="151662"/>
                </a:cubicBezTo>
                <a:lnTo>
                  <a:pt x="74946" y="222491"/>
                </a:ln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55591" y="3513109"/>
            <a:ext cx="528855" cy="528855"/>
          </a:xfrm>
          <a:custGeom>
            <a:avLst/>
            <a:gdLst/>
            <a:ahLst/>
            <a:cxnLst/>
            <a:rect l="l" t="t" r="r" b="b"/>
            <a:pathLst>
              <a:path w="528855" h="528855">
                <a:moveTo>
                  <a:pt x="113328" y="0"/>
                </a:moveTo>
                <a:lnTo>
                  <a:pt x="415527" y="0"/>
                </a:lnTo>
                <a:cubicBezTo>
                  <a:pt x="478116" y="0"/>
                  <a:pt x="528855" y="50739"/>
                  <a:pt x="528855" y="113328"/>
                </a:cubicBezTo>
                <a:lnTo>
                  <a:pt x="528855" y="415527"/>
                </a:lnTo>
                <a:cubicBezTo>
                  <a:pt x="528855" y="478116"/>
                  <a:pt x="478116" y="528855"/>
                  <a:pt x="415527" y="528855"/>
                </a:cubicBezTo>
                <a:lnTo>
                  <a:pt x="113328" y="528855"/>
                </a:lnTo>
                <a:cubicBezTo>
                  <a:pt x="50739" y="528855"/>
                  <a:pt x="0" y="478116"/>
                  <a:pt x="0" y="415527"/>
                </a:cubicBezTo>
                <a:lnTo>
                  <a:pt x="0" y="113328"/>
                </a:lnTo>
                <a:cubicBezTo>
                  <a:pt x="0" y="50781"/>
                  <a:pt x="50781" y="0"/>
                  <a:pt x="113328" y="0"/>
                </a:cubicBezTo>
                <a:close/>
              </a:path>
            </a:pathLst>
          </a:custGeom>
          <a:solidFill>
            <a:srgbClr val="4A6C7C"/>
          </a:solidFill>
          <a:ln/>
          <a:effectLst>
            <a:outerShdw blurRad="56663" dist="377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206693" y="3664211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53122" y="24790"/>
                </a:moveTo>
                <a:cubicBezTo>
                  <a:pt x="53122" y="11111"/>
                  <a:pt x="64233" y="0"/>
                  <a:pt x="77912" y="0"/>
                </a:cubicBezTo>
                <a:lnTo>
                  <a:pt x="88536" y="0"/>
                </a:lnTo>
                <a:cubicBezTo>
                  <a:pt x="96371" y="0"/>
                  <a:pt x="102702" y="6330"/>
                  <a:pt x="102702" y="14166"/>
                </a:cubicBezTo>
                <a:lnTo>
                  <a:pt x="102702" y="212486"/>
                </a:lnTo>
                <a:cubicBezTo>
                  <a:pt x="102702" y="220322"/>
                  <a:pt x="96371" y="226652"/>
                  <a:pt x="88536" y="226652"/>
                </a:cubicBezTo>
                <a:lnTo>
                  <a:pt x="74370" y="226652"/>
                </a:lnTo>
                <a:cubicBezTo>
                  <a:pt x="61178" y="226652"/>
                  <a:pt x="50067" y="217622"/>
                  <a:pt x="46924" y="205404"/>
                </a:cubicBezTo>
                <a:cubicBezTo>
                  <a:pt x="46614" y="205404"/>
                  <a:pt x="46349" y="205404"/>
                  <a:pt x="46039" y="205404"/>
                </a:cubicBezTo>
                <a:cubicBezTo>
                  <a:pt x="26472" y="205404"/>
                  <a:pt x="10624" y="189556"/>
                  <a:pt x="10624" y="169989"/>
                </a:cubicBezTo>
                <a:cubicBezTo>
                  <a:pt x="10624" y="162021"/>
                  <a:pt x="13280" y="154672"/>
                  <a:pt x="17707" y="148741"/>
                </a:cubicBezTo>
                <a:cubicBezTo>
                  <a:pt x="9119" y="142277"/>
                  <a:pt x="3541" y="132007"/>
                  <a:pt x="3541" y="120409"/>
                </a:cubicBezTo>
                <a:cubicBezTo>
                  <a:pt x="3541" y="106730"/>
                  <a:pt x="11333" y="94822"/>
                  <a:pt x="22665" y="88934"/>
                </a:cubicBezTo>
                <a:cubicBezTo>
                  <a:pt x="19522" y="83622"/>
                  <a:pt x="17707" y="77425"/>
                  <a:pt x="17707" y="70829"/>
                </a:cubicBezTo>
                <a:cubicBezTo>
                  <a:pt x="17707" y="51262"/>
                  <a:pt x="33555" y="35414"/>
                  <a:pt x="53122" y="35414"/>
                </a:cubicBezTo>
                <a:lnTo>
                  <a:pt x="53122" y="24790"/>
                </a:lnTo>
                <a:close/>
                <a:moveTo>
                  <a:pt x="173531" y="24790"/>
                </a:moveTo>
                <a:lnTo>
                  <a:pt x="173531" y="35414"/>
                </a:lnTo>
                <a:cubicBezTo>
                  <a:pt x="193097" y="35414"/>
                  <a:pt x="208945" y="51262"/>
                  <a:pt x="208945" y="70829"/>
                </a:cubicBezTo>
                <a:cubicBezTo>
                  <a:pt x="208945" y="77469"/>
                  <a:pt x="207130" y="83667"/>
                  <a:pt x="203987" y="88934"/>
                </a:cubicBezTo>
                <a:cubicBezTo>
                  <a:pt x="215364" y="94822"/>
                  <a:pt x="223111" y="106686"/>
                  <a:pt x="223111" y="120409"/>
                </a:cubicBezTo>
                <a:cubicBezTo>
                  <a:pt x="223111" y="132007"/>
                  <a:pt x="217533" y="142277"/>
                  <a:pt x="208945" y="148741"/>
                </a:cubicBezTo>
                <a:cubicBezTo>
                  <a:pt x="213372" y="154672"/>
                  <a:pt x="216028" y="162021"/>
                  <a:pt x="216028" y="169989"/>
                </a:cubicBezTo>
                <a:cubicBezTo>
                  <a:pt x="216028" y="189556"/>
                  <a:pt x="200180" y="205404"/>
                  <a:pt x="180613" y="205404"/>
                </a:cubicBezTo>
                <a:cubicBezTo>
                  <a:pt x="180304" y="205404"/>
                  <a:pt x="180038" y="205404"/>
                  <a:pt x="179728" y="205404"/>
                </a:cubicBezTo>
                <a:cubicBezTo>
                  <a:pt x="176585" y="217622"/>
                  <a:pt x="165474" y="226652"/>
                  <a:pt x="152282" y="226652"/>
                </a:cubicBezTo>
                <a:lnTo>
                  <a:pt x="138116" y="226652"/>
                </a:lnTo>
                <a:cubicBezTo>
                  <a:pt x="130281" y="226652"/>
                  <a:pt x="123950" y="220322"/>
                  <a:pt x="123950" y="212486"/>
                </a:cubicBezTo>
                <a:lnTo>
                  <a:pt x="123950" y="14166"/>
                </a:lnTo>
                <a:cubicBezTo>
                  <a:pt x="123950" y="6330"/>
                  <a:pt x="130281" y="0"/>
                  <a:pt x="138116" y="0"/>
                </a:cubicBezTo>
                <a:lnTo>
                  <a:pt x="148741" y="0"/>
                </a:lnTo>
                <a:cubicBezTo>
                  <a:pt x="162419" y="0"/>
                  <a:pt x="173531" y="11111"/>
                  <a:pt x="173531" y="2479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268405" y="3513109"/>
            <a:ext cx="5637974" cy="868833"/>
          </a:xfrm>
          <a:custGeom>
            <a:avLst/>
            <a:gdLst/>
            <a:ahLst/>
            <a:cxnLst/>
            <a:rect l="l" t="t" r="r" b="b"/>
            <a:pathLst>
              <a:path w="5637974" h="868833">
                <a:moveTo>
                  <a:pt x="113322" y="0"/>
                </a:moveTo>
                <a:lnTo>
                  <a:pt x="5524652" y="0"/>
                </a:lnTo>
                <a:cubicBezTo>
                  <a:pt x="5587238" y="0"/>
                  <a:pt x="5637974" y="50736"/>
                  <a:pt x="5637974" y="113322"/>
                </a:cubicBezTo>
                <a:lnTo>
                  <a:pt x="5637974" y="755512"/>
                </a:lnTo>
                <a:cubicBezTo>
                  <a:pt x="5637974" y="818097"/>
                  <a:pt x="5587238" y="868833"/>
                  <a:pt x="5524652" y="868833"/>
                </a:cubicBezTo>
                <a:lnTo>
                  <a:pt x="113322" y="868833"/>
                </a:lnTo>
                <a:cubicBezTo>
                  <a:pt x="50736" y="868833"/>
                  <a:pt x="0" y="818097"/>
                  <a:pt x="0" y="755512"/>
                </a:cubicBezTo>
                <a:lnTo>
                  <a:pt x="0" y="113322"/>
                </a:lnTo>
                <a:cubicBezTo>
                  <a:pt x="0" y="50736"/>
                  <a:pt x="50736" y="0"/>
                  <a:pt x="11332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5419506" y="3664211"/>
            <a:ext cx="5430209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487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تفکر (Thought)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19506" y="4004189"/>
            <a:ext cx="5411321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19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سپس فکر می‌کند و استدلال منطقی خود را توسعه می‌دهد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341431" y="4533044"/>
            <a:ext cx="169989" cy="226652"/>
          </a:xfrm>
          <a:custGeom>
            <a:avLst/>
            <a:gdLst/>
            <a:ahLst/>
            <a:cxnLst/>
            <a:rect l="l" t="t" r="r" b="b"/>
            <a:pathLst>
              <a:path w="169989" h="226652">
                <a:moveTo>
                  <a:pt x="74990" y="222491"/>
                </a:moveTo>
                <a:cubicBezTo>
                  <a:pt x="80524" y="228025"/>
                  <a:pt x="89510" y="228025"/>
                  <a:pt x="95043" y="222491"/>
                </a:cubicBezTo>
                <a:lnTo>
                  <a:pt x="165872" y="151662"/>
                </a:lnTo>
                <a:cubicBezTo>
                  <a:pt x="171406" y="146129"/>
                  <a:pt x="171406" y="137142"/>
                  <a:pt x="165872" y="131609"/>
                </a:cubicBezTo>
                <a:cubicBezTo>
                  <a:pt x="160339" y="126075"/>
                  <a:pt x="151352" y="126075"/>
                  <a:pt x="145819" y="131609"/>
                </a:cubicBezTo>
                <a:lnTo>
                  <a:pt x="99160" y="178267"/>
                </a:lnTo>
                <a:lnTo>
                  <a:pt x="99160" y="14166"/>
                </a:lnTo>
                <a:cubicBezTo>
                  <a:pt x="99160" y="6330"/>
                  <a:pt x="92830" y="0"/>
                  <a:pt x="84995" y="0"/>
                </a:cubicBezTo>
                <a:cubicBezTo>
                  <a:pt x="77159" y="0"/>
                  <a:pt x="70829" y="6330"/>
                  <a:pt x="70829" y="14166"/>
                </a:cubicBezTo>
                <a:lnTo>
                  <a:pt x="70829" y="178267"/>
                </a:lnTo>
                <a:lnTo>
                  <a:pt x="24170" y="131609"/>
                </a:lnTo>
                <a:cubicBezTo>
                  <a:pt x="18637" y="126075"/>
                  <a:pt x="9650" y="126075"/>
                  <a:pt x="4117" y="131609"/>
                </a:cubicBezTo>
                <a:cubicBezTo>
                  <a:pt x="-1417" y="137142"/>
                  <a:pt x="-1417" y="146129"/>
                  <a:pt x="4117" y="151662"/>
                </a:cubicBezTo>
                <a:lnTo>
                  <a:pt x="74946" y="222491"/>
                </a:ln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55591" y="4910798"/>
            <a:ext cx="528855" cy="528855"/>
          </a:xfrm>
          <a:custGeom>
            <a:avLst/>
            <a:gdLst/>
            <a:ahLst/>
            <a:cxnLst/>
            <a:rect l="l" t="t" r="r" b="b"/>
            <a:pathLst>
              <a:path w="528855" h="528855">
                <a:moveTo>
                  <a:pt x="113328" y="0"/>
                </a:moveTo>
                <a:lnTo>
                  <a:pt x="415527" y="0"/>
                </a:lnTo>
                <a:cubicBezTo>
                  <a:pt x="478116" y="0"/>
                  <a:pt x="528855" y="50739"/>
                  <a:pt x="528855" y="113328"/>
                </a:cubicBezTo>
                <a:lnTo>
                  <a:pt x="528855" y="415527"/>
                </a:lnTo>
                <a:cubicBezTo>
                  <a:pt x="528855" y="478116"/>
                  <a:pt x="478116" y="528855"/>
                  <a:pt x="415527" y="528855"/>
                </a:cubicBezTo>
                <a:lnTo>
                  <a:pt x="113328" y="528855"/>
                </a:lnTo>
                <a:cubicBezTo>
                  <a:pt x="50739" y="528855"/>
                  <a:pt x="0" y="478116"/>
                  <a:pt x="0" y="415527"/>
                </a:cubicBezTo>
                <a:lnTo>
                  <a:pt x="0" y="113328"/>
                </a:lnTo>
                <a:cubicBezTo>
                  <a:pt x="0" y="50781"/>
                  <a:pt x="50781" y="0"/>
                  <a:pt x="113328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blurRad="56663" dist="377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220858" y="5061899"/>
            <a:ext cx="198321" cy="226652"/>
          </a:xfrm>
          <a:custGeom>
            <a:avLst/>
            <a:gdLst/>
            <a:ahLst/>
            <a:cxnLst/>
            <a:rect l="l" t="t" r="r" b="b"/>
            <a:pathLst>
              <a:path w="198321" h="226652">
                <a:moveTo>
                  <a:pt x="149980" y="-4383"/>
                </a:moveTo>
                <a:cubicBezTo>
                  <a:pt x="155248" y="-575"/>
                  <a:pt x="157196" y="6330"/>
                  <a:pt x="154805" y="12351"/>
                </a:cubicBezTo>
                <a:lnTo>
                  <a:pt x="120099" y="99160"/>
                </a:lnTo>
                <a:lnTo>
                  <a:pt x="184155" y="99160"/>
                </a:lnTo>
                <a:cubicBezTo>
                  <a:pt x="190131" y="99160"/>
                  <a:pt x="195443" y="102879"/>
                  <a:pt x="197480" y="108501"/>
                </a:cubicBezTo>
                <a:cubicBezTo>
                  <a:pt x="199516" y="114123"/>
                  <a:pt x="197789" y="120409"/>
                  <a:pt x="193230" y="124216"/>
                </a:cubicBezTo>
                <a:lnTo>
                  <a:pt x="65738" y="230459"/>
                </a:lnTo>
                <a:cubicBezTo>
                  <a:pt x="60736" y="234620"/>
                  <a:pt x="53609" y="234842"/>
                  <a:pt x="48341" y="231035"/>
                </a:cubicBezTo>
                <a:cubicBezTo>
                  <a:pt x="43073" y="227228"/>
                  <a:pt x="41125" y="220322"/>
                  <a:pt x="43515" y="214301"/>
                </a:cubicBezTo>
                <a:lnTo>
                  <a:pt x="78222" y="127492"/>
                </a:lnTo>
                <a:lnTo>
                  <a:pt x="14166" y="127492"/>
                </a:lnTo>
                <a:cubicBezTo>
                  <a:pt x="8190" y="127492"/>
                  <a:pt x="2877" y="123773"/>
                  <a:pt x="841" y="118151"/>
                </a:cubicBezTo>
                <a:cubicBezTo>
                  <a:pt x="-1195" y="112529"/>
                  <a:pt x="531" y="106243"/>
                  <a:pt x="5091" y="102436"/>
                </a:cubicBezTo>
                <a:lnTo>
                  <a:pt x="132583" y="-3807"/>
                </a:lnTo>
                <a:cubicBezTo>
                  <a:pt x="137585" y="-7968"/>
                  <a:pt x="144712" y="-8190"/>
                  <a:pt x="149980" y="-43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268405" y="4910798"/>
            <a:ext cx="5637974" cy="868833"/>
          </a:xfrm>
          <a:custGeom>
            <a:avLst/>
            <a:gdLst/>
            <a:ahLst/>
            <a:cxnLst/>
            <a:rect l="l" t="t" r="r" b="b"/>
            <a:pathLst>
              <a:path w="5637974" h="868833">
                <a:moveTo>
                  <a:pt x="113322" y="0"/>
                </a:moveTo>
                <a:lnTo>
                  <a:pt x="5524652" y="0"/>
                </a:lnTo>
                <a:cubicBezTo>
                  <a:pt x="5587238" y="0"/>
                  <a:pt x="5637974" y="50736"/>
                  <a:pt x="5637974" y="113322"/>
                </a:cubicBezTo>
                <a:lnTo>
                  <a:pt x="5637974" y="755512"/>
                </a:lnTo>
                <a:cubicBezTo>
                  <a:pt x="5637974" y="818097"/>
                  <a:pt x="5587238" y="868833"/>
                  <a:pt x="5524652" y="868833"/>
                </a:cubicBezTo>
                <a:lnTo>
                  <a:pt x="113322" y="868833"/>
                </a:lnTo>
                <a:cubicBezTo>
                  <a:pt x="50736" y="868833"/>
                  <a:pt x="0" y="818097"/>
                  <a:pt x="0" y="755512"/>
                </a:cubicBezTo>
                <a:lnTo>
                  <a:pt x="0" y="113322"/>
                </a:lnTo>
                <a:cubicBezTo>
                  <a:pt x="0" y="50736"/>
                  <a:pt x="50736" y="0"/>
                  <a:pt x="11332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5419506" y="5061899"/>
            <a:ext cx="5430209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487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اقدام (Action)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19506" y="5401878"/>
            <a:ext cx="5411321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19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در نهایت اقدام می‌کند و تصمیم نهایی را اعلام می‌کند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7754" y="1359913"/>
            <a:ext cx="4438606" cy="3135356"/>
          </a:xfrm>
          <a:custGeom>
            <a:avLst/>
            <a:gdLst/>
            <a:ahLst/>
            <a:cxnLst/>
            <a:rect l="l" t="t" r="r" b="b"/>
            <a:pathLst>
              <a:path w="4438606" h="3135356">
                <a:moveTo>
                  <a:pt x="151093" y="0"/>
                </a:moveTo>
                <a:lnTo>
                  <a:pt x="4287513" y="0"/>
                </a:lnTo>
                <a:cubicBezTo>
                  <a:pt x="4370959" y="0"/>
                  <a:pt x="4438606" y="67647"/>
                  <a:pt x="4438606" y="151093"/>
                </a:cubicBezTo>
                <a:lnTo>
                  <a:pt x="4438606" y="2984263"/>
                </a:lnTo>
                <a:cubicBezTo>
                  <a:pt x="4438606" y="3067709"/>
                  <a:pt x="4370959" y="3135356"/>
                  <a:pt x="4287513" y="3135356"/>
                </a:cubicBezTo>
                <a:lnTo>
                  <a:pt x="151093" y="3135356"/>
                </a:lnTo>
                <a:cubicBezTo>
                  <a:pt x="67647" y="3135356"/>
                  <a:pt x="0" y="3067709"/>
                  <a:pt x="0" y="2984263"/>
                </a:cubicBezTo>
                <a:lnTo>
                  <a:pt x="0" y="151093"/>
                </a:lnTo>
                <a:cubicBezTo>
                  <a:pt x="0" y="67702"/>
                  <a:pt x="67702" y="0"/>
                  <a:pt x="1510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1658" dist="944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4406" y="1586565"/>
            <a:ext cx="3984041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785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چرخه حیات تصمیم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286245" y="2039870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75551" y="0"/>
                </a:moveTo>
                <a:lnTo>
                  <a:pt x="226652" y="0"/>
                </a:lnTo>
                <a:cubicBezTo>
                  <a:pt x="268350" y="0"/>
                  <a:pt x="302203" y="33853"/>
                  <a:pt x="302203" y="75551"/>
                </a:cubicBezTo>
                <a:lnTo>
                  <a:pt x="302203" y="226652"/>
                </a:lnTo>
                <a:cubicBezTo>
                  <a:pt x="302203" y="268350"/>
                  <a:pt x="268350" y="302203"/>
                  <a:pt x="226652" y="302203"/>
                </a:cubicBezTo>
                <a:lnTo>
                  <a:pt x="75551" y="302203"/>
                </a:lnTo>
                <a:cubicBezTo>
                  <a:pt x="33853" y="302203"/>
                  <a:pt x="0" y="268350"/>
                  <a:pt x="0" y="226652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28" name="Text 26"/>
          <p:cNvSpPr/>
          <p:nvPr/>
        </p:nvSpPr>
        <p:spPr>
          <a:xfrm>
            <a:off x="4253192" y="2039870"/>
            <a:ext cx="368310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۱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346008" y="2077645"/>
            <a:ext cx="1850520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19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دریافت داده‌های عددی از جاوا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286245" y="2455399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75551" y="0"/>
                </a:moveTo>
                <a:lnTo>
                  <a:pt x="226652" y="0"/>
                </a:lnTo>
                <a:cubicBezTo>
                  <a:pt x="268350" y="0"/>
                  <a:pt x="302203" y="33853"/>
                  <a:pt x="302203" y="75551"/>
                </a:cubicBezTo>
                <a:lnTo>
                  <a:pt x="302203" y="226652"/>
                </a:lnTo>
                <a:cubicBezTo>
                  <a:pt x="302203" y="268350"/>
                  <a:pt x="268350" y="302203"/>
                  <a:pt x="226652" y="302203"/>
                </a:cubicBezTo>
                <a:lnTo>
                  <a:pt x="75551" y="302203"/>
                </a:lnTo>
                <a:cubicBezTo>
                  <a:pt x="33853" y="302203"/>
                  <a:pt x="0" y="268350"/>
                  <a:pt x="0" y="226652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31" name="Text 29"/>
          <p:cNvSpPr/>
          <p:nvPr/>
        </p:nvSpPr>
        <p:spPr>
          <a:xfrm>
            <a:off x="4253192" y="2455399"/>
            <a:ext cx="368310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۲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893594" y="2493174"/>
            <a:ext cx="1317100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19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تبدیل به زبان طبیعی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286245" y="2870928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75551" y="0"/>
                </a:moveTo>
                <a:lnTo>
                  <a:pt x="226652" y="0"/>
                </a:lnTo>
                <a:cubicBezTo>
                  <a:pt x="268350" y="0"/>
                  <a:pt x="302203" y="33853"/>
                  <a:pt x="302203" y="75551"/>
                </a:cubicBezTo>
                <a:lnTo>
                  <a:pt x="302203" y="226652"/>
                </a:lnTo>
                <a:cubicBezTo>
                  <a:pt x="302203" y="268350"/>
                  <a:pt x="268350" y="302203"/>
                  <a:pt x="226652" y="302203"/>
                </a:cubicBezTo>
                <a:lnTo>
                  <a:pt x="75551" y="302203"/>
                </a:lnTo>
                <a:cubicBezTo>
                  <a:pt x="33853" y="302203"/>
                  <a:pt x="0" y="268350"/>
                  <a:pt x="0" y="226652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4253192" y="2870928"/>
            <a:ext cx="368310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۳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065156" y="2908703"/>
            <a:ext cx="1131372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19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تحلیل توسط LLM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286245" y="3286457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75551" y="0"/>
                </a:moveTo>
                <a:lnTo>
                  <a:pt x="226652" y="0"/>
                </a:lnTo>
                <a:cubicBezTo>
                  <a:pt x="268350" y="0"/>
                  <a:pt x="302203" y="33853"/>
                  <a:pt x="302203" y="75551"/>
                </a:cubicBezTo>
                <a:lnTo>
                  <a:pt x="302203" y="226652"/>
                </a:lnTo>
                <a:cubicBezTo>
                  <a:pt x="302203" y="268350"/>
                  <a:pt x="268350" y="302203"/>
                  <a:pt x="226652" y="302203"/>
                </a:cubicBezTo>
                <a:lnTo>
                  <a:pt x="75551" y="302203"/>
                </a:lnTo>
                <a:cubicBezTo>
                  <a:pt x="33853" y="302203"/>
                  <a:pt x="0" y="268350"/>
                  <a:pt x="0" y="226652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7" name="Text 35"/>
          <p:cNvSpPr/>
          <p:nvPr/>
        </p:nvSpPr>
        <p:spPr>
          <a:xfrm>
            <a:off x="4253192" y="3286457"/>
            <a:ext cx="368310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۴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849051" y="3362006"/>
            <a:ext cx="1347478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19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استخراج دستور عددی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77754" y="4684146"/>
            <a:ext cx="4438606" cy="1322138"/>
          </a:xfrm>
          <a:custGeom>
            <a:avLst/>
            <a:gdLst/>
            <a:ahLst/>
            <a:cxnLst/>
            <a:rect l="l" t="t" r="r" b="b"/>
            <a:pathLst>
              <a:path w="4438606" h="1322138">
                <a:moveTo>
                  <a:pt x="151107" y="0"/>
                </a:moveTo>
                <a:lnTo>
                  <a:pt x="4287499" y="0"/>
                </a:lnTo>
                <a:cubicBezTo>
                  <a:pt x="4370953" y="0"/>
                  <a:pt x="4438606" y="67653"/>
                  <a:pt x="4438606" y="151107"/>
                </a:cubicBezTo>
                <a:lnTo>
                  <a:pt x="4438606" y="1171031"/>
                </a:lnTo>
                <a:cubicBezTo>
                  <a:pt x="4438606" y="1254485"/>
                  <a:pt x="4370953" y="1322138"/>
                  <a:pt x="4287499" y="1322138"/>
                </a:cubicBezTo>
                <a:lnTo>
                  <a:pt x="151107" y="1322138"/>
                </a:lnTo>
                <a:cubicBezTo>
                  <a:pt x="67653" y="1322138"/>
                  <a:pt x="0" y="1254485"/>
                  <a:pt x="0" y="1171031"/>
                </a:cubicBezTo>
                <a:lnTo>
                  <a:pt x="0" y="151107"/>
                </a:lnTo>
                <a:cubicBezTo>
                  <a:pt x="0" y="67709"/>
                  <a:pt x="67709" y="0"/>
                  <a:pt x="151107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B6B"/>
              </a:gs>
              <a:gs pos="100000">
                <a:srgbClr val="FF6B6B">
                  <a:alpha val="80000"/>
                </a:srgbClr>
              </a:gs>
            </a:gsLst>
            <a:lin ang="2700000" scaled="1"/>
          </a:gradFill>
          <a:ln/>
          <a:effectLst>
            <a:outerShdw blurRad="141658" dist="944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61796" y="4929686"/>
            <a:ext cx="169989" cy="226652"/>
          </a:xfrm>
          <a:custGeom>
            <a:avLst/>
            <a:gdLst/>
            <a:ahLst/>
            <a:cxnLst/>
            <a:rect l="l" t="t" r="r" b="b"/>
            <a:pathLst>
              <a:path w="169989" h="226652">
                <a:moveTo>
                  <a:pt x="129661" y="169989"/>
                </a:moveTo>
                <a:cubicBezTo>
                  <a:pt x="132893" y="160117"/>
                  <a:pt x="139356" y="151175"/>
                  <a:pt x="146660" y="143473"/>
                </a:cubicBezTo>
                <a:cubicBezTo>
                  <a:pt x="161136" y="128244"/>
                  <a:pt x="169989" y="107660"/>
                  <a:pt x="169989" y="84995"/>
                </a:cubicBezTo>
                <a:cubicBezTo>
                  <a:pt x="169989" y="38070"/>
                  <a:pt x="131919" y="0"/>
                  <a:pt x="84995" y="0"/>
                </a:cubicBezTo>
                <a:cubicBezTo>
                  <a:pt x="38070" y="0"/>
                  <a:pt x="0" y="38070"/>
                  <a:pt x="0" y="84995"/>
                </a:cubicBezTo>
                <a:cubicBezTo>
                  <a:pt x="0" y="107660"/>
                  <a:pt x="8854" y="128244"/>
                  <a:pt x="23329" y="143473"/>
                </a:cubicBezTo>
                <a:cubicBezTo>
                  <a:pt x="30633" y="151175"/>
                  <a:pt x="37141" y="160117"/>
                  <a:pt x="40328" y="169989"/>
                </a:cubicBezTo>
                <a:lnTo>
                  <a:pt x="129617" y="169989"/>
                </a:lnTo>
                <a:close/>
                <a:moveTo>
                  <a:pt x="127492" y="191238"/>
                </a:moveTo>
                <a:lnTo>
                  <a:pt x="42497" y="191238"/>
                </a:lnTo>
                <a:lnTo>
                  <a:pt x="42497" y="198321"/>
                </a:lnTo>
                <a:cubicBezTo>
                  <a:pt x="42497" y="217887"/>
                  <a:pt x="58345" y="233735"/>
                  <a:pt x="77912" y="233735"/>
                </a:cubicBezTo>
                <a:lnTo>
                  <a:pt x="92077" y="233735"/>
                </a:lnTo>
                <a:cubicBezTo>
                  <a:pt x="111644" y="233735"/>
                  <a:pt x="127492" y="217887"/>
                  <a:pt x="127492" y="198321"/>
                </a:cubicBezTo>
                <a:lnTo>
                  <a:pt x="127492" y="191238"/>
                </a:lnTo>
                <a:close/>
                <a:moveTo>
                  <a:pt x="81453" y="49580"/>
                </a:moveTo>
                <a:cubicBezTo>
                  <a:pt x="63834" y="49580"/>
                  <a:pt x="49580" y="63834"/>
                  <a:pt x="49580" y="81453"/>
                </a:cubicBezTo>
                <a:cubicBezTo>
                  <a:pt x="49580" y="87341"/>
                  <a:pt x="44843" y="92077"/>
                  <a:pt x="38956" y="92077"/>
                </a:cubicBezTo>
                <a:cubicBezTo>
                  <a:pt x="33068" y="92077"/>
                  <a:pt x="28332" y="87341"/>
                  <a:pt x="28332" y="81453"/>
                </a:cubicBezTo>
                <a:cubicBezTo>
                  <a:pt x="28332" y="52103"/>
                  <a:pt x="52103" y="28332"/>
                  <a:pt x="81453" y="28332"/>
                </a:cubicBezTo>
                <a:cubicBezTo>
                  <a:pt x="87341" y="28332"/>
                  <a:pt x="92077" y="33068"/>
                  <a:pt x="92077" y="38956"/>
                </a:cubicBezTo>
                <a:cubicBezTo>
                  <a:pt x="92077" y="44843"/>
                  <a:pt x="87341" y="49580"/>
                  <a:pt x="81453" y="4958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031001" y="4910798"/>
            <a:ext cx="1256031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487" b="1" dirty="0">
                <a:solidFill>
                  <a:srgbClr val="FFFFFF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اهمیت استدلال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04406" y="5288552"/>
            <a:ext cx="4060852" cy="491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19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طبق مقاله، اجبار مدل </a:t>
            </a:r>
            <a:r>
              <a:rPr lang="en-US" sz="119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به</a:t>
            </a:r>
            <a:r>
              <a:rPr lang="en-US" sz="119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90" b="1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نوشتن</a:t>
            </a:r>
            <a:r>
              <a:rPr lang="en-US" sz="119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90" b="1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دلیل</a:t>
            </a:r>
            <a:r>
              <a:rPr lang="en-US" sz="119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9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قبل</a:t>
            </a:r>
            <a:r>
              <a:rPr lang="en-US" sz="119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9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از</a:t>
            </a:r>
            <a:r>
              <a:rPr lang="fa-IR" sz="119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90" b="1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اعلام</a:t>
            </a:r>
            <a:r>
              <a:rPr lang="en-US" sz="119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90" b="1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عدد</a:t>
            </a:r>
            <a:r>
              <a:rPr lang="en-US" sz="119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90" b="1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مالیات</a:t>
            </a:r>
            <a:r>
              <a:rPr lang="en-US" sz="119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، دقت تصمیم‌گیری را به شدت افزایش می‌دهد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77754" y="6134719"/>
            <a:ext cx="11425160" cy="649736"/>
          </a:xfrm>
          <a:custGeom>
            <a:avLst/>
            <a:gdLst/>
            <a:ahLst/>
            <a:cxnLst/>
            <a:rect l="l" t="t" r="r" b="b"/>
            <a:pathLst>
              <a:path w="11425160" h="649736">
                <a:moveTo>
                  <a:pt x="113327" y="0"/>
                </a:moveTo>
                <a:lnTo>
                  <a:pt x="11311833" y="0"/>
                </a:lnTo>
                <a:cubicBezTo>
                  <a:pt x="11374422" y="0"/>
                  <a:pt x="11425160" y="50738"/>
                  <a:pt x="11425160" y="113327"/>
                </a:cubicBezTo>
                <a:lnTo>
                  <a:pt x="11425160" y="536409"/>
                </a:lnTo>
                <a:cubicBezTo>
                  <a:pt x="11425160" y="598998"/>
                  <a:pt x="11374422" y="649736"/>
                  <a:pt x="11311833" y="649736"/>
                </a:cubicBezTo>
                <a:lnTo>
                  <a:pt x="113327" y="649736"/>
                </a:lnTo>
                <a:cubicBezTo>
                  <a:pt x="50738" y="649736"/>
                  <a:pt x="0" y="598998"/>
                  <a:pt x="0" y="536409"/>
                </a:cubicBezTo>
                <a:lnTo>
                  <a:pt x="0" y="113327"/>
                </a:lnTo>
                <a:cubicBezTo>
                  <a:pt x="0" y="50738"/>
                  <a:pt x="50738" y="0"/>
                  <a:pt x="113327" y="0"/>
                </a:cubicBezTo>
                <a:close/>
              </a:path>
            </a:pathLst>
          </a:custGeom>
          <a:solidFill>
            <a:srgbClr val="1A535C">
              <a:alpha val="5098"/>
            </a:srgbClr>
          </a:solidFill>
          <a:ln w="10160">
            <a:solidFill>
              <a:srgbClr val="1A535C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355906" y="6346261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28332" y="28332"/>
                </a:moveTo>
                <a:cubicBezTo>
                  <a:pt x="28332" y="20496"/>
                  <a:pt x="22001" y="14166"/>
                  <a:pt x="14166" y="14166"/>
                </a:cubicBezTo>
                <a:cubicBezTo>
                  <a:pt x="6330" y="14166"/>
                  <a:pt x="0" y="20496"/>
                  <a:pt x="0" y="28332"/>
                </a:cubicBezTo>
                <a:lnTo>
                  <a:pt x="0" y="177072"/>
                </a:lnTo>
                <a:cubicBezTo>
                  <a:pt x="0" y="196638"/>
                  <a:pt x="15848" y="212486"/>
                  <a:pt x="35414" y="212486"/>
                </a:cubicBezTo>
                <a:lnTo>
                  <a:pt x="212486" y="212486"/>
                </a:lnTo>
                <a:cubicBezTo>
                  <a:pt x="220322" y="212486"/>
                  <a:pt x="226652" y="206156"/>
                  <a:pt x="226652" y="198321"/>
                </a:cubicBezTo>
                <a:cubicBezTo>
                  <a:pt x="226652" y="190485"/>
                  <a:pt x="220322" y="184155"/>
                  <a:pt x="212486" y="184155"/>
                </a:cubicBezTo>
                <a:lnTo>
                  <a:pt x="35414" y="184155"/>
                </a:lnTo>
                <a:cubicBezTo>
                  <a:pt x="31519" y="184155"/>
                  <a:pt x="28332" y="180968"/>
                  <a:pt x="28332" y="177072"/>
                </a:cubicBezTo>
                <a:lnTo>
                  <a:pt x="28332" y="28332"/>
                </a:lnTo>
                <a:close/>
                <a:moveTo>
                  <a:pt x="208325" y="66668"/>
                </a:moveTo>
                <a:cubicBezTo>
                  <a:pt x="213859" y="61134"/>
                  <a:pt x="213859" y="52148"/>
                  <a:pt x="208325" y="46614"/>
                </a:cubicBezTo>
                <a:cubicBezTo>
                  <a:pt x="202792" y="41081"/>
                  <a:pt x="193805" y="41081"/>
                  <a:pt x="188272" y="46614"/>
                </a:cubicBezTo>
                <a:lnTo>
                  <a:pt x="141658" y="93273"/>
                </a:lnTo>
                <a:lnTo>
                  <a:pt x="116248" y="67907"/>
                </a:lnTo>
                <a:cubicBezTo>
                  <a:pt x="110714" y="62374"/>
                  <a:pt x="101728" y="62374"/>
                  <a:pt x="96194" y="67907"/>
                </a:cubicBezTo>
                <a:lnTo>
                  <a:pt x="53697" y="110404"/>
                </a:lnTo>
                <a:cubicBezTo>
                  <a:pt x="48164" y="115938"/>
                  <a:pt x="48164" y="124924"/>
                  <a:pt x="53697" y="130458"/>
                </a:cubicBezTo>
                <a:cubicBezTo>
                  <a:pt x="59231" y="135991"/>
                  <a:pt x="68217" y="135991"/>
                  <a:pt x="73751" y="130458"/>
                </a:cubicBezTo>
                <a:lnTo>
                  <a:pt x="106243" y="97965"/>
                </a:lnTo>
                <a:lnTo>
                  <a:pt x="131653" y="123375"/>
                </a:lnTo>
                <a:cubicBezTo>
                  <a:pt x="137187" y="128908"/>
                  <a:pt x="146173" y="128908"/>
                  <a:pt x="151706" y="123375"/>
                </a:cubicBezTo>
                <a:lnTo>
                  <a:pt x="208370" y="66712"/>
                </a:ln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45" name="Text 43"/>
          <p:cNvSpPr/>
          <p:nvPr/>
        </p:nvSpPr>
        <p:spPr>
          <a:xfrm>
            <a:off x="2129902" y="6327374"/>
            <a:ext cx="9132195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339" b="1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یافته کلیدی:</a:t>
            </a:r>
            <a:r>
              <a:rPr lang="en-US" sz="1339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ترتیب خروجی اهمیت دارد! وقتی عامل ابتدا استدلال کند و سپس عمل کند، عملکرد بهتری نسبت به حالت معکوس دارد.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600" y="495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1A535C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415713" y="647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339081" y="381000"/>
            <a:ext cx="58716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80000"/>
              </a:lnSpc>
            </a:pPr>
            <a:r>
              <a:rPr lang="en-US" sz="36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نوآوری‌ها و بهبودهای اختصاصی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39080" y="876300"/>
            <a:ext cx="587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50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My Contribution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191250" y="1371600"/>
            <a:ext cx="5600700" cy="2047875"/>
          </a:xfrm>
          <a:custGeom>
            <a:avLst/>
            <a:gdLst/>
            <a:ahLst/>
            <a:cxnLst/>
            <a:rect l="l" t="t" r="r" b="b"/>
            <a:pathLst>
              <a:path w="5600700" h="2047875">
                <a:moveTo>
                  <a:pt x="152403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2009775"/>
                </a:lnTo>
                <a:cubicBezTo>
                  <a:pt x="5600700" y="2030803"/>
                  <a:pt x="5583628" y="2047875"/>
                  <a:pt x="5562600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791950" y="1371600"/>
            <a:ext cx="38100" cy="2047875"/>
          </a:xfrm>
          <a:custGeom>
            <a:avLst/>
            <a:gdLst/>
            <a:ahLst/>
            <a:cxnLst/>
            <a:rect l="l" t="t" r="r" b="b"/>
            <a:pathLst>
              <a:path w="38100" h="2047875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2009775"/>
                </a:lnTo>
                <a:cubicBezTo>
                  <a:pt x="38100" y="2030803"/>
                  <a:pt x="21028" y="2047875"/>
                  <a:pt x="0" y="2047875"/>
                </a:cubicBez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09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15675" y="17145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۱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19850" y="1600200"/>
            <a:ext cx="452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پشتیبانی از Multi-LLM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19850" y="2019300"/>
            <a:ext cx="45243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اضافه کردن قابلیت استفاده از </a:t>
            </a:r>
            <a:r>
              <a:rPr lang="en-US" sz="1350" b="1" dirty="0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Google Gemini</a:t>
            </a:r>
            <a:r>
              <a:rPr lang="fa-IR" sz="1350" b="1" dirty="0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در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کنار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GPT</a:t>
            </a:r>
            <a:r>
              <a:rPr lang="fa-IR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برای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مقایسه عملکرد و کاهش هزینه‌ها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19850" y="2728913"/>
            <a:ext cx="4438650" cy="457200"/>
          </a:xfrm>
          <a:custGeom>
            <a:avLst/>
            <a:gdLst/>
            <a:ahLst/>
            <a:cxnLst/>
            <a:rect l="l" t="t" r="r" b="b"/>
            <a:pathLst>
              <a:path w="4438650" h="457200">
                <a:moveTo>
                  <a:pt x="76202" y="0"/>
                </a:moveTo>
                <a:lnTo>
                  <a:pt x="4362448" y="0"/>
                </a:lnTo>
                <a:cubicBezTo>
                  <a:pt x="4404533" y="0"/>
                  <a:pt x="4438650" y="34117"/>
                  <a:pt x="4438650" y="76202"/>
                </a:cubicBezTo>
                <a:lnTo>
                  <a:pt x="4438650" y="380998"/>
                </a:lnTo>
                <a:cubicBezTo>
                  <a:pt x="4438650" y="423083"/>
                  <a:pt x="4404533" y="457200"/>
                  <a:pt x="4362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06075" y="286226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620442" y="2843213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Gemini + GPT Integration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1000" y="1371600"/>
            <a:ext cx="5600700" cy="2047875"/>
          </a:xfrm>
          <a:custGeom>
            <a:avLst/>
            <a:gdLst/>
            <a:ahLst/>
            <a:cxnLst/>
            <a:rect l="l" t="t" r="r" b="b"/>
            <a:pathLst>
              <a:path w="5600700" h="2047875">
                <a:moveTo>
                  <a:pt x="152403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2009775"/>
                </a:lnTo>
                <a:cubicBezTo>
                  <a:pt x="5600700" y="2030803"/>
                  <a:pt x="5583628" y="2047875"/>
                  <a:pt x="5562600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1700" y="1371600"/>
            <a:ext cx="38100" cy="2047875"/>
          </a:xfrm>
          <a:custGeom>
            <a:avLst/>
            <a:gdLst/>
            <a:ahLst/>
            <a:cxnLst/>
            <a:rect l="l" t="t" r="r" b="b"/>
            <a:pathLst>
              <a:path w="38100" h="2047875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2009775"/>
                </a:lnTo>
                <a:cubicBezTo>
                  <a:pt x="38100" y="2030803"/>
                  <a:pt x="21028" y="2047875"/>
                  <a:pt x="0" y="2047875"/>
                </a:cubicBez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17" name="Shape 15"/>
          <p:cNvSpPr/>
          <p:nvPr/>
        </p:nvSpPr>
        <p:spPr>
          <a:xfrm>
            <a:off x="520065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7C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10200" y="171450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۲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9600" y="1600200"/>
            <a:ext cx="452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سیستم مانیتورینگ اختصاصی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9600" y="2019300"/>
            <a:ext cx="45243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طراحی و پیاده‌سازی </a:t>
            </a:r>
            <a:r>
              <a:rPr lang="en-US" sz="1350" b="1" dirty="0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CSV Logger </a:t>
            </a:r>
            <a:r>
              <a:rPr lang="fa-IR" sz="1350" b="1" dirty="0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برای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ثبت لحظه‌ای استدلال‌ها و تصمیمات جهت تحلیل‌های آماری بعدی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2728913"/>
            <a:ext cx="4438650" cy="457200"/>
          </a:xfrm>
          <a:custGeom>
            <a:avLst/>
            <a:gdLst/>
            <a:ahLst/>
            <a:cxnLst/>
            <a:rect l="l" t="t" r="r" b="b"/>
            <a:pathLst>
              <a:path w="4438650" h="457200">
                <a:moveTo>
                  <a:pt x="76202" y="0"/>
                </a:moveTo>
                <a:lnTo>
                  <a:pt x="4362448" y="0"/>
                </a:lnTo>
                <a:cubicBezTo>
                  <a:pt x="4404533" y="0"/>
                  <a:pt x="4438650" y="34117"/>
                  <a:pt x="4438650" y="76202"/>
                </a:cubicBezTo>
                <a:lnTo>
                  <a:pt x="4438650" y="380998"/>
                </a:lnTo>
                <a:cubicBezTo>
                  <a:pt x="4438650" y="423083"/>
                  <a:pt x="4404533" y="457200"/>
                  <a:pt x="4362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7731" y="286226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0"/>
                </a:moveTo>
                <a:cubicBezTo>
                  <a:pt x="22585" y="0"/>
                  <a:pt x="11906" y="10678"/>
                  <a:pt x="11906" y="23812"/>
                </a:cubicBezTo>
                <a:lnTo>
                  <a:pt x="11906" y="166688"/>
                </a:lnTo>
                <a:cubicBezTo>
                  <a:pt x="11906" y="179822"/>
                  <a:pt x="22585" y="190500"/>
                  <a:pt x="35719" y="190500"/>
                </a:cubicBezTo>
                <a:lnTo>
                  <a:pt x="65484" y="190500"/>
                </a:lnTo>
                <a:lnTo>
                  <a:pt x="65484" y="148828"/>
                </a:lnTo>
                <a:cubicBezTo>
                  <a:pt x="65484" y="135694"/>
                  <a:pt x="76163" y="125016"/>
                  <a:pt x="89297" y="125016"/>
                </a:cubicBezTo>
                <a:lnTo>
                  <a:pt x="154781" y="125016"/>
                </a:lnTo>
                <a:lnTo>
                  <a:pt x="154781" y="63438"/>
                </a:lnTo>
                <a:cubicBezTo>
                  <a:pt x="154781" y="57113"/>
                  <a:pt x="152288" y="51048"/>
                  <a:pt x="147824" y="46583"/>
                </a:cubicBezTo>
                <a:lnTo>
                  <a:pt x="108161" y="6958"/>
                </a:lnTo>
                <a:cubicBezTo>
                  <a:pt x="103696" y="2493"/>
                  <a:pt x="97668" y="0"/>
                  <a:pt x="91343" y="0"/>
                </a:cubicBezTo>
                <a:lnTo>
                  <a:pt x="35719" y="0"/>
                </a:lnTo>
                <a:close/>
                <a:moveTo>
                  <a:pt x="133015" y="65484"/>
                </a:moveTo>
                <a:lnTo>
                  <a:pt x="98227" y="65484"/>
                </a:lnTo>
                <a:cubicBezTo>
                  <a:pt x="93278" y="65484"/>
                  <a:pt x="89297" y="61503"/>
                  <a:pt x="89297" y="56555"/>
                </a:cubicBezTo>
                <a:lnTo>
                  <a:pt x="89297" y="21766"/>
                </a:lnTo>
                <a:lnTo>
                  <a:pt x="133015" y="65484"/>
                </a:lnTo>
                <a:close/>
                <a:moveTo>
                  <a:pt x="98227" y="141387"/>
                </a:moveTo>
                <a:cubicBezTo>
                  <a:pt x="89185" y="141387"/>
                  <a:pt x="81855" y="148717"/>
                  <a:pt x="81855" y="157758"/>
                </a:cubicBezTo>
                <a:lnTo>
                  <a:pt x="81855" y="187523"/>
                </a:lnTo>
                <a:cubicBezTo>
                  <a:pt x="81855" y="196565"/>
                  <a:pt x="89185" y="203895"/>
                  <a:pt x="98227" y="203895"/>
                </a:cubicBezTo>
                <a:lnTo>
                  <a:pt x="104180" y="203895"/>
                </a:lnTo>
                <a:cubicBezTo>
                  <a:pt x="113221" y="203895"/>
                  <a:pt x="120551" y="196565"/>
                  <a:pt x="120551" y="187523"/>
                </a:cubicBezTo>
                <a:lnTo>
                  <a:pt x="120551" y="184547"/>
                </a:lnTo>
                <a:cubicBezTo>
                  <a:pt x="120551" y="180454"/>
                  <a:pt x="117202" y="177105"/>
                  <a:pt x="113109" y="177105"/>
                </a:cubicBezTo>
                <a:cubicBezTo>
                  <a:pt x="109017" y="177105"/>
                  <a:pt x="105668" y="180454"/>
                  <a:pt x="105668" y="184547"/>
                </a:cubicBezTo>
                <a:lnTo>
                  <a:pt x="105668" y="187523"/>
                </a:lnTo>
                <a:cubicBezTo>
                  <a:pt x="105668" y="188342"/>
                  <a:pt x="104998" y="189012"/>
                  <a:pt x="104180" y="189012"/>
                </a:cubicBezTo>
                <a:lnTo>
                  <a:pt x="98227" y="189012"/>
                </a:lnTo>
                <a:cubicBezTo>
                  <a:pt x="97408" y="189012"/>
                  <a:pt x="96738" y="188342"/>
                  <a:pt x="96738" y="187523"/>
                </a:cubicBezTo>
                <a:lnTo>
                  <a:pt x="96738" y="157758"/>
                </a:lnTo>
                <a:cubicBezTo>
                  <a:pt x="96738" y="156939"/>
                  <a:pt x="97408" y="156270"/>
                  <a:pt x="98227" y="156270"/>
                </a:cubicBezTo>
                <a:lnTo>
                  <a:pt x="104180" y="156270"/>
                </a:lnTo>
                <a:cubicBezTo>
                  <a:pt x="104998" y="156270"/>
                  <a:pt x="105668" y="156939"/>
                  <a:pt x="105668" y="157758"/>
                </a:cubicBezTo>
                <a:lnTo>
                  <a:pt x="105668" y="160734"/>
                </a:lnTo>
                <a:cubicBezTo>
                  <a:pt x="105668" y="164827"/>
                  <a:pt x="109017" y="168176"/>
                  <a:pt x="113109" y="168176"/>
                </a:cubicBezTo>
                <a:cubicBezTo>
                  <a:pt x="117202" y="168176"/>
                  <a:pt x="120551" y="164827"/>
                  <a:pt x="120551" y="160734"/>
                </a:cubicBezTo>
                <a:lnTo>
                  <a:pt x="120551" y="157758"/>
                </a:lnTo>
                <a:cubicBezTo>
                  <a:pt x="120551" y="148717"/>
                  <a:pt x="113221" y="141387"/>
                  <a:pt x="104180" y="141387"/>
                </a:cubicBezTo>
                <a:lnTo>
                  <a:pt x="98227" y="141387"/>
                </a:lnTo>
                <a:close/>
                <a:moveTo>
                  <a:pt x="148828" y="141387"/>
                </a:moveTo>
                <a:cubicBezTo>
                  <a:pt x="138150" y="141387"/>
                  <a:pt x="129480" y="150056"/>
                  <a:pt x="129480" y="160734"/>
                </a:cubicBezTo>
                <a:cubicBezTo>
                  <a:pt x="129480" y="171413"/>
                  <a:pt x="138150" y="180082"/>
                  <a:pt x="148828" y="180082"/>
                </a:cubicBezTo>
                <a:cubicBezTo>
                  <a:pt x="151284" y="180082"/>
                  <a:pt x="153293" y="182091"/>
                  <a:pt x="153293" y="184547"/>
                </a:cubicBezTo>
                <a:cubicBezTo>
                  <a:pt x="153293" y="187003"/>
                  <a:pt x="151284" y="189012"/>
                  <a:pt x="148828" y="189012"/>
                </a:cubicBezTo>
                <a:lnTo>
                  <a:pt x="136922" y="189012"/>
                </a:lnTo>
                <a:cubicBezTo>
                  <a:pt x="132829" y="189012"/>
                  <a:pt x="129480" y="192360"/>
                  <a:pt x="129480" y="196453"/>
                </a:cubicBezTo>
                <a:cubicBezTo>
                  <a:pt x="129480" y="200546"/>
                  <a:pt x="132829" y="203895"/>
                  <a:pt x="136922" y="203895"/>
                </a:cubicBezTo>
                <a:lnTo>
                  <a:pt x="148828" y="203895"/>
                </a:lnTo>
                <a:cubicBezTo>
                  <a:pt x="159507" y="203895"/>
                  <a:pt x="168176" y="195225"/>
                  <a:pt x="168176" y="184547"/>
                </a:cubicBezTo>
                <a:cubicBezTo>
                  <a:pt x="168176" y="173868"/>
                  <a:pt x="159507" y="165199"/>
                  <a:pt x="148828" y="165199"/>
                </a:cubicBezTo>
                <a:cubicBezTo>
                  <a:pt x="146372" y="165199"/>
                  <a:pt x="144363" y="163190"/>
                  <a:pt x="144363" y="160734"/>
                </a:cubicBezTo>
                <a:cubicBezTo>
                  <a:pt x="144363" y="158279"/>
                  <a:pt x="146372" y="156270"/>
                  <a:pt x="148828" y="156270"/>
                </a:cubicBezTo>
                <a:lnTo>
                  <a:pt x="157758" y="156270"/>
                </a:lnTo>
                <a:cubicBezTo>
                  <a:pt x="161851" y="156270"/>
                  <a:pt x="165199" y="152921"/>
                  <a:pt x="165199" y="148828"/>
                </a:cubicBezTo>
                <a:cubicBezTo>
                  <a:pt x="165199" y="144735"/>
                  <a:pt x="161851" y="141387"/>
                  <a:pt x="157758" y="141387"/>
                </a:cubicBezTo>
                <a:lnTo>
                  <a:pt x="148828" y="141387"/>
                </a:lnTo>
                <a:close/>
                <a:moveTo>
                  <a:pt x="184547" y="141387"/>
                </a:moveTo>
                <a:cubicBezTo>
                  <a:pt x="180454" y="141387"/>
                  <a:pt x="177105" y="144735"/>
                  <a:pt x="177105" y="148828"/>
                </a:cubicBezTo>
                <a:lnTo>
                  <a:pt x="177105" y="160586"/>
                </a:lnTo>
                <a:cubicBezTo>
                  <a:pt x="177105" y="173794"/>
                  <a:pt x="181012" y="186742"/>
                  <a:pt x="188342" y="197718"/>
                </a:cubicBezTo>
                <a:lnTo>
                  <a:pt x="190240" y="200583"/>
                </a:lnTo>
                <a:cubicBezTo>
                  <a:pt x="191616" y="202667"/>
                  <a:pt x="193960" y="203895"/>
                  <a:pt x="196416" y="203895"/>
                </a:cubicBezTo>
                <a:cubicBezTo>
                  <a:pt x="198872" y="203895"/>
                  <a:pt x="201216" y="202667"/>
                  <a:pt x="202592" y="200583"/>
                </a:cubicBezTo>
                <a:lnTo>
                  <a:pt x="204490" y="197718"/>
                </a:lnTo>
                <a:cubicBezTo>
                  <a:pt x="211820" y="186705"/>
                  <a:pt x="215726" y="173794"/>
                  <a:pt x="215726" y="160586"/>
                </a:cubicBezTo>
                <a:lnTo>
                  <a:pt x="215726" y="148828"/>
                </a:lnTo>
                <a:cubicBezTo>
                  <a:pt x="215726" y="144735"/>
                  <a:pt x="212378" y="141387"/>
                  <a:pt x="208285" y="141387"/>
                </a:cubicBezTo>
                <a:cubicBezTo>
                  <a:pt x="204192" y="141387"/>
                  <a:pt x="200844" y="144735"/>
                  <a:pt x="200844" y="148828"/>
                </a:cubicBezTo>
                <a:lnTo>
                  <a:pt x="200844" y="160586"/>
                </a:lnTo>
                <a:cubicBezTo>
                  <a:pt x="200844" y="167878"/>
                  <a:pt x="199318" y="175059"/>
                  <a:pt x="196379" y="181682"/>
                </a:cubicBezTo>
                <a:cubicBezTo>
                  <a:pt x="193439" y="175059"/>
                  <a:pt x="191914" y="167878"/>
                  <a:pt x="191914" y="160586"/>
                </a:cubicBezTo>
                <a:lnTo>
                  <a:pt x="191914" y="148828"/>
                </a:lnTo>
                <a:cubicBezTo>
                  <a:pt x="191914" y="144735"/>
                  <a:pt x="188565" y="141387"/>
                  <a:pt x="184472" y="141387"/>
                </a:cubicBez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23" name="Text 21"/>
          <p:cNvSpPr/>
          <p:nvPr/>
        </p:nvSpPr>
        <p:spPr>
          <a:xfrm>
            <a:off x="2317750" y="2843213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Comprehensive Logging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91250" y="3605213"/>
            <a:ext cx="5600700" cy="2047875"/>
          </a:xfrm>
          <a:custGeom>
            <a:avLst/>
            <a:gdLst/>
            <a:ahLst/>
            <a:cxnLst/>
            <a:rect l="l" t="t" r="r" b="b"/>
            <a:pathLst>
              <a:path w="5600700" h="2047875">
                <a:moveTo>
                  <a:pt x="152403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2009775"/>
                </a:lnTo>
                <a:cubicBezTo>
                  <a:pt x="5600700" y="2030803"/>
                  <a:pt x="5583628" y="2047875"/>
                  <a:pt x="5562600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791950" y="3605213"/>
            <a:ext cx="38100" cy="2047875"/>
          </a:xfrm>
          <a:custGeom>
            <a:avLst/>
            <a:gdLst/>
            <a:ahLst/>
            <a:cxnLst/>
            <a:rect l="l" t="t" r="r" b="b"/>
            <a:pathLst>
              <a:path w="38100" h="2047875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2009775"/>
                </a:lnTo>
                <a:cubicBezTo>
                  <a:pt x="38100" y="2030803"/>
                  <a:pt x="21028" y="2047875"/>
                  <a:pt x="0" y="2047875"/>
                </a:cubicBez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10900" y="383381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535C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1210766" y="3948112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۳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19850" y="3833812"/>
            <a:ext cx="45051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استانداردسازی زیرساخت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19850" y="4252913"/>
            <a:ext cx="45243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ایجاد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فایل‌های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b="1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.env </a:t>
            </a:r>
            <a:r>
              <a:rPr lang="fa-IR" sz="1350" b="1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و </a:t>
            </a:r>
            <a:r>
              <a:rPr lang="en-US" sz="1350" b="1" dirty="0" err="1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config.properties</a:t>
            </a:r>
            <a:r>
              <a:rPr lang="en-US" sz="1350" b="1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fa-IR" sz="1350" b="1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برای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مدیریت متمرکز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کلیدهای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fa-IR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API</a:t>
            </a:r>
            <a:r>
              <a:rPr lang="fa-IR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و تنظیمات شبکه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19850" y="4962525"/>
            <a:ext cx="4438650" cy="457200"/>
          </a:xfrm>
          <a:custGeom>
            <a:avLst/>
            <a:gdLst/>
            <a:ahLst/>
            <a:cxnLst/>
            <a:rect l="l" t="t" r="r" b="b"/>
            <a:pathLst>
              <a:path w="4438650" h="457200">
                <a:moveTo>
                  <a:pt x="76202" y="0"/>
                </a:moveTo>
                <a:lnTo>
                  <a:pt x="4362448" y="0"/>
                </a:lnTo>
                <a:cubicBezTo>
                  <a:pt x="4404533" y="0"/>
                  <a:pt x="4438650" y="34117"/>
                  <a:pt x="4438650" y="76202"/>
                </a:cubicBezTo>
                <a:lnTo>
                  <a:pt x="4438650" y="380998"/>
                </a:lnTo>
                <a:cubicBezTo>
                  <a:pt x="4438650" y="423083"/>
                  <a:pt x="4404533" y="457200"/>
                  <a:pt x="4362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506075" y="50958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2" name="Text 30"/>
          <p:cNvSpPr/>
          <p:nvPr/>
        </p:nvSpPr>
        <p:spPr>
          <a:xfrm>
            <a:off x="8600281" y="5076825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Centralized Configuration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81000" y="3605213"/>
            <a:ext cx="5600700" cy="2047875"/>
          </a:xfrm>
          <a:custGeom>
            <a:avLst/>
            <a:gdLst/>
            <a:ahLst/>
            <a:cxnLst/>
            <a:rect l="l" t="t" r="r" b="b"/>
            <a:pathLst>
              <a:path w="5600700" h="2047875">
                <a:moveTo>
                  <a:pt x="152403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2009775"/>
                </a:lnTo>
                <a:cubicBezTo>
                  <a:pt x="5600700" y="2030803"/>
                  <a:pt x="5583628" y="2047875"/>
                  <a:pt x="5562600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81700" y="3605213"/>
            <a:ext cx="38100" cy="2047875"/>
          </a:xfrm>
          <a:custGeom>
            <a:avLst/>
            <a:gdLst/>
            <a:ahLst/>
            <a:cxnLst/>
            <a:rect l="l" t="t" r="r" b="b"/>
            <a:pathLst>
              <a:path w="38100" h="2047875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2009775"/>
                </a:lnTo>
                <a:cubicBezTo>
                  <a:pt x="38100" y="2030803"/>
                  <a:pt x="21028" y="2047875"/>
                  <a:pt x="0" y="2047875"/>
                </a:cubicBez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5" name="Shape 33"/>
          <p:cNvSpPr/>
          <p:nvPr/>
        </p:nvSpPr>
        <p:spPr>
          <a:xfrm>
            <a:off x="5200650" y="383381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10200" y="3948112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۴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09600" y="3833812"/>
            <a:ext cx="452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اتوماسیون اجرا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09600" y="4252913"/>
            <a:ext cx="45243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طراحی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اسکریپت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‌ </a:t>
            </a:r>
            <a:r>
              <a:rPr lang="en-US" sz="1350" b="1" dirty="0" err="1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run_project</a:t>
            </a:r>
            <a:r>
              <a:rPr lang="en-US" sz="1350" b="1" dirty="0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fa-IR" sz="1350" b="1" dirty="0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برای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راه‌اندازی همزمان و بدون خطای بخش جاوا و پایتون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09600" y="4962525"/>
            <a:ext cx="4438650" cy="457200"/>
          </a:xfrm>
          <a:custGeom>
            <a:avLst/>
            <a:gdLst/>
            <a:ahLst/>
            <a:cxnLst/>
            <a:rect l="l" t="t" r="r" b="b"/>
            <a:pathLst>
              <a:path w="4438650" h="457200">
                <a:moveTo>
                  <a:pt x="76202" y="0"/>
                </a:moveTo>
                <a:lnTo>
                  <a:pt x="4362448" y="0"/>
                </a:lnTo>
                <a:cubicBezTo>
                  <a:pt x="4404533" y="0"/>
                  <a:pt x="4438650" y="34117"/>
                  <a:pt x="4438650" y="76202"/>
                </a:cubicBezTo>
                <a:lnTo>
                  <a:pt x="4438650" y="380998"/>
                </a:lnTo>
                <a:cubicBezTo>
                  <a:pt x="4438650" y="423083"/>
                  <a:pt x="4404533" y="457200"/>
                  <a:pt x="4362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0" name="Shape 38"/>
          <p:cNvSpPr/>
          <p:nvPr/>
        </p:nvSpPr>
        <p:spPr>
          <a:xfrm>
            <a:off x="4719638" y="5095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70061" y="54732"/>
                </a:moveTo>
                <a:cubicBezTo>
                  <a:pt x="67233" y="56294"/>
                  <a:pt x="65484" y="59308"/>
                  <a:pt x="65484" y="62508"/>
                </a:cubicBezTo>
                <a:lnTo>
                  <a:pt x="65484" y="127992"/>
                </a:lnTo>
                <a:cubicBezTo>
                  <a:pt x="65484" y="131229"/>
                  <a:pt x="67233" y="134206"/>
                  <a:pt x="70061" y="135768"/>
                </a:cubicBezTo>
                <a:cubicBezTo>
                  <a:pt x="72889" y="137331"/>
                  <a:pt x="76312" y="137294"/>
                  <a:pt x="79102" y="135582"/>
                </a:cubicBezTo>
                <a:lnTo>
                  <a:pt x="132680" y="102840"/>
                </a:lnTo>
                <a:cubicBezTo>
                  <a:pt x="135322" y="101203"/>
                  <a:pt x="136959" y="98338"/>
                  <a:pt x="136959" y="95213"/>
                </a:cubicBezTo>
                <a:cubicBezTo>
                  <a:pt x="136959" y="92087"/>
                  <a:pt x="135322" y="89222"/>
                  <a:pt x="132680" y="87585"/>
                </a:cubicBezTo>
                <a:lnTo>
                  <a:pt x="79102" y="54843"/>
                </a:lnTo>
                <a:cubicBezTo>
                  <a:pt x="76349" y="53169"/>
                  <a:pt x="72889" y="53094"/>
                  <a:pt x="70061" y="54657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1" name="Text 39"/>
          <p:cNvSpPr/>
          <p:nvPr/>
        </p:nvSpPr>
        <p:spPr>
          <a:xfrm>
            <a:off x="3080385" y="5076825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Automated Execution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81000" y="5838825"/>
            <a:ext cx="11430000" cy="647700"/>
          </a:xfrm>
          <a:custGeom>
            <a:avLst/>
            <a:gdLst/>
            <a:ahLst/>
            <a:cxnLst/>
            <a:rect l="l" t="t" r="r" b="b"/>
            <a:pathLst>
              <a:path w="11430000" h="647700">
                <a:moveTo>
                  <a:pt x="114300" y="0"/>
                </a:moveTo>
                <a:lnTo>
                  <a:pt x="11315700" y="0"/>
                </a:lnTo>
                <a:cubicBezTo>
                  <a:pt x="11378826" y="0"/>
                  <a:pt x="11430000" y="51174"/>
                  <a:pt x="11430000" y="114300"/>
                </a:cubicBezTo>
                <a:lnTo>
                  <a:pt x="11430000" y="533400"/>
                </a:lnTo>
                <a:cubicBezTo>
                  <a:pt x="11430000" y="596526"/>
                  <a:pt x="11378826" y="647700"/>
                  <a:pt x="1131570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/>
              </a:gs>
              <a:gs pos="100000">
                <a:srgbClr val="4A6C7C"/>
              </a:gs>
            </a:gsLst>
            <a:lin ang="0" scaled="1"/>
          </a:gradFill>
          <a:ln/>
        </p:spPr>
      </p:sp>
      <p:sp>
        <p:nvSpPr>
          <p:cNvPr id="43" name="Shape 41"/>
          <p:cNvSpPr/>
          <p:nvPr/>
        </p:nvSpPr>
        <p:spPr>
          <a:xfrm>
            <a:off x="11363325" y="6048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4" name="Text 42"/>
          <p:cNvSpPr/>
          <p:nvPr/>
        </p:nvSpPr>
        <p:spPr>
          <a:xfrm>
            <a:off x="2916396" y="6029325"/>
            <a:ext cx="835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ارزش افزوده:</a:t>
            </a:r>
            <a:r>
              <a:rPr lang="en-US" sz="135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این بهبودها پایداری، قابلیت مانیتورینگ و سهولت استفاده از سیستم را به طور چشمگیری افزایش داده‌اند.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127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126998" y="0"/>
                </a:moveTo>
                <a:lnTo>
                  <a:pt x="317502" y="0"/>
                </a:lnTo>
                <a:cubicBezTo>
                  <a:pt x="387641" y="0"/>
                  <a:pt x="444500" y="56859"/>
                  <a:pt x="444500" y="126998"/>
                </a:cubicBezTo>
                <a:lnTo>
                  <a:pt x="444500" y="317502"/>
                </a:lnTo>
                <a:cubicBezTo>
                  <a:pt x="444500" y="387641"/>
                  <a:pt x="387641" y="444500"/>
                  <a:pt x="317502" y="444500"/>
                </a:cubicBezTo>
                <a:lnTo>
                  <a:pt x="126998" y="444500"/>
                </a:lnTo>
                <a:cubicBezTo>
                  <a:pt x="56859" y="444500"/>
                  <a:pt x="0" y="387641"/>
                  <a:pt x="0" y="317502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solidFill>
            <a:srgbClr val="4A6C7C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545094" y="539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848600" y="317500"/>
            <a:ext cx="35321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80000"/>
              </a:lnSpc>
            </a:pPr>
            <a:r>
              <a:rPr lang="en-US" sz="30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مهندسی پرامپت و داده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848600" y="730250"/>
            <a:ext cx="3532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25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Prompt Engineering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191250" y="1143000"/>
            <a:ext cx="5683250" cy="2889250"/>
          </a:xfrm>
          <a:custGeom>
            <a:avLst/>
            <a:gdLst/>
            <a:ahLst/>
            <a:cxnLst/>
            <a:rect l="l" t="t" r="r" b="b"/>
            <a:pathLst>
              <a:path w="5683250" h="2889250">
                <a:moveTo>
                  <a:pt x="127011" y="0"/>
                </a:moveTo>
                <a:lnTo>
                  <a:pt x="5556239" y="0"/>
                </a:lnTo>
                <a:cubicBezTo>
                  <a:pt x="5626385" y="0"/>
                  <a:pt x="5683250" y="56865"/>
                  <a:pt x="5683250" y="127011"/>
                </a:cubicBezTo>
                <a:lnTo>
                  <a:pt x="5683250" y="2762239"/>
                </a:lnTo>
                <a:cubicBezTo>
                  <a:pt x="5683250" y="2832385"/>
                  <a:pt x="5626385" y="2889250"/>
                  <a:pt x="5556239" y="2889250"/>
                </a:cubicBezTo>
                <a:lnTo>
                  <a:pt x="127011" y="2889250"/>
                </a:lnTo>
                <a:cubicBezTo>
                  <a:pt x="56865" y="2889250"/>
                  <a:pt x="0" y="2832385"/>
                  <a:pt x="0" y="2762239"/>
                </a:cubicBezTo>
                <a:lnTo>
                  <a:pt x="0" y="127011"/>
                </a:lnTo>
                <a:cubicBezTo>
                  <a:pt x="0" y="56912"/>
                  <a:pt x="56912" y="0"/>
                  <a:pt x="1270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303000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125" y="144462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6970" y="84646"/>
                </a:moveTo>
                <a:cubicBezTo>
                  <a:pt x="109885" y="81731"/>
                  <a:pt x="109885" y="77019"/>
                  <a:pt x="106970" y="74135"/>
                </a:cubicBezTo>
                <a:lnTo>
                  <a:pt x="62322" y="29456"/>
                </a:lnTo>
                <a:cubicBezTo>
                  <a:pt x="60182" y="27316"/>
                  <a:pt x="56989" y="26696"/>
                  <a:pt x="54198" y="27843"/>
                </a:cubicBezTo>
                <a:cubicBezTo>
                  <a:pt x="51408" y="28990"/>
                  <a:pt x="49609" y="31719"/>
                  <a:pt x="49609" y="34727"/>
                </a:cubicBezTo>
                <a:lnTo>
                  <a:pt x="49609" y="59531"/>
                </a:lnTo>
                <a:lnTo>
                  <a:pt x="14883" y="59531"/>
                </a:lnTo>
                <a:cubicBezTo>
                  <a:pt x="6666" y="59531"/>
                  <a:pt x="0" y="66198"/>
                  <a:pt x="0" y="74414"/>
                </a:cubicBezTo>
                <a:lnTo>
                  <a:pt x="0" y="84336"/>
                </a:lnTo>
                <a:cubicBezTo>
                  <a:pt x="0" y="92552"/>
                  <a:pt x="6666" y="99219"/>
                  <a:pt x="14883" y="99219"/>
                </a:cubicBezTo>
                <a:lnTo>
                  <a:pt x="49609" y="99219"/>
                </a:lnTo>
                <a:lnTo>
                  <a:pt x="49609" y="124023"/>
                </a:lnTo>
                <a:cubicBezTo>
                  <a:pt x="49609" y="127031"/>
                  <a:pt x="51408" y="129760"/>
                  <a:pt x="54198" y="130907"/>
                </a:cubicBezTo>
                <a:cubicBezTo>
                  <a:pt x="56989" y="132054"/>
                  <a:pt x="60182" y="131434"/>
                  <a:pt x="62322" y="129294"/>
                </a:cubicBezTo>
                <a:lnTo>
                  <a:pt x="106970" y="84646"/>
                </a:lnTo>
                <a:close/>
                <a:moveTo>
                  <a:pt x="109141" y="128984"/>
                </a:moveTo>
                <a:cubicBezTo>
                  <a:pt x="103653" y="128984"/>
                  <a:pt x="99219" y="133418"/>
                  <a:pt x="99219" y="138906"/>
                </a:cubicBezTo>
                <a:cubicBezTo>
                  <a:pt x="99219" y="144394"/>
                  <a:pt x="103653" y="148828"/>
                  <a:pt x="109141" y="148828"/>
                </a:cubicBezTo>
                <a:lnTo>
                  <a:pt x="128984" y="148828"/>
                </a:lnTo>
                <a:cubicBezTo>
                  <a:pt x="145417" y="148828"/>
                  <a:pt x="158750" y="135496"/>
                  <a:pt x="158750" y="119062"/>
                </a:cubicBezTo>
                <a:lnTo>
                  <a:pt x="158750" y="39688"/>
                </a:lnTo>
                <a:cubicBezTo>
                  <a:pt x="158750" y="23254"/>
                  <a:pt x="145417" y="9922"/>
                  <a:pt x="128984" y="9922"/>
                </a:cubicBezTo>
                <a:lnTo>
                  <a:pt x="109141" y="9922"/>
                </a:lnTo>
                <a:cubicBezTo>
                  <a:pt x="103653" y="9922"/>
                  <a:pt x="99219" y="14356"/>
                  <a:pt x="99219" y="19844"/>
                </a:cubicBezTo>
                <a:cubicBezTo>
                  <a:pt x="99219" y="25332"/>
                  <a:pt x="103653" y="29766"/>
                  <a:pt x="109141" y="29766"/>
                </a:cubicBezTo>
                <a:lnTo>
                  <a:pt x="128984" y="29766"/>
                </a:lnTo>
                <a:cubicBezTo>
                  <a:pt x="134472" y="29766"/>
                  <a:pt x="138906" y="34199"/>
                  <a:pt x="138906" y="39688"/>
                </a:cubicBezTo>
                <a:lnTo>
                  <a:pt x="138906" y="119062"/>
                </a:lnTo>
                <a:cubicBezTo>
                  <a:pt x="138906" y="124551"/>
                  <a:pt x="134472" y="128984"/>
                  <a:pt x="128984" y="128984"/>
                </a:cubicBezTo>
                <a:lnTo>
                  <a:pt x="109141" y="1289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796464" y="1396998"/>
            <a:ext cx="1395412" cy="25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5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ورودی (Context)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81750" y="1841498"/>
            <a:ext cx="5302250" cy="603250"/>
          </a:xfrm>
          <a:custGeom>
            <a:avLst/>
            <a:gdLst/>
            <a:ahLst/>
            <a:cxnLst/>
            <a:rect l="l" t="t" r="r" b="b"/>
            <a:pathLst>
              <a:path w="5302250" h="603250">
                <a:moveTo>
                  <a:pt x="95247" y="0"/>
                </a:moveTo>
                <a:lnTo>
                  <a:pt x="5207003" y="0"/>
                </a:lnTo>
                <a:cubicBezTo>
                  <a:pt x="5259606" y="0"/>
                  <a:pt x="5302250" y="42644"/>
                  <a:pt x="5302250" y="95247"/>
                </a:cubicBezTo>
                <a:lnTo>
                  <a:pt x="5302250" y="508003"/>
                </a:lnTo>
                <a:cubicBezTo>
                  <a:pt x="5302250" y="560606"/>
                  <a:pt x="5259606" y="603250"/>
                  <a:pt x="5207003" y="603250"/>
                </a:cubicBezTo>
                <a:lnTo>
                  <a:pt x="95247" y="603250"/>
                </a:lnTo>
                <a:cubicBezTo>
                  <a:pt x="42644" y="603250"/>
                  <a:pt x="0" y="560606"/>
                  <a:pt x="0" y="508003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11398250" y="200024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8930" y="8930"/>
                </a:moveTo>
                <a:cubicBezTo>
                  <a:pt x="13869" y="8930"/>
                  <a:pt x="17859" y="12920"/>
                  <a:pt x="17859" y="17859"/>
                </a:cubicBezTo>
                <a:lnTo>
                  <a:pt x="17859" y="111621"/>
                </a:lnTo>
                <a:cubicBezTo>
                  <a:pt x="17859" y="114077"/>
                  <a:pt x="19869" y="116086"/>
                  <a:pt x="22324" y="116086"/>
                </a:cubicBezTo>
                <a:lnTo>
                  <a:pt x="133945" y="116086"/>
                </a:lnTo>
                <a:cubicBezTo>
                  <a:pt x="138885" y="116086"/>
                  <a:pt x="142875" y="120076"/>
                  <a:pt x="142875" y="125016"/>
                </a:cubicBezTo>
                <a:cubicBezTo>
                  <a:pt x="142875" y="129955"/>
                  <a:pt x="138885" y="133945"/>
                  <a:pt x="133945" y="133945"/>
                </a:cubicBezTo>
                <a:lnTo>
                  <a:pt x="22324" y="133945"/>
                </a:lnTo>
                <a:cubicBezTo>
                  <a:pt x="9990" y="133945"/>
                  <a:pt x="0" y="123955"/>
                  <a:pt x="0" y="111621"/>
                </a:cubicBezTo>
                <a:lnTo>
                  <a:pt x="0" y="17859"/>
                </a:lnTo>
                <a:cubicBezTo>
                  <a:pt x="0" y="12920"/>
                  <a:pt x="3990" y="8930"/>
                  <a:pt x="8930" y="8930"/>
                </a:cubicBezTo>
                <a:close/>
                <a:moveTo>
                  <a:pt x="35719" y="26789"/>
                </a:moveTo>
                <a:cubicBezTo>
                  <a:pt x="35719" y="21850"/>
                  <a:pt x="39709" y="17859"/>
                  <a:pt x="44648" y="17859"/>
                </a:cubicBezTo>
                <a:lnTo>
                  <a:pt x="98227" y="17859"/>
                </a:lnTo>
                <a:cubicBezTo>
                  <a:pt x="103166" y="17859"/>
                  <a:pt x="107156" y="21850"/>
                  <a:pt x="107156" y="26789"/>
                </a:cubicBezTo>
                <a:cubicBezTo>
                  <a:pt x="107156" y="31728"/>
                  <a:pt x="103166" y="35719"/>
                  <a:pt x="98227" y="35719"/>
                </a:cubicBezTo>
                <a:lnTo>
                  <a:pt x="44648" y="35719"/>
                </a:lnTo>
                <a:cubicBezTo>
                  <a:pt x="39709" y="35719"/>
                  <a:pt x="35719" y="31728"/>
                  <a:pt x="35719" y="26789"/>
                </a:cubicBezTo>
                <a:close/>
                <a:moveTo>
                  <a:pt x="44648" y="49113"/>
                </a:moveTo>
                <a:lnTo>
                  <a:pt x="80367" y="49113"/>
                </a:lnTo>
                <a:cubicBezTo>
                  <a:pt x="85306" y="49113"/>
                  <a:pt x="89297" y="53104"/>
                  <a:pt x="89297" y="58043"/>
                </a:cubicBezTo>
                <a:cubicBezTo>
                  <a:pt x="89297" y="62982"/>
                  <a:pt x="85306" y="66973"/>
                  <a:pt x="80367" y="66973"/>
                </a:cubicBezTo>
                <a:lnTo>
                  <a:pt x="44648" y="66973"/>
                </a:lnTo>
                <a:cubicBezTo>
                  <a:pt x="39709" y="66973"/>
                  <a:pt x="35719" y="62982"/>
                  <a:pt x="35719" y="58043"/>
                </a:cubicBezTo>
                <a:cubicBezTo>
                  <a:pt x="35719" y="53104"/>
                  <a:pt x="39709" y="49113"/>
                  <a:pt x="44648" y="49113"/>
                </a:cubicBezTo>
                <a:close/>
                <a:moveTo>
                  <a:pt x="44648" y="80367"/>
                </a:moveTo>
                <a:lnTo>
                  <a:pt x="116086" y="80367"/>
                </a:lnTo>
                <a:cubicBezTo>
                  <a:pt x="121025" y="80367"/>
                  <a:pt x="125016" y="84358"/>
                  <a:pt x="125016" y="89297"/>
                </a:cubicBezTo>
                <a:cubicBezTo>
                  <a:pt x="125016" y="94236"/>
                  <a:pt x="121025" y="98227"/>
                  <a:pt x="116086" y="98227"/>
                </a:cubicBezTo>
                <a:lnTo>
                  <a:pt x="44648" y="98227"/>
                </a:lnTo>
                <a:cubicBezTo>
                  <a:pt x="39709" y="98227"/>
                  <a:pt x="35719" y="94236"/>
                  <a:pt x="35719" y="89297"/>
                </a:cubicBezTo>
                <a:cubicBezTo>
                  <a:pt x="35719" y="84358"/>
                  <a:pt x="39709" y="80367"/>
                  <a:pt x="44648" y="80367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12" name="Text 10"/>
          <p:cNvSpPr/>
          <p:nvPr/>
        </p:nvSpPr>
        <p:spPr>
          <a:xfrm>
            <a:off x="10195190" y="1968498"/>
            <a:ext cx="1150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میانگین خطای عرضه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95190" y="2158998"/>
            <a:ext cx="1143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875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Average supply error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81750" y="2539998"/>
            <a:ext cx="5302250" cy="603250"/>
          </a:xfrm>
          <a:custGeom>
            <a:avLst/>
            <a:gdLst/>
            <a:ahLst/>
            <a:cxnLst/>
            <a:rect l="l" t="t" r="r" b="b"/>
            <a:pathLst>
              <a:path w="5302250" h="603250">
                <a:moveTo>
                  <a:pt x="95247" y="0"/>
                </a:moveTo>
                <a:lnTo>
                  <a:pt x="5207003" y="0"/>
                </a:lnTo>
                <a:cubicBezTo>
                  <a:pt x="5259606" y="0"/>
                  <a:pt x="5302250" y="42644"/>
                  <a:pt x="5302250" y="95247"/>
                </a:cubicBezTo>
                <a:lnTo>
                  <a:pt x="5302250" y="508003"/>
                </a:lnTo>
                <a:cubicBezTo>
                  <a:pt x="5302250" y="560606"/>
                  <a:pt x="5259606" y="603250"/>
                  <a:pt x="5207003" y="603250"/>
                </a:cubicBezTo>
                <a:lnTo>
                  <a:pt x="95247" y="603250"/>
                </a:lnTo>
                <a:cubicBezTo>
                  <a:pt x="42644" y="603250"/>
                  <a:pt x="0" y="560606"/>
                  <a:pt x="0" y="508003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98250" y="269874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25016" y="71438"/>
                </a:moveTo>
                <a:cubicBezTo>
                  <a:pt x="125016" y="41867"/>
                  <a:pt x="101008" y="17859"/>
                  <a:pt x="71438" y="17859"/>
                </a:cubicBezTo>
                <a:cubicBezTo>
                  <a:pt x="41867" y="17859"/>
                  <a:pt x="17859" y="41867"/>
                  <a:pt x="17859" y="71438"/>
                </a:cubicBezTo>
                <a:cubicBezTo>
                  <a:pt x="17859" y="101008"/>
                  <a:pt x="41867" y="125016"/>
                  <a:pt x="71438" y="125016"/>
                </a:cubicBezTo>
                <a:cubicBezTo>
                  <a:pt x="101008" y="125016"/>
                  <a:pt x="125016" y="101008"/>
                  <a:pt x="125016" y="71438"/>
                </a:cubicBezTo>
                <a:close/>
                <a:moveTo>
                  <a:pt x="0" y="71438"/>
                </a:moveTo>
                <a:cubicBezTo>
                  <a:pt x="0" y="32010"/>
                  <a:pt x="32010" y="0"/>
                  <a:pt x="71437" y="0"/>
                </a:cubicBezTo>
                <a:cubicBezTo>
                  <a:pt x="110865" y="0"/>
                  <a:pt x="142875" y="32010"/>
                  <a:pt x="142875" y="71437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lose/>
                <a:moveTo>
                  <a:pt x="71438" y="93762"/>
                </a:moveTo>
                <a:cubicBezTo>
                  <a:pt x="83759" y="93762"/>
                  <a:pt x="93762" y="83759"/>
                  <a:pt x="93762" y="71438"/>
                </a:cubicBezTo>
                <a:cubicBezTo>
                  <a:pt x="93762" y="59116"/>
                  <a:pt x="83759" y="49113"/>
                  <a:pt x="71438" y="49113"/>
                </a:cubicBezTo>
                <a:cubicBezTo>
                  <a:pt x="59116" y="49113"/>
                  <a:pt x="49113" y="59116"/>
                  <a:pt x="49113" y="71438"/>
                </a:cubicBezTo>
                <a:cubicBezTo>
                  <a:pt x="49113" y="83759"/>
                  <a:pt x="59116" y="93762"/>
                  <a:pt x="71438" y="93762"/>
                </a:cubicBezTo>
                <a:close/>
                <a:moveTo>
                  <a:pt x="71438" y="31254"/>
                </a:moveTo>
                <a:cubicBezTo>
                  <a:pt x="93615" y="31254"/>
                  <a:pt x="111621" y="49260"/>
                  <a:pt x="111621" y="71438"/>
                </a:cubicBezTo>
                <a:cubicBezTo>
                  <a:pt x="111621" y="93615"/>
                  <a:pt x="93615" y="111621"/>
                  <a:pt x="71438" y="111621"/>
                </a:cubicBezTo>
                <a:cubicBezTo>
                  <a:pt x="49260" y="111621"/>
                  <a:pt x="31254" y="93615"/>
                  <a:pt x="31254" y="71438"/>
                </a:cubicBezTo>
                <a:cubicBezTo>
                  <a:pt x="31254" y="49260"/>
                  <a:pt x="49260" y="31254"/>
                  <a:pt x="71438" y="31254"/>
                </a:cubicBezTo>
                <a:close/>
                <a:moveTo>
                  <a:pt x="62508" y="71438"/>
                </a:moveTo>
                <a:cubicBezTo>
                  <a:pt x="62508" y="66509"/>
                  <a:pt x="66509" y="62508"/>
                  <a:pt x="71438" y="62508"/>
                </a:cubicBezTo>
                <a:cubicBezTo>
                  <a:pt x="76366" y="62508"/>
                  <a:pt x="80367" y="66509"/>
                  <a:pt x="80367" y="71438"/>
                </a:cubicBezTo>
                <a:cubicBezTo>
                  <a:pt x="80367" y="76366"/>
                  <a:pt x="76366" y="80367"/>
                  <a:pt x="71438" y="80367"/>
                </a:cubicBezTo>
                <a:cubicBezTo>
                  <a:pt x="66509" y="80367"/>
                  <a:pt x="62508" y="76366"/>
                  <a:pt x="62508" y="71438"/>
                </a:cubicBez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16" name="Text 14"/>
          <p:cNvSpPr/>
          <p:nvPr/>
        </p:nvSpPr>
        <p:spPr>
          <a:xfrm>
            <a:off x="9796463" y="2666998"/>
            <a:ext cx="154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اهداف تعیین شده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796463" y="2857498"/>
            <a:ext cx="153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875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Policy goals for each product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81750" y="3238498"/>
            <a:ext cx="5302250" cy="603250"/>
          </a:xfrm>
          <a:custGeom>
            <a:avLst/>
            <a:gdLst/>
            <a:ahLst/>
            <a:cxnLst/>
            <a:rect l="l" t="t" r="r" b="b"/>
            <a:pathLst>
              <a:path w="5302250" h="603250">
                <a:moveTo>
                  <a:pt x="95247" y="0"/>
                </a:moveTo>
                <a:lnTo>
                  <a:pt x="5207003" y="0"/>
                </a:lnTo>
                <a:cubicBezTo>
                  <a:pt x="5259606" y="0"/>
                  <a:pt x="5302250" y="42644"/>
                  <a:pt x="5302250" y="95247"/>
                </a:cubicBezTo>
                <a:lnTo>
                  <a:pt x="5302250" y="508003"/>
                </a:lnTo>
                <a:cubicBezTo>
                  <a:pt x="5302250" y="560606"/>
                  <a:pt x="5259606" y="603250"/>
                  <a:pt x="5207003" y="603250"/>
                </a:cubicBezTo>
                <a:lnTo>
                  <a:pt x="95247" y="603250"/>
                </a:lnTo>
                <a:cubicBezTo>
                  <a:pt x="42644" y="603250"/>
                  <a:pt x="0" y="560606"/>
                  <a:pt x="0" y="508003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89320" y="3397248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0367" y="17859"/>
                </a:moveTo>
                <a:cubicBezTo>
                  <a:pt x="109947" y="17859"/>
                  <a:pt x="133945" y="41858"/>
                  <a:pt x="133945" y="71438"/>
                </a:cubicBezTo>
                <a:cubicBezTo>
                  <a:pt x="133945" y="101017"/>
                  <a:pt x="109947" y="125016"/>
                  <a:pt x="80367" y="125016"/>
                </a:cubicBezTo>
                <a:cubicBezTo>
                  <a:pt x="62173" y="125016"/>
                  <a:pt x="46072" y="115946"/>
                  <a:pt x="36388" y="102050"/>
                </a:cubicBezTo>
                <a:cubicBezTo>
                  <a:pt x="33570" y="98003"/>
                  <a:pt x="27989" y="97027"/>
                  <a:pt x="23943" y="99845"/>
                </a:cubicBezTo>
                <a:cubicBezTo>
                  <a:pt x="19896" y="102664"/>
                  <a:pt x="18920" y="108245"/>
                  <a:pt x="21738" y="112291"/>
                </a:cubicBezTo>
                <a:cubicBezTo>
                  <a:pt x="34630" y="130764"/>
                  <a:pt x="56090" y="142875"/>
                  <a:pt x="80367" y="142875"/>
                </a:cubicBezTo>
                <a:cubicBezTo>
                  <a:pt x="119825" y="142875"/>
                  <a:pt x="151805" y="110896"/>
                  <a:pt x="151805" y="71438"/>
                </a:cubicBezTo>
                <a:cubicBezTo>
                  <a:pt x="151805" y="31979"/>
                  <a:pt x="119825" y="0"/>
                  <a:pt x="80367" y="0"/>
                </a:cubicBezTo>
                <a:cubicBezTo>
                  <a:pt x="56452" y="0"/>
                  <a:pt x="35300" y="11748"/>
                  <a:pt x="22324" y="29775"/>
                </a:cubicBezTo>
                <a:lnTo>
                  <a:pt x="22324" y="22324"/>
                </a:lnTo>
                <a:cubicBezTo>
                  <a:pt x="22324" y="17385"/>
                  <a:pt x="18334" y="13395"/>
                  <a:pt x="13395" y="13395"/>
                </a:cubicBezTo>
                <a:cubicBezTo>
                  <a:pt x="8455" y="13395"/>
                  <a:pt x="4465" y="17385"/>
                  <a:pt x="4465" y="22324"/>
                </a:cubicBezTo>
                <a:lnTo>
                  <a:pt x="4465" y="53578"/>
                </a:lnTo>
                <a:cubicBezTo>
                  <a:pt x="4465" y="58517"/>
                  <a:pt x="8455" y="62508"/>
                  <a:pt x="13395" y="62508"/>
                </a:cubicBezTo>
                <a:lnTo>
                  <a:pt x="20259" y="62508"/>
                </a:lnTo>
                <a:cubicBezTo>
                  <a:pt x="20399" y="62508"/>
                  <a:pt x="20538" y="62508"/>
                  <a:pt x="20678" y="62508"/>
                </a:cubicBezTo>
                <a:lnTo>
                  <a:pt x="44676" y="62508"/>
                </a:lnTo>
                <a:cubicBezTo>
                  <a:pt x="49616" y="62508"/>
                  <a:pt x="53606" y="58517"/>
                  <a:pt x="53606" y="53578"/>
                </a:cubicBezTo>
                <a:cubicBezTo>
                  <a:pt x="53606" y="48639"/>
                  <a:pt x="49616" y="44648"/>
                  <a:pt x="44676" y="44648"/>
                </a:cubicBezTo>
                <a:lnTo>
                  <a:pt x="33989" y="44648"/>
                </a:lnTo>
                <a:cubicBezTo>
                  <a:pt x="43225" y="28631"/>
                  <a:pt x="60554" y="17859"/>
                  <a:pt x="80367" y="17859"/>
                </a:cubicBezTo>
                <a:close/>
                <a:moveTo>
                  <a:pt x="87064" y="42416"/>
                </a:moveTo>
                <a:cubicBezTo>
                  <a:pt x="87064" y="38705"/>
                  <a:pt x="84079" y="35719"/>
                  <a:pt x="80367" y="35719"/>
                </a:cubicBezTo>
                <a:cubicBezTo>
                  <a:pt x="76656" y="35719"/>
                  <a:pt x="73670" y="38705"/>
                  <a:pt x="73670" y="42416"/>
                </a:cubicBezTo>
                <a:lnTo>
                  <a:pt x="73670" y="71438"/>
                </a:lnTo>
                <a:cubicBezTo>
                  <a:pt x="73670" y="73223"/>
                  <a:pt x="74368" y="74926"/>
                  <a:pt x="75623" y="76181"/>
                </a:cubicBezTo>
                <a:lnTo>
                  <a:pt x="95715" y="96273"/>
                </a:lnTo>
                <a:cubicBezTo>
                  <a:pt x="98338" y="98896"/>
                  <a:pt x="102580" y="98896"/>
                  <a:pt x="105175" y="96273"/>
                </a:cubicBezTo>
                <a:cubicBezTo>
                  <a:pt x="107770" y="93650"/>
                  <a:pt x="107798" y="89408"/>
                  <a:pt x="105175" y="86813"/>
                </a:cubicBezTo>
                <a:lnTo>
                  <a:pt x="87037" y="68675"/>
                </a:lnTo>
                <a:lnTo>
                  <a:pt x="87037" y="42416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43715" y="3365498"/>
            <a:ext cx="130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تاریخچه ۵ سال اخیر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043715" y="3555998"/>
            <a:ext cx="1293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875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5-year historical context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91250" y="4190998"/>
            <a:ext cx="5683250" cy="2039938"/>
          </a:xfrm>
          <a:custGeom>
            <a:avLst/>
            <a:gdLst/>
            <a:ahLst/>
            <a:cxnLst/>
            <a:rect l="l" t="t" r="r" b="b"/>
            <a:pathLst>
              <a:path w="5683250" h="2039938">
                <a:moveTo>
                  <a:pt x="127007" y="0"/>
                </a:moveTo>
                <a:lnTo>
                  <a:pt x="5556243" y="0"/>
                </a:lnTo>
                <a:cubicBezTo>
                  <a:pt x="5626387" y="0"/>
                  <a:pt x="5683250" y="56863"/>
                  <a:pt x="5683250" y="127007"/>
                </a:cubicBezTo>
                <a:lnTo>
                  <a:pt x="5683250" y="1912931"/>
                </a:lnTo>
                <a:cubicBezTo>
                  <a:pt x="5683250" y="1983075"/>
                  <a:pt x="5626387" y="2039938"/>
                  <a:pt x="5556243" y="2039938"/>
                </a:cubicBezTo>
                <a:lnTo>
                  <a:pt x="127007" y="2039938"/>
                </a:lnTo>
                <a:cubicBezTo>
                  <a:pt x="56863" y="2039938"/>
                  <a:pt x="0" y="1983075"/>
                  <a:pt x="0" y="1912931"/>
                </a:cubicBezTo>
                <a:lnTo>
                  <a:pt x="0" y="127007"/>
                </a:lnTo>
                <a:cubicBezTo>
                  <a:pt x="0" y="56910"/>
                  <a:pt x="56910" y="0"/>
                  <a:pt x="1270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1303000" y="43814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14125" y="449262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6580" y="84646"/>
                </a:moveTo>
                <a:cubicBezTo>
                  <a:pt x="159494" y="81731"/>
                  <a:pt x="159494" y="77019"/>
                  <a:pt x="156580" y="74135"/>
                </a:cubicBezTo>
                <a:lnTo>
                  <a:pt x="111931" y="29456"/>
                </a:lnTo>
                <a:cubicBezTo>
                  <a:pt x="109792" y="27316"/>
                  <a:pt x="106598" y="26696"/>
                  <a:pt x="103808" y="27843"/>
                </a:cubicBezTo>
                <a:cubicBezTo>
                  <a:pt x="101017" y="28990"/>
                  <a:pt x="99219" y="31719"/>
                  <a:pt x="99219" y="34727"/>
                </a:cubicBezTo>
                <a:lnTo>
                  <a:pt x="99219" y="59531"/>
                </a:lnTo>
                <a:lnTo>
                  <a:pt x="64492" y="59531"/>
                </a:lnTo>
                <a:cubicBezTo>
                  <a:pt x="56276" y="59531"/>
                  <a:pt x="49609" y="66198"/>
                  <a:pt x="49609" y="74414"/>
                </a:cubicBezTo>
                <a:lnTo>
                  <a:pt x="49609" y="84336"/>
                </a:lnTo>
                <a:cubicBezTo>
                  <a:pt x="49609" y="92552"/>
                  <a:pt x="56276" y="99219"/>
                  <a:pt x="64492" y="99219"/>
                </a:cubicBezTo>
                <a:lnTo>
                  <a:pt x="99219" y="99219"/>
                </a:lnTo>
                <a:lnTo>
                  <a:pt x="99219" y="124023"/>
                </a:lnTo>
                <a:cubicBezTo>
                  <a:pt x="99219" y="127031"/>
                  <a:pt x="101017" y="129760"/>
                  <a:pt x="103808" y="130907"/>
                </a:cubicBezTo>
                <a:cubicBezTo>
                  <a:pt x="106598" y="132054"/>
                  <a:pt x="109792" y="131434"/>
                  <a:pt x="111931" y="129294"/>
                </a:cubicBezTo>
                <a:lnTo>
                  <a:pt x="156580" y="84646"/>
                </a:lnTo>
                <a:close/>
                <a:moveTo>
                  <a:pt x="49609" y="29766"/>
                </a:moveTo>
                <a:cubicBezTo>
                  <a:pt x="55097" y="29766"/>
                  <a:pt x="59531" y="25332"/>
                  <a:pt x="59531" y="19844"/>
                </a:cubicBezTo>
                <a:cubicBezTo>
                  <a:pt x="59531" y="14356"/>
                  <a:pt x="55097" y="9922"/>
                  <a:pt x="49609" y="9922"/>
                </a:cubicBezTo>
                <a:lnTo>
                  <a:pt x="29766" y="9922"/>
                </a:lnTo>
                <a:cubicBezTo>
                  <a:pt x="13333" y="9922"/>
                  <a:pt x="0" y="23254"/>
                  <a:pt x="0" y="39688"/>
                </a:cubicBezTo>
                <a:lnTo>
                  <a:pt x="0" y="119062"/>
                </a:lnTo>
                <a:cubicBezTo>
                  <a:pt x="0" y="135496"/>
                  <a:pt x="13333" y="148828"/>
                  <a:pt x="29766" y="148828"/>
                </a:cubicBezTo>
                <a:lnTo>
                  <a:pt x="49609" y="148828"/>
                </a:lnTo>
                <a:cubicBezTo>
                  <a:pt x="55097" y="148828"/>
                  <a:pt x="59531" y="144394"/>
                  <a:pt x="59531" y="138906"/>
                </a:cubicBezTo>
                <a:cubicBezTo>
                  <a:pt x="59531" y="133418"/>
                  <a:pt x="55097" y="128984"/>
                  <a:pt x="49609" y="128984"/>
                </a:cubicBezTo>
                <a:lnTo>
                  <a:pt x="29766" y="128984"/>
                </a:lnTo>
                <a:cubicBezTo>
                  <a:pt x="24278" y="128984"/>
                  <a:pt x="19844" y="124551"/>
                  <a:pt x="19844" y="119062"/>
                </a:cubicBezTo>
                <a:lnTo>
                  <a:pt x="19844" y="39688"/>
                </a:lnTo>
                <a:cubicBezTo>
                  <a:pt x="19844" y="34199"/>
                  <a:pt x="24278" y="29766"/>
                  <a:pt x="29766" y="29766"/>
                </a:cubicBezTo>
                <a:lnTo>
                  <a:pt x="49609" y="2976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03895" y="4444998"/>
            <a:ext cx="22024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5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خروجی (Format Control)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81750" y="4889498"/>
            <a:ext cx="5373688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12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استفاده از تکنیک </a:t>
            </a:r>
            <a:r>
              <a:rPr lang="en-US" sz="1125" b="1" dirty="0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Few-shot </a:t>
            </a:r>
            <a:r>
              <a:rPr lang="fa-IR" sz="1125" b="1" dirty="0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25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برای</a:t>
            </a:r>
            <a:r>
              <a:rPr lang="en-US" sz="112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وادار کردن مدل به ارائه خروجی در فرمت دقیق عددی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81750" y="5248670"/>
            <a:ext cx="5302250" cy="793750"/>
          </a:xfrm>
          <a:custGeom>
            <a:avLst/>
            <a:gdLst/>
            <a:ahLst/>
            <a:cxnLst/>
            <a:rect l="l" t="t" r="r" b="b"/>
            <a:pathLst>
              <a:path w="5302250" h="793750">
                <a:moveTo>
                  <a:pt x="95250" y="0"/>
                </a:moveTo>
                <a:lnTo>
                  <a:pt x="5207000" y="0"/>
                </a:lnTo>
                <a:cubicBezTo>
                  <a:pt x="5259570" y="0"/>
                  <a:pt x="5302250" y="42680"/>
                  <a:pt x="5302250" y="95250"/>
                </a:cubicBezTo>
                <a:lnTo>
                  <a:pt x="5302250" y="698500"/>
                </a:lnTo>
                <a:cubicBezTo>
                  <a:pt x="5302250" y="751070"/>
                  <a:pt x="5259570" y="793750"/>
                  <a:pt x="5207000" y="793750"/>
                </a:cubicBezTo>
                <a:lnTo>
                  <a:pt x="95250" y="793750"/>
                </a:lnTo>
                <a:cubicBezTo>
                  <a:pt x="42680" y="793750"/>
                  <a:pt x="0" y="751070"/>
                  <a:pt x="0" y="6985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49219" y="5375670"/>
            <a:ext cx="5167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00000"/>
              </a:lnSpc>
            </a:pPr>
            <a:r>
              <a:rPr lang="en-US" sz="1875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-5 </a:t>
            </a:r>
            <a:r>
              <a:rPr lang="fa-IR" sz="1875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 </a:t>
            </a:r>
            <a:r>
              <a:rPr lang="en-US" sz="1875" b="1" dirty="0" err="1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تا</a:t>
            </a:r>
            <a:r>
              <a:rPr lang="en-US" sz="1875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 +5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77000" y="5724920"/>
            <a:ext cx="511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100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محدوده تغییرات مالیات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17500" y="1143001"/>
            <a:ext cx="5683250" cy="5087936"/>
          </a:xfrm>
          <a:custGeom>
            <a:avLst/>
            <a:gdLst/>
            <a:ahLst/>
            <a:cxnLst/>
            <a:rect l="l" t="t" r="r" b="b"/>
            <a:pathLst>
              <a:path w="5683250" h="6151563">
                <a:moveTo>
                  <a:pt x="127021" y="0"/>
                </a:moveTo>
                <a:lnTo>
                  <a:pt x="5556229" y="0"/>
                </a:lnTo>
                <a:cubicBezTo>
                  <a:pt x="5626381" y="0"/>
                  <a:pt x="5683250" y="56869"/>
                  <a:pt x="5683250" y="127021"/>
                </a:cubicBezTo>
                <a:lnTo>
                  <a:pt x="5683250" y="6024542"/>
                </a:lnTo>
                <a:cubicBezTo>
                  <a:pt x="5683250" y="6094693"/>
                  <a:pt x="5626381" y="6151563"/>
                  <a:pt x="5556229" y="6151563"/>
                </a:cubicBezTo>
                <a:lnTo>
                  <a:pt x="127021" y="6151563"/>
                </a:lnTo>
                <a:cubicBezTo>
                  <a:pt x="56869" y="6151563"/>
                  <a:pt x="0" y="6094693"/>
                  <a:pt x="0" y="6024542"/>
                </a:cubicBezTo>
                <a:lnTo>
                  <a:pt x="0" y="127021"/>
                </a:lnTo>
                <a:cubicBezTo>
                  <a:pt x="0" y="56916"/>
                  <a:pt x="56916" y="0"/>
                  <a:pt x="12702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8000" y="133350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5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تغییرات اختصاصی شما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8000" y="1714498"/>
            <a:ext cx="5302250" cy="4327921"/>
          </a:xfrm>
          <a:custGeom>
            <a:avLst/>
            <a:gdLst/>
            <a:ahLst/>
            <a:cxnLst/>
            <a:rect l="l" t="t" r="r" b="b"/>
            <a:pathLst>
              <a:path w="5302250" h="5389563">
                <a:moveTo>
                  <a:pt x="95228" y="0"/>
                </a:moveTo>
                <a:lnTo>
                  <a:pt x="5207022" y="0"/>
                </a:lnTo>
                <a:cubicBezTo>
                  <a:pt x="5259615" y="0"/>
                  <a:pt x="5302250" y="42635"/>
                  <a:pt x="5302250" y="95228"/>
                </a:cubicBezTo>
                <a:lnTo>
                  <a:pt x="5302250" y="5294334"/>
                </a:lnTo>
                <a:cubicBezTo>
                  <a:pt x="5302250" y="5346927"/>
                  <a:pt x="5259615" y="5389563"/>
                  <a:pt x="5207022" y="5389563"/>
                </a:cubicBezTo>
                <a:lnTo>
                  <a:pt x="95228" y="5389563"/>
                </a:lnTo>
                <a:cubicBezTo>
                  <a:pt x="42635" y="5389563"/>
                  <a:pt x="0" y="5346927"/>
                  <a:pt x="0" y="5294334"/>
                </a:cubicBezTo>
                <a:lnTo>
                  <a:pt x="0" y="95228"/>
                </a:lnTo>
                <a:cubicBezTo>
                  <a:pt x="0" y="42670"/>
                  <a:pt x="42670" y="0"/>
                  <a:pt x="9522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3" name="Shape 31"/>
          <p:cNvSpPr/>
          <p:nvPr/>
        </p:nvSpPr>
        <p:spPr>
          <a:xfrm>
            <a:off x="5405438" y="19208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3421" y="12576"/>
                </a:moveTo>
                <a:cubicBezTo>
                  <a:pt x="45095" y="10306"/>
                  <a:pt x="47774" y="8930"/>
                  <a:pt x="50602" y="8930"/>
                </a:cubicBezTo>
                <a:lnTo>
                  <a:pt x="139898" y="8930"/>
                </a:lnTo>
                <a:cubicBezTo>
                  <a:pt x="142726" y="8930"/>
                  <a:pt x="145405" y="10269"/>
                  <a:pt x="147079" y="12576"/>
                </a:cubicBezTo>
                <a:lnTo>
                  <a:pt x="188751" y="69131"/>
                </a:lnTo>
                <a:cubicBezTo>
                  <a:pt x="191281" y="72554"/>
                  <a:pt x="191021" y="77279"/>
                  <a:pt x="188193" y="80442"/>
                </a:cubicBezTo>
                <a:lnTo>
                  <a:pt x="101873" y="175692"/>
                </a:lnTo>
                <a:cubicBezTo>
                  <a:pt x="100199" y="177552"/>
                  <a:pt x="97780" y="178631"/>
                  <a:pt x="95250" y="178631"/>
                </a:cubicBezTo>
                <a:cubicBezTo>
                  <a:pt x="92720" y="178631"/>
                  <a:pt x="90339" y="177552"/>
                  <a:pt x="88627" y="175692"/>
                </a:cubicBezTo>
                <a:lnTo>
                  <a:pt x="2307" y="80442"/>
                </a:lnTo>
                <a:cubicBezTo>
                  <a:pt x="-558" y="77279"/>
                  <a:pt x="-781" y="72554"/>
                  <a:pt x="1749" y="69131"/>
                </a:cubicBezTo>
                <a:lnTo>
                  <a:pt x="43421" y="12576"/>
                </a:lnTo>
                <a:close/>
                <a:moveTo>
                  <a:pt x="57745" y="27384"/>
                </a:moveTo>
                <a:cubicBezTo>
                  <a:pt x="56517" y="28315"/>
                  <a:pt x="56183" y="29989"/>
                  <a:pt x="56964" y="31291"/>
                </a:cubicBezTo>
                <a:lnTo>
                  <a:pt x="78321" y="66898"/>
                </a:lnTo>
                <a:lnTo>
                  <a:pt x="23552" y="71438"/>
                </a:lnTo>
                <a:cubicBezTo>
                  <a:pt x="22027" y="71549"/>
                  <a:pt x="20836" y="72851"/>
                  <a:pt x="20836" y="74414"/>
                </a:cubicBezTo>
                <a:cubicBezTo>
                  <a:pt x="20836" y="75977"/>
                  <a:pt x="22027" y="77242"/>
                  <a:pt x="23552" y="77391"/>
                </a:cubicBezTo>
                <a:lnTo>
                  <a:pt x="94990" y="83344"/>
                </a:lnTo>
                <a:cubicBezTo>
                  <a:pt x="95138" y="83344"/>
                  <a:pt x="95324" y="83344"/>
                  <a:pt x="95473" y="83344"/>
                </a:cubicBezTo>
                <a:lnTo>
                  <a:pt x="166911" y="77391"/>
                </a:lnTo>
                <a:cubicBezTo>
                  <a:pt x="168436" y="77279"/>
                  <a:pt x="169627" y="75977"/>
                  <a:pt x="169627" y="74414"/>
                </a:cubicBezTo>
                <a:cubicBezTo>
                  <a:pt x="169627" y="72851"/>
                  <a:pt x="168436" y="71586"/>
                  <a:pt x="166911" y="71438"/>
                </a:cubicBezTo>
                <a:lnTo>
                  <a:pt x="112142" y="66861"/>
                </a:lnTo>
                <a:lnTo>
                  <a:pt x="133499" y="31291"/>
                </a:lnTo>
                <a:cubicBezTo>
                  <a:pt x="134280" y="29989"/>
                  <a:pt x="133945" y="28277"/>
                  <a:pt x="132717" y="27384"/>
                </a:cubicBezTo>
                <a:cubicBezTo>
                  <a:pt x="131490" y="26491"/>
                  <a:pt x="129778" y="26640"/>
                  <a:pt x="128736" y="27756"/>
                </a:cubicBezTo>
                <a:lnTo>
                  <a:pt x="95250" y="64071"/>
                </a:lnTo>
                <a:lnTo>
                  <a:pt x="61726" y="27756"/>
                </a:lnTo>
                <a:cubicBezTo>
                  <a:pt x="60685" y="26640"/>
                  <a:pt x="58973" y="26491"/>
                  <a:pt x="57745" y="27384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3546078" y="1904998"/>
            <a:ext cx="1817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25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بهبود پرامپت‌ها برای Gemini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98500" y="2254248"/>
            <a:ext cx="49926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12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بهینه‌سازی ساختار پرامپت‌ها برای </a:t>
            </a:r>
            <a:r>
              <a:rPr lang="en-US" sz="1125" b="1" dirty="0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سازگاری بهتر </a:t>
            </a:r>
            <a:r>
              <a:rPr lang="en-US" sz="112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با ساختار پاسخ‌دهی Google Gemini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98500" y="2909092"/>
            <a:ext cx="4921250" cy="666750"/>
          </a:xfrm>
          <a:custGeom>
            <a:avLst/>
            <a:gdLst/>
            <a:ahLst/>
            <a:cxnLst/>
            <a:rect l="l" t="t" r="r" b="b"/>
            <a:pathLst>
              <a:path w="4921250" h="666750">
                <a:moveTo>
                  <a:pt x="63501" y="0"/>
                </a:moveTo>
                <a:lnTo>
                  <a:pt x="4857749" y="0"/>
                </a:lnTo>
                <a:cubicBezTo>
                  <a:pt x="4892820" y="0"/>
                  <a:pt x="4921250" y="28430"/>
                  <a:pt x="4921250" y="63501"/>
                </a:cubicBezTo>
                <a:lnTo>
                  <a:pt x="4921250" y="603249"/>
                </a:lnTo>
                <a:cubicBezTo>
                  <a:pt x="4921250" y="638320"/>
                  <a:pt x="4892820" y="666750"/>
                  <a:pt x="48577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49875" y="306784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8" name="Text 36"/>
          <p:cNvSpPr/>
          <p:nvPr/>
        </p:nvSpPr>
        <p:spPr>
          <a:xfrm>
            <a:off x="3765285" y="3036092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تطابق با سبک پاسخ Gemini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25500" y="3290092"/>
            <a:ext cx="4722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875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Adaptation to Gemini's response patterns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98500" y="3671092"/>
            <a:ext cx="4921250" cy="666750"/>
          </a:xfrm>
          <a:custGeom>
            <a:avLst/>
            <a:gdLst/>
            <a:ahLst/>
            <a:cxnLst/>
            <a:rect l="l" t="t" r="r" b="b"/>
            <a:pathLst>
              <a:path w="4921250" h="666750">
                <a:moveTo>
                  <a:pt x="63501" y="0"/>
                </a:moveTo>
                <a:lnTo>
                  <a:pt x="4857749" y="0"/>
                </a:lnTo>
                <a:cubicBezTo>
                  <a:pt x="4892820" y="0"/>
                  <a:pt x="4921250" y="28430"/>
                  <a:pt x="4921250" y="63501"/>
                </a:cubicBezTo>
                <a:lnTo>
                  <a:pt x="4921250" y="603249"/>
                </a:lnTo>
                <a:cubicBezTo>
                  <a:pt x="4921250" y="638320"/>
                  <a:pt x="4892820" y="666750"/>
                  <a:pt x="48577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349875" y="382984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42" name="Text 40"/>
          <p:cNvSpPr/>
          <p:nvPr/>
        </p:nvSpPr>
        <p:spPr>
          <a:xfrm>
            <a:off x="4278048" y="3798092"/>
            <a:ext cx="105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بهبود استخراج داده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5500" y="4052092"/>
            <a:ext cx="4722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875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Enhanced data extraction accuracy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98500" y="4433092"/>
            <a:ext cx="4921250" cy="666750"/>
          </a:xfrm>
          <a:custGeom>
            <a:avLst/>
            <a:gdLst/>
            <a:ahLst/>
            <a:cxnLst/>
            <a:rect l="l" t="t" r="r" b="b"/>
            <a:pathLst>
              <a:path w="4921250" h="666750">
                <a:moveTo>
                  <a:pt x="63501" y="0"/>
                </a:moveTo>
                <a:lnTo>
                  <a:pt x="4857749" y="0"/>
                </a:lnTo>
                <a:cubicBezTo>
                  <a:pt x="4892820" y="0"/>
                  <a:pt x="4921250" y="28430"/>
                  <a:pt x="4921250" y="63501"/>
                </a:cubicBezTo>
                <a:lnTo>
                  <a:pt x="4921250" y="603249"/>
                </a:lnTo>
                <a:cubicBezTo>
                  <a:pt x="4921250" y="638320"/>
                  <a:pt x="4892820" y="666750"/>
                  <a:pt x="48577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349875" y="459184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46" name="Text 44"/>
          <p:cNvSpPr/>
          <p:nvPr/>
        </p:nvSpPr>
        <p:spPr>
          <a:xfrm>
            <a:off x="4246298" y="4560092"/>
            <a:ext cx="1087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کاهش خطای فرمت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25500" y="4814092"/>
            <a:ext cx="4722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875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Reduced format parsing errors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600" y="495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1A535C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430000" y="64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094537" y="381000"/>
            <a:ext cx="41021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80000"/>
              </a:lnSpc>
            </a:pPr>
            <a:r>
              <a:rPr lang="en-US" sz="36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معماری سیستم و دمو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94537" y="876300"/>
            <a:ext cx="412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50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System Architecture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1000" y="1371600"/>
            <a:ext cx="11430000" cy="3657600"/>
          </a:xfrm>
          <a:custGeom>
            <a:avLst/>
            <a:gdLst/>
            <a:ahLst/>
            <a:cxnLst/>
            <a:rect l="l" t="t" r="r" b="b"/>
            <a:pathLst>
              <a:path w="11430000" h="3657600">
                <a:moveTo>
                  <a:pt x="152412" y="0"/>
                </a:moveTo>
                <a:lnTo>
                  <a:pt x="11277588" y="0"/>
                </a:lnTo>
                <a:cubicBezTo>
                  <a:pt x="11361763" y="0"/>
                  <a:pt x="11430000" y="68237"/>
                  <a:pt x="11430000" y="152412"/>
                </a:cubicBezTo>
                <a:lnTo>
                  <a:pt x="11430000" y="3505188"/>
                </a:lnTo>
                <a:cubicBezTo>
                  <a:pt x="11430000" y="3589363"/>
                  <a:pt x="11361763" y="3657600"/>
                  <a:pt x="11277588" y="3657600"/>
                </a:cubicBezTo>
                <a:lnTo>
                  <a:pt x="152412" y="3657600"/>
                </a:lnTo>
                <a:cubicBezTo>
                  <a:pt x="68237" y="3657600"/>
                  <a:pt x="0" y="3589363"/>
                  <a:pt x="0" y="35051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2450" y="1600200"/>
            <a:ext cx="1108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دیاگرام ارتباطی سیستم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210800" y="21336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152403" y="0"/>
                </a:moveTo>
                <a:lnTo>
                  <a:pt x="914397" y="0"/>
                </a:lnTo>
                <a:cubicBezTo>
                  <a:pt x="998567" y="0"/>
                  <a:pt x="1066800" y="68233"/>
                  <a:pt x="1066800" y="152403"/>
                </a:cubicBezTo>
                <a:lnTo>
                  <a:pt x="1066800" y="914397"/>
                </a:lnTo>
                <a:cubicBezTo>
                  <a:pt x="1066800" y="998567"/>
                  <a:pt x="998567" y="1066800"/>
                  <a:pt x="914397" y="1066800"/>
                </a:cubicBezTo>
                <a:lnTo>
                  <a:pt x="152403" y="1066800"/>
                </a:lnTo>
                <a:cubicBezTo>
                  <a:pt x="68233" y="1066800"/>
                  <a:pt x="0" y="998567"/>
                  <a:pt x="0" y="9143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1A535C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44175" y="24384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92728" y="179040"/>
                </a:moveTo>
                <a:cubicBezTo>
                  <a:pt x="385852" y="151448"/>
                  <a:pt x="372814" y="130641"/>
                  <a:pt x="345043" y="130641"/>
                </a:cubicBezTo>
                <a:lnTo>
                  <a:pt x="309235" y="130641"/>
                </a:lnTo>
                <a:lnTo>
                  <a:pt x="309235" y="172968"/>
                </a:lnTo>
                <a:cubicBezTo>
                  <a:pt x="309235" y="205829"/>
                  <a:pt x="281374" y="233511"/>
                  <a:pt x="249585" y="233511"/>
                </a:cubicBezTo>
                <a:lnTo>
                  <a:pt x="154216" y="233511"/>
                </a:lnTo>
                <a:cubicBezTo>
                  <a:pt x="128141" y="233511"/>
                  <a:pt x="106531" y="255836"/>
                  <a:pt x="106531" y="282000"/>
                </a:cubicBezTo>
                <a:lnTo>
                  <a:pt x="106531" y="372904"/>
                </a:lnTo>
                <a:cubicBezTo>
                  <a:pt x="106531" y="398800"/>
                  <a:pt x="129034" y="413980"/>
                  <a:pt x="154216" y="421392"/>
                </a:cubicBezTo>
                <a:cubicBezTo>
                  <a:pt x="184398" y="430232"/>
                  <a:pt x="213420" y="431840"/>
                  <a:pt x="249585" y="421392"/>
                </a:cubicBezTo>
                <a:cubicBezTo>
                  <a:pt x="273606" y="414427"/>
                  <a:pt x="297269" y="400407"/>
                  <a:pt x="297269" y="372904"/>
                </a:cubicBezTo>
                <a:lnTo>
                  <a:pt x="297269" y="336560"/>
                </a:lnTo>
                <a:lnTo>
                  <a:pt x="201990" y="336560"/>
                </a:lnTo>
                <a:lnTo>
                  <a:pt x="201990" y="324416"/>
                </a:lnTo>
                <a:lnTo>
                  <a:pt x="345043" y="324416"/>
                </a:lnTo>
                <a:cubicBezTo>
                  <a:pt x="372814" y="324416"/>
                  <a:pt x="383084" y="305038"/>
                  <a:pt x="392728" y="276017"/>
                </a:cubicBezTo>
                <a:cubicBezTo>
                  <a:pt x="402729" y="246102"/>
                  <a:pt x="402282" y="217349"/>
                  <a:pt x="392728" y="179040"/>
                </a:cubicBezTo>
                <a:close/>
                <a:moveTo>
                  <a:pt x="255568" y="397103"/>
                </a:moveTo>
                <a:cubicBezTo>
                  <a:pt x="248771" y="397580"/>
                  <a:pt x="242277" y="394224"/>
                  <a:pt x="238734" y="388405"/>
                </a:cubicBezTo>
                <a:cubicBezTo>
                  <a:pt x="235191" y="382586"/>
                  <a:pt x="235191" y="375276"/>
                  <a:pt x="238734" y="369457"/>
                </a:cubicBezTo>
                <a:cubicBezTo>
                  <a:pt x="242277" y="363638"/>
                  <a:pt x="248771" y="360283"/>
                  <a:pt x="255568" y="360759"/>
                </a:cubicBezTo>
                <a:cubicBezTo>
                  <a:pt x="262364" y="360283"/>
                  <a:pt x="268858" y="363638"/>
                  <a:pt x="272401" y="369457"/>
                </a:cubicBezTo>
                <a:cubicBezTo>
                  <a:pt x="275945" y="375276"/>
                  <a:pt x="275945" y="382586"/>
                  <a:pt x="272401" y="388405"/>
                </a:cubicBezTo>
                <a:cubicBezTo>
                  <a:pt x="268858" y="394224"/>
                  <a:pt x="262364" y="397580"/>
                  <a:pt x="255568" y="397103"/>
                </a:cubicBezTo>
                <a:close/>
                <a:moveTo>
                  <a:pt x="149840" y="221546"/>
                </a:moveTo>
                <a:lnTo>
                  <a:pt x="245209" y="221546"/>
                </a:lnTo>
                <a:cubicBezTo>
                  <a:pt x="271730" y="221546"/>
                  <a:pt x="292894" y="199668"/>
                  <a:pt x="292894" y="173057"/>
                </a:cubicBezTo>
                <a:lnTo>
                  <a:pt x="292894" y="82064"/>
                </a:lnTo>
                <a:cubicBezTo>
                  <a:pt x="292894" y="56168"/>
                  <a:pt x="271105" y="36790"/>
                  <a:pt x="245209" y="32415"/>
                </a:cubicBezTo>
                <a:cubicBezTo>
                  <a:pt x="213241" y="27146"/>
                  <a:pt x="178504" y="27414"/>
                  <a:pt x="149840" y="32504"/>
                </a:cubicBezTo>
                <a:cubicBezTo>
                  <a:pt x="109478" y="39648"/>
                  <a:pt x="102156" y="54560"/>
                  <a:pt x="102156" y="82153"/>
                </a:cubicBezTo>
                <a:lnTo>
                  <a:pt x="102156" y="118497"/>
                </a:lnTo>
                <a:lnTo>
                  <a:pt x="197614" y="118497"/>
                </a:lnTo>
                <a:lnTo>
                  <a:pt x="197614" y="130641"/>
                </a:lnTo>
                <a:lnTo>
                  <a:pt x="66348" y="130641"/>
                </a:lnTo>
                <a:cubicBezTo>
                  <a:pt x="38576" y="130641"/>
                  <a:pt x="14288" y="147340"/>
                  <a:pt x="6697" y="179040"/>
                </a:cubicBezTo>
                <a:cubicBezTo>
                  <a:pt x="-2054" y="215384"/>
                  <a:pt x="-2411" y="238065"/>
                  <a:pt x="6697" y="276017"/>
                </a:cubicBezTo>
                <a:cubicBezTo>
                  <a:pt x="13484" y="304234"/>
                  <a:pt x="29647" y="324416"/>
                  <a:pt x="57418" y="324416"/>
                </a:cubicBezTo>
                <a:lnTo>
                  <a:pt x="90190" y="324416"/>
                </a:lnTo>
                <a:lnTo>
                  <a:pt x="90190" y="280839"/>
                </a:lnTo>
                <a:cubicBezTo>
                  <a:pt x="90190" y="249317"/>
                  <a:pt x="117425" y="221546"/>
                  <a:pt x="149840" y="221546"/>
                </a:cubicBezTo>
                <a:close/>
                <a:moveTo>
                  <a:pt x="143947" y="57775"/>
                </a:moveTo>
                <a:cubicBezTo>
                  <a:pt x="154001" y="57775"/>
                  <a:pt x="162163" y="65938"/>
                  <a:pt x="162163" y="75992"/>
                </a:cubicBezTo>
                <a:cubicBezTo>
                  <a:pt x="162163" y="86046"/>
                  <a:pt x="154001" y="94208"/>
                  <a:pt x="143947" y="94208"/>
                </a:cubicBezTo>
                <a:cubicBezTo>
                  <a:pt x="133893" y="94208"/>
                  <a:pt x="125730" y="86046"/>
                  <a:pt x="125730" y="75992"/>
                </a:cubicBezTo>
                <a:cubicBezTo>
                  <a:pt x="125730" y="65938"/>
                  <a:pt x="133893" y="57775"/>
                  <a:pt x="143947" y="577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163175" y="335280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main.py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172700" y="3619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Python Client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210800" y="3962400"/>
            <a:ext cx="1066800" cy="342900"/>
          </a:xfrm>
          <a:custGeom>
            <a:avLst/>
            <a:gdLst/>
            <a:ahLst/>
            <a:cxnLst/>
            <a:rect l="l" t="t" r="r" b="b"/>
            <a:pathLst>
              <a:path w="1066800" h="342900">
                <a:moveTo>
                  <a:pt x="76199" y="0"/>
                </a:moveTo>
                <a:lnTo>
                  <a:pt x="990601" y="0"/>
                </a:lnTo>
                <a:cubicBezTo>
                  <a:pt x="1032684" y="0"/>
                  <a:pt x="1066800" y="34116"/>
                  <a:pt x="1066800" y="76199"/>
                </a:cubicBezTo>
                <a:lnTo>
                  <a:pt x="1066800" y="266701"/>
                </a:lnTo>
                <a:cubicBezTo>
                  <a:pt x="1066800" y="308784"/>
                  <a:pt x="1032684" y="342900"/>
                  <a:pt x="9906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291763" y="40386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agents.py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210800" y="4381500"/>
            <a:ext cx="1066800" cy="342900"/>
          </a:xfrm>
          <a:custGeom>
            <a:avLst/>
            <a:gdLst/>
            <a:ahLst/>
            <a:cxnLst/>
            <a:rect l="l" t="t" r="r" b="b"/>
            <a:pathLst>
              <a:path w="1066800" h="342900">
                <a:moveTo>
                  <a:pt x="76199" y="0"/>
                </a:moveTo>
                <a:lnTo>
                  <a:pt x="990601" y="0"/>
                </a:lnTo>
                <a:cubicBezTo>
                  <a:pt x="1032684" y="0"/>
                  <a:pt x="1066800" y="34116"/>
                  <a:pt x="1066800" y="76199"/>
                </a:cubicBezTo>
                <a:lnTo>
                  <a:pt x="1066800" y="266701"/>
                </a:lnTo>
                <a:cubicBezTo>
                  <a:pt x="1066800" y="308784"/>
                  <a:pt x="1032684" y="342900"/>
                  <a:pt x="9906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10291763" y="44577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templates.py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46445" y="25336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4811" y="27717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-17859"/>
                </a:moveTo>
                <a:cubicBezTo>
                  <a:pt x="81316" y="-17859"/>
                  <a:pt x="89297" y="-9878"/>
                  <a:pt x="89297" y="0"/>
                </a:cubicBezTo>
                <a:lnTo>
                  <a:pt x="89297" y="53578"/>
                </a:lnTo>
                <a:lnTo>
                  <a:pt x="160734" y="53578"/>
                </a:lnTo>
                <a:lnTo>
                  <a:pt x="160734" y="0"/>
                </a:lnTo>
                <a:cubicBezTo>
                  <a:pt x="160734" y="-9878"/>
                  <a:pt x="168715" y="-17859"/>
                  <a:pt x="178594" y="-17859"/>
                </a:cubicBezTo>
                <a:cubicBezTo>
                  <a:pt x="188472" y="-17859"/>
                  <a:pt x="196453" y="-9878"/>
                  <a:pt x="196453" y="0"/>
                </a:cubicBezTo>
                <a:lnTo>
                  <a:pt x="196453" y="53578"/>
                </a:ln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cubicBezTo>
                  <a:pt x="250031" y="81316"/>
                  <a:pt x="242050" y="89297"/>
                  <a:pt x="232172" y="89297"/>
                </a:cubicBezTo>
                <a:lnTo>
                  <a:pt x="232172" y="125016"/>
                </a:lnTo>
                <a:cubicBezTo>
                  <a:pt x="232172" y="178091"/>
                  <a:pt x="193551" y="222182"/>
                  <a:pt x="142875" y="230665"/>
                </a:cubicBezTo>
                <a:lnTo>
                  <a:pt x="142875" y="267891"/>
                </a:lnTo>
                <a:cubicBezTo>
                  <a:pt x="142875" y="277769"/>
                  <a:pt x="134894" y="285750"/>
                  <a:pt x="125016" y="285750"/>
                </a:cubicBezTo>
                <a:cubicBezTo>
                  <a:pt x="115137" y="285750"/>
                  <a:pt x="107156" y="277769"/>
                  <a:pt x="107156" y="267891"/>
                </a:cubicBezTo>
                <a:lnTo>
                  <a:pt x="107156" y="230665"/>
                </a:lnTo>
                <a:cubicBezTo>
                  <a:pt x="56480" y="222182"/>
                  <a:pt x="17859" y="178091"/>
                  <a:pt x="17859" y="125016"/>
                </a:cubicBezTo>
                <a:lnTo>
                  <a:pt x="17859" y="89297"/>
                </a:lnTo>
                <a:cubicBezTo>
                  <a:pt x="7981" y="89297"/>
                  <a:pt x="0" y="81316"/>
                  <a:pt x="0" y="71438"/>
                </a:cubicBezTo>
                <a:cubicBezTo>
                  <a:pt x="0" y="61559"/>
                  <a:pt x="7981" y="53578"/>
                  <a:pt x="17859" y="53578"/>
                </a:cubicBezTo>
                <a:lnTo>
                  <a:pt x="53578" y="53578"/>
                </a:lnTo>
                <a:lnTo>
                  <a:pt x="53578" y="0"/>
                </a:lnTo>
                <a:cubicBezTo>
                  <a:pt x="53578" y="-9878"/>
                  <a:pt x="61559" y="-17859"/>
                  <a:pt x="71438" y="-178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084570" y="3409950"/>
            <a:ext cx="37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6B6B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Py4J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22010" y="367665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Gateway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384959" y="3981450"/>
            <a:ext cx="1685925" cy="342900"/>
          </a:xfrm>
          <a:custGeom>
            <a:avLst/>
            <a:gdLst/>
            <a:ahLst/>
            <a:cxnLst/>
            <a:rect l="l" t="t" r="r" b="b"/>
            <a:pathLst>
              <a:path w="1685925" h="342900">
                <a:moveTo>
                  <a:pt x="76199" y="0"/>
                </a:moveTo>
                <a:lnTo>
                  <a:pt x="1609726" y="0"/>
                </a:lnTo>
                <a:cubicBezTo>
                  <a:pt x="1651809" y="0"/>
                  <a:pt x="1685925" y="34116"/>
                  <a:pt x="1685925" y="76199"/>
                </a:cubicBezTo>
                <a:lnTo>
                  <a:pt x="1685925" y="266701"/>
                </a:lnTo>
                <a:cubicBezTo>
                  <a:pt x="1685925" y="308784"/>
                  <a:pt x="1651809" y="342900"/>
                  <a:pt x="16097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5537359" y="4057650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connection_handler.py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45845" y="21336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152403" y="0"/>
                </a:moveTo>
                <a:lnTo>
                  <a:pt x="914397" y="0"/>
                </a:lnTo>
                <a:cubicBezTo>
                  <a:pt x="998567" y="0"/>
                  <a:pt x="1066800" y="68233"/>
                  <a:pt x="1066800" y="152403"/>
                </a:cubicBezTo>
                <a:lnTo>
                  <a:pt x="1066800" y="914397"/>
                </a:lnTo>
                <a:cubicBezTo>
                  <a:pt x="1066800" y="998567"/>
                  <a:pt x="998567" y="1066800"/>
                  <a:pt x="914397" y="1066800"/>
                </a:cubicBezTo>
                <a:lnTo>
                  <a:pt x="152403" y="1066800"/>
                </a:lnTo>
                <a:cubicBezTo>
                  <a:pt x="68233" y="1066800"/>
                  <a:pt x="0" y="998567"/>
                  <a:pt x="0" y="9143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4A6C7C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407795" y="24384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48067" y="279410"/>
                </a:moveTo>
                <a:cubicBezTo>
                  <a:pt x="256818" y="273427"/>
                  <a:pt x="268962" y="268248"/>
                  <a:pt x="268962" y="268248"/>
                </a:cubicBezTo>
                <a:cubicBezTo>
                  <a:pt x="268962" y="268248"/>
                  <a:pt x="234404" y="274499"/>
                  <a:pt x="200025" y="277356"/>
                </a:cubicBezTo>
                <a:cubicBezTo>
                  <a:pt x="157966" y="280839"/>
                  <a:pt x="112782" y="281553"/>
                  <a:pt x="90101" y="278517"/>
                </a:cubicBezTo>
                <a:cubicBezTo>
                  <a:pt x="36433" y="271373"/>
                  <a:pt x="119569" y="251639"/>
                  <a:pt x="119569" y="251639"/>
                </a:cubicBezTo>
                <a:cubicBezTo>
                  <a:pt x="119569" y="251639"/>
                  <a:pt x="87332" y="249495"/>
                  <a:pt x="47595" y="268605"/>
                </a:cubicBezTo>
                <a:cubicBezTo>
                  <a:pt x="714" y="291286"/>
                  <a:pt x="163681" y="301645"/>
                  <a:pt x="248067" y="279410"/>
                </a:cubicBezTo>
                <a:close/>
                <a:moveTo>
                  <a:pt x="171807" y="250746"/>
                </a:moveTo>
                <a:cubicBezTo>
                  <a:pt x="154841" y="212616"/>
                  <a:pt x="97601" y="179130"/>
                  <a:pt x="171807" y="120551"/>
                </a:cubicBezTo>
                <a:cubicBezTo>
                  <a:pt x="264408" y="47506"/>
                  <a:pt x="216902" y="0"/>
                  <a:pt x="216902" y="0"/>
                </a:cubicBezTo>
                <a:cubicBezTo>
                  <a:pt x="236101" y="75456"/>
                  <a:pt x="149394" y="98316"/>
                  <a:pt x="118050" y="145197"/>
                </a:cubicBezTo>
                <a:cubicBezTo>
                  <a:pt x="96709" y="177254"/>
                  <a:pt x="128498" y="211634"/>
                  <a:pt x="171807" y="250746"/>
                </a:cubicBezTo>
                <a:close/>
                <a:moveTo>
                  <a:pt x="274141" y="93405"/>
                </a:moveTo>
                <a:cubicBezTo>
                  <a:pt x="274231" y="93405"/>
                  <a:pt x="117693" y="132517"/>
                  <a:pt x="192435" y="218599"/>
                </a:cubicBezTo>
                <a:cubicBezTo>
                  <a:pt x="214491" y="243959"/>
                  <a:pt x="186630" y="266819"/>
                  <a:pt x="186630" y="266819"/>
                </a:cubicBezTo>
                <a:cubicBezTo>
                  <a:pt x="186630" y="266819"/>
                  <a:pt x="242620" y="237887"/>
                  <a:pt x="216902" y="201722"/>
                </a:cubicBezTo>
                <a:cubicBezTo>
                  <a:pt x="192881" y="167967"/>
                  <a:pt x="174486" y="151180"/>
                  <a:pt x="274141" y="93405"/>
                </a:cubicBezTo>
                <a:close/>
                <a:moveTo>
                  <a:pt x="268694" y="334953"/>
                </a:moveTo>
                <a:cubicBezTo>
                  <a:pt x="268248" y="335846"/>
                  <a:pt x="267623" y="336560"/>
                  <a:pt x="266908" y="337274"/>
                </a:cubicBezTo>
                <a:cubicBezTo>
                  <a:pt x="381476" y="307181"/>
                  <a:pt x="339328" y="231100"/>
                  <a:pt x="284589" y="250388"/>
                </a:cubicBezTo>
                <a:cubicBezTo>
                  <a:pt x="281642" y="251460"/>
                  <a:pt x="279053" y="253425"/>
                  <a:pt x="277267" y="256014"/>
                </a:cubicBezTo>
                <a:cubicBezTo>
                  <a:pt x="280481" y="254853"/>
                  <a:pt x="283785" y="253960"/>
                  <a:pt x="287089" y="253335"/>
                </a:cubicBezTo>
                <a:cubicBezTo>
                  <a:pt x="314771" y="247531"/>
                  <a:pt x="354509" y="290393"/>
                  <a:pt x="268694" y="334953"/>
                </a:cubicBezTo>
                <a:close/>
                <a:moveTo>
                  <a:pt x="310753" y="390585"/>
                </a:moveTo>
                <a:cubicBezTo>
                  <a:pt x="310753" y="390585"/>
                  <a:pt x="323701" y="401211"/>
                  <a:pt x="296555" y="409515"/>
                </a:cubicBezTo>
                <a:cubicBezTo>
                  <a:pt x="244852" y="425142"/>
                  <a:pt x="81528" y="429875"/>
                  <a:pt x="36165" y="410141"/>
                </a:cubicBezTo>
                <a:cubicBezTo>
                  <a:pt x="19824" y="403086"/>
                  <a:pt x="50453" y="393174"/>
                  <a:pt x="60097" y="391120"/>
                </a:cubicBezTo>
                <a:cubicBezTo>
                  <a:pt x="70098" y="388977"/>
                  <a:pt x="75902" y="389334"/>
                  <a:pt x="75902" y="389334"/>
                </a:cubicBezTo>
                <a:cubicBezTo>
                  <a:pt x="57775" y="376565"/>
                  <a:pt x="-41344" y="414427"/>
                  <a:pt x="25539" y="425232"/>
                </a:cubicBezTo>
                <a:cubicBezTo>
                  <a:pt x="207883" y="454878"/>
                  <a:pt x="358080" y="411926"/>
                  <a:pt x="310753" y="390585"/>
                </a:cubicBezTo>
                <a:close/>
                <a:moveTo>
                  <a:pt x="111175" y="353616"/>
                </a:moveTo>
                <a:cubicBezTo>
                  <a:pt x="40898" y="373261"/>
                  <a:pt x="153948" y="413802"/>
                  <a:pt x="243423" y="375493"/>
                </a:cubicBezTo>
                <a:cubicBezTo>
                  <a:pt x="234672" y="372100"/>
                  <a:pt x="226278" y="367992"/>
                  <a:pt x="218242" y="363170"/>
                </a:cubicBezTo>
                <a:cubicBezTo>
                  <a:pt x="178326" y="370761"/>
                  <a:pt x="159841" y="371296"/>
                  <a:pt x="123587" y="367189"/>
                </a:cubicBezTo>
                <a:cubicBezTo>
                  <a:pt x="93672" y="363795"/>
                  <a:pt x="111175" y="353616"/>
                  <a:pt x="111175" y="353616"/>
                </a:cubicBezTo>
                <a:close/>
                <a:moveTo>
                  <a:pt x="271730" y="440412"/>
                </a:moveTo>
                <a:cubicBezTo>
                  <a:pt x="201454" y="453628"/>
                  <a:pt x="114746" y="452110"/>
                  <a:pt x="63401" y="443627"/>
                </a:cubicBezTo>
                <a:cubicBezTo>
                  <a:pt x="63401" y="443538"/>
                  <a:pt x="73938" y="452289"/>
                  <a:pt x="128052" y="455771"/>
                </a:cubicBezTo>
                <a:cubicBezTo>
                  <a:pt x="210383" y="461040"/>
                  <a:pt x="336828" y="452824"/>
                  <a:pt x="339775" y="413891"/>
                </a:cubicBezTo>
                <a:cubicBezTo>
                  <a:pt x="339775" y="413891"/>
                  <a:pt x="334060" y="428625"/>
                  <a:pt x="271730" y="440412"/>
                </a:cubicBezTo>
                <a:close/>
                <a:moveTo>
                  <a:pt x="232797" y="315218"/>
                </a:moveTo>
                <a:cubicBezTo>
                  <a:pt x="179933" y="325398"/>
                  <a:pt x="149304" y="325130"/>
                  <a:pt x="110639" y="321112"/>
                </a:cubicBezTo>
                <a:cubicBezTo>
                  <a:pt x="80724" y="317986"/>
                  <a:pt x="100280" y="303520"/>
                  <a:pt x="100280" y="303520"/>
                </a:cubicBezTo>
                <a:cubicBezTo>
                  <a:pt x="22771" y="329238"/>
                  <a:pt x="143321" y="358348"/>
                  <a:pt x="251639" y="326648"/>
                </a:cubicBezTo>
                <a:cubicBezTo>
                  <a:pt x="244673" y="324148"/>
                  <a:pt x="238244" y="320308"/>
                  <a:pt x="232797" y="31521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66775" y="33528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DataCenter.java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76300" y="3619500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Java Server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14400" y="3962400"/>
            <a:ext cx="1333500" cy="342900"/>
          </a:xfrm>
          <a:custGeom>
            <a:avLst/>
            <a:gdLst/>
            <a:ahLst/>
            <a:cxnLst/>
            <a:rect l="l" t="t" r="r" b="b"/>
            <a:pathLst>
              <a:path w="1333500" h="342900">
                <a:moveTo>
                  <a:pt x="76199" y="0"/>
                </a:moveTo>
                <a:lnTo>
                  <a:pt x="1257301" y="0"/>
                </a:lnTo>
                <a:cubicBezTo>
                  <a:pt x="1299384" y="0"/>
                  <a:pt x="1333500" y="34116"/>
                  <a:pt x="1333500" y="76199"/>
                </a:cubicBezTo>
                <a:lnTo>
                  <a:pt x="1333500" y="266701"/>
                </a:lnTo>
                <a:cubicBezTo>
                  <a:pt x="1333500" y="308784"/>
                  <a:pt x="1299384" y="342900"/>
                  <a:pt x="12573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995363" y="4038600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CRAFTY Model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14400" y="4381500"/>
            <a:ext cx="1333500" cy="342900"/>
          </a:xfrm>
          <a:custGeom>
            <a:avLst/>
            <a:gdLst/>
            <a:ahLst/>
            <a:cxnLst/>
            <a:rect l="l" t="t" r="r" b="b"/>
            <a:pathLst>
              <a:path w="1333500" h="342900">
                <a:moveTo>
                  <a:pt x="76199" y="0"/>
                </a:moveTo>
                <a:lnTo>
                  <a:pt x="1257301" y="0"/>
                </a:lnTo>
                <a:cubicBezTo>
                  <a:pt x="1299384" y="0"/>
                  <a:pt x="1333500" y="34116"/>
                  <a:pt x="1333500" y="76199"/>
                </a:cubicBezTo>
                <a:lnTo>
                  <a:pt x="1333500" y="266701"/>
                </a:lnTo>
                <a:cubicBezTo>
                  <a:pt x="1333500" y="308784"/>
                  <a:pt x="1299384" y="342900"/>
                  <a:pt x="12573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995363" y="4457700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Simulation Engine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191250" y="5219700"/>
            <a:ext cx="5619750" cy="1257300"/>
          </a:xfrm>
          <a:custGeom>
            <a:avLst/>
            <a:gdLst/>
            <a:ahLst/>
            <a:cxnLst/>
            <a:rect l="l" t="t" r="r" b="b"/>
            <a:pathLst>
              <a:path w="5619750" h="1257300">
                <a:moveTo>
                  <a:pt x="152397" y="0"/>
                </a:moveTo>
                <a:lnTo>
                  <a:pt x="5467353" y="0"/>
                </a:lnTo>
                <a:cubicBezTo>
                  <a:pt x="5551519" y="0"/>
                  <a:pt x="5619750" y="68231"/>
                  <a:pt x="5619750" y="152397"/>
                </a:cubicBezTo>
                <a:lnTo>
                  <a:pt x="5619750" y="1104903"/>
                </a:lnTo>
                <a:cubicBezTo>
                  <a:pt x="5619750" y="1189069"/>
                  <a:pt x="5551519" y="1257300"/>
                  <a:pt x="5467353" y="1257300"/>
                </a:cubicBezTo>
                <a:lnTo>
                  <a:pt x="152397" y="1257300"/>
                </a:lnTo>
                <a:cubicBezTo>
                  <a:pt x="68231" y="1257300"/>
                  <a:pt x="0" y="1189069"/>
                  <a:pt x="0" y="1104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1363325" y="5429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2" name="Text 30"/>
          <p:cNvSpPr/>
          <p:nvPr/>
        </p:nvSpPr>
        <p:spPr>
          <a:xfrm>
            <a:off x="10599896" y="5410200"/>
            <a:ext cx="71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کنترلرها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81750" y="579120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نقش </a:t>
            </a:r>
            <a:r>
              <a:rPr lang="en-US" sz="1200" b="1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connection_handler.py</a:t>
            </a:r>
            <a:r>
              <a:rPr lang="fa-IR" sz="1200" b="1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در مدیریت پایداری اتصال بین دو زبان برنامه‌نویسی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81000" y="5219700"/>
            <a:ext cx="5619750" cy="1257300"/>
          </a:xfrm>
          <a:custGeom>
            <a:avLst/>
            <a:gdLst/>
            <a:ahLst/>
            <a:cxnLst/>
            <a:rect l="l" t="t" r="r" b="b"/>
            <a:pathLst>
              <a:path w="5619750" h="1257300">
                <a:moveTo>
                  <a:pt x="152397" y="0"/>
                </a:moveTo>
                <a:lnTo>
                  <a:pt x="5467353" y="0"/>
                </a:lnTo>
                <a:cubicBezTo>
                  <a:pt x="5551519" y="0"/>
                  <a:pt x="5619750" y="68231"/>
                  <a:pt x="5619750" y="152397"/>
                </a:cubicBezTo>
                <a:lnTo>
                  <a:pt x="5619750" y="1104903"/>
                </a:lnTo>
                <a:cubicBezTo>
                  <a:pt x="5619750" y="1189069"/>
                  <a:pt x="5551519" y="1257300"/>
                  <a:pt x="5467353" y="1257300"/>
                </a:cubicBezTo>
                <a:lnTo>
                  <a:pt x="152397" y="1257300"/>
                </a:lnTo>
                <a:cubicBezTo>
                  <a:pt x="68231" y="1257300"/>
                  <a:pt x="0" y="1189069"/>
                  <a:pt x="0" y="1104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24500" y="54292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60722" y="57150"/>
                </a:moveTo>
                <a:cubicBezTo>
                  <a:pt x="60722" y="27579"/>
                  <a:pt x="84729" y="3572"/>
                  <a:pt x="114300" y="3572"/>
                </a:cubicBezTo>
                <a:cubicBezTo>
                  <a:pt x="143871" y="3572"/>
                  <a:pt x="167878" y="27579"/>
                  <a:pt x="167878" y="57150"/>
                </a:cubicBezTo>
                <a:cubicBezTo>
                  <a:pt x="167878" y="86721"/>
                  <a:pt x="143871" y="110728"/>
                  <a:pt x="114300" y="110728"/>
                </a:cubicBezTo>
                <a:cubicBezTo>
                  <a:pt x="84729" y="110728"/>
                  <a:pt x="60722" y="86721"/>
                  <a:pt x="60722" y="57150"/>
                </a:cubicBezTo>
                <a:close/>
                <a:moveTo>
                  <a:pt x="21431" y="215339"/>
                </a:moveTo>
                <a:cubicBezTo>
                  <a:pt x="21431" y="171361"/>
                  <a:pt x="57061" y="135731"/>
                  <a:pt x="101039" y="135731"/>
                </a:cubicBezTo>
                <a:lnTo>
                  <a:pt x="127561" y="135731"/>
                </a:lnTo>
                <a:cubicBezTo>
                  <a:pt x="171539" y="135731"/>
                  <a:pt x="207169" y="171361"/>
                  <a:pt x="207169" y="215339"/>
                </a:cubicBezTo>
                <a:cubicBezTo>
                  <a:pt x="207169" y="222662"/>
                  <a:pt x="201231" y="228600"/>
                  <a:pt x="193908" y="228600"/>
                </a:cubicBezTo>
                <a:lnTo>
                  <a:pt x="34692" y="228600"/>
                </a:lnTo>
                <a:cubicBezTo>
                  <a:pt x="27369" y="228600"/>
                  <a:pt x="21431" y="222662"/>
                  <a:pt x="21431" y="215339"/>
                </a:cubicBezTo>
                <a:close/>
                <a:moveTo>
                  <a:pt x="273427" y="59248"/>
                </a:moveTo>
                <a:lnTo>
                  <a:pt x="237708" y="116398"/>
                </a:lnTo>
                <a:cubicBezTo>
                  <a:pt x="235833" y="119390"/>
                  <a:pt x="232618" y="121265"/>
                  <a:pt x="229091" y="121444"/>
                </a:cubicBezTo>
                <a:cubicBezTo>
                  <a:pt x="225564" y="121622"/>
                  <a:pt x="222171" y="120015"/>
                  <a:pt x="220072" y="117157"/>
                </a:cubicBezTo>
                <a:lnTo>
                  <a:pt x="198641" y="88582"/>
                </a:lnTo>
                <a:cubicBezTo>
                  <a:pt x="195069" y="83850"/>
                  <a:pt x="196051" y="77152"/>
                  <a:pt x="200784" y="73581"/>
                </a:cubicBezTo>
                <a:cubicBezTo>
                  <a:pt x="205517" y="70009"/>
                  <a:pt x="212214" y="70991"/>
                  <a:pt x="215786" y="75724"/>
                </a:cubicBezTo>
                <a:lnTo>
                  <a:pt x="227841" y="91797"/>
                </a:lnTo>
                <a:lnTo>
                  <a:pt x="255255" y="47908"/>
                </a:lnTo>
                <a:cubicBezTo>
                  <a:pt x="258381" y="42907"/>
                  <a:pt x="264988" y="41344"/>
                  <a:pt x="270034" y="44514"/>
                </a:cubicBezTo>
                <a:cubicBezTo>
                  <a:pt x="275079" y="47685"/>
                  <a:pt x="276597" y="54248"/>
                  <a:pt x="273427" y="5929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6" name="Text 34"/>
          <p:cNvSpPr/>
          <p:nvPr/>
        </p:nvSpPr>
        <p:spPr>
          <a:xfrm>
            <a:off x="3914775" y="5410200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500" b="1" dirty="0" err="1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انسان</a:t>
            </a:r>
            <a:r>
              <a:rPr lang="en-US" sz="15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در</a:t>
            </a:r>
            <a:r>
              <a:rPr lang="en-US" sz="15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چرخه</a:t>
            </a:r>
            <a:r>
              <a:rPr lang="fa-IR" sz="15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 (</a:t>
            </a:r>
            <a:r>
              <a:rPr lang="en-US" sz="15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HIL</a:t>
            </a:r>
            <a:r>
              <a:rPr lang="fa-IR" sz="15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71500" y="5791200"/>
            <a:ext cx="5314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قابلیت </a:t>
            </a:r>
            <a:r>
              <a:rPr lang="en-US" sz="1200" b="1" dirty="0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نظارت بر تصمیمات </a:t>
            </a: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عامل قبل از اعمال در شبیه‌سازی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7518" y="464457"/>
            <a:ext cx="500185" cy="500185"/>
          </a:xfrm>
          <a:custGeom>
            <a:avLst/>
            <a:gdLst/>
            <a:ahLst/>
            <a:cxnLst/>
            <a:rect l="l" t="t" r="r" b="b"/>
            <a:pathLst>
              <a:path w="500185" h="500185">
                <a:moveTo>
                  <a:pt x="142908" y="0"/>
                </a:moveTo>
                <a:lnTo>
                  <a:pt x="357277" y="0"/>
                </a:lnTo>
                <a:cubicBezTo>
                  <a:pt x="436203" y="0"/>
                  <a:pt x="500185" y="63982"/>
                  <a:pt x="500185" y="142908"/>
                </a:cubicBezTo>
                <a:lnTo>
                  <a:pt x="500185" y="357277"/>
                </a:lnTo>
                <a:cubicBezTo>
                  <a:pt x="500185" y="436203"/>
                  <a:pt x="436203" y="500185"/>
                  <a:pt x="357277" y="500185"/>
                </a:cubicBezTo>
                <a:lnTo>
                  <a:pt x="142908" y="500185"/>
                </a:lnTo>
                <a:cubicBezTo>
                  <a:pt x="63982" y="500185"/>
                  <a:pt x="0" y="436203"/>
                  <a:pt x="0" y="357277"/>
                </a:cubicBezTo>
                <a:lnTo>
                  <a:pt x="0" y="142908"/>
                </a:lnTo>
                <a:cubicBezTo>
                  <a:pt x="0" y="63982"/>
                  <a:pt x="63982" y="0"/>
                  <a:pt x="142908" y="0"/>
                </a:cubicBezTo>
                <a:close/>
              </a:path>
            </a:pathLst>
          </a:custGeom>
          <a:solidFill>
            <a:srgbClr val="4A6C7C"/>
          </a:solidFill>
          <a:ln/>
          <a:effectLst>
            <a:outerShdw blurRad="133978" dist="893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507223" y="607367"/>
            <a:ext cx="160774" cy="214365"/>
          </a:xfrm>
          <a:custGeom>
            <a:avLst/>
            <a:gdLst/>
            <a:ahLst/>
            <a:cxnLst/>
            <a:rect l="l" t="t" r="r" b="b"/>
            <a:pathLst>
              <a:path w="160774" h="214365">
                <a:moveTo>
                  <a:pt x="0" y="26796"/>
                </a:moveTo>
                <a:cubicBezTo>
                  <a:pt x="0" y="12016"/>
                  <a:pt x="12016" y="0"/>
                  <a:pt x="26796" y="0"/>
                </a:cubicBezTo>
                <a:lnTo>
                  <a:pt x="89388" y="0"/>
                </a:lnTo>
                <a:cubicBezTo>
                  <a:pt x="96506" y="0"/>
                  <a:pt x="103331" y="2805"/>
                  <a:pt x="108355" y="7829"/>
                </a:cubicBezTo>
                <a:lnTo>
                  <a:pt x="152944" y="52461"/>
                </a:lnTo>
                <a:cubicBezTo>
                  <a:pt x="157968" y="57485"/>
                  <a:pt x="160774" y="64309"/>
                  <a:pt x="160774" y="71427"/>
                </a:cubicBezTo>
                <a:lnTo>
                  <a:pt x="160774" y="187569"/>
                </a:lnTo>
                <a:cubicBezTo>
                  <a:pt x="160774" y="202349"/>
                  <a:pt x="148757" y="214365"/>
                  <a:pt x="133978" y="214365"/>
                </a:cubicBezTo>
                <a:lnTo>
                  <a:pt x="26796" y="214365"/>
                </a:lnTo>
                <a:cubicBezTo>
                  <a:pt x="12016" y="214365"/>
                  <a:pt x="0" y="202349"/>
                  <a:pt x="0" y="187569"/>
                </a:cubicBezTo>
                <a:lnTo>
                  <a:pt x="0" y="26796"/>
                </a:lnTo>
                <a:close/>
                <a:moveTo>
                  <a:pt x="87086" y="24493"/>
                </a:moveTo>
                <a:lnTo>
                  <a:pt x="87086" y="63640"/>
                </a:lnTo>
                <a:cubicBezTo>
                  <a:pt x="87086" y="69208"/>
                  <a:pt x="91566" y="73688"/>
                  <a:pt x="97134" y="73688"/>
                </a:cubicBezTo>
                <a:lnTo>
                  <a:pt x="136281" y="73688"/>
                </a:lnTo>
                <a:lnTo>
                  <a:pt x="87086" y="24493"/>
                </a:lnTo>
                <a:close/>
                <a:moveTo>
                  <a:pt x="50242" y="107182"/>
                </a:moveTo>
                <a:cubicBezTo>
                  <a:pt x="44673" y="107182"/>
                  <a:pt x="40193" y="111662"/>
                  <a:pt x="40193" y="117231"/>
                </a:cubicBezTo>
                <a:cubicBezTo>
                  <a:pt x="40193" y="122799"/>
                  <a:pt x="44673" y="127279"/>
                  <a:pt x="50242" y="127279"/>
                </a:cubicBezTo>
                <a:lnTo>
                  <a:pt x="110532" y="127279"/>
                </a:lnTo>
                <a:cubicBezTo>
                  <a:pt x="116100" y="127279"/>
                  <a:pt x="120580" y="122799"/>
                  <a:pt x="120580" y="117231"/>
                </a:cubicBezTo>
                <a:cubicBezTo>
                  <a:pt x="120580" y="111662"/>
                  <a:pt x="116100" y="107182"/>
                  <a:pt x="110532" y="107182"/>
                </a:cubicBezTo>
                <a:lnTo>
                  <a:pt x="50242" y="107182"/>
                </a:lnTo>
                <a:close/>
                <a:moveTo>
                  <a:pt x="50242" y="147376"/>
                </a:moveTo>
                <a:cubicBezTo>
                  <a:pt x="44673" y="147376"/>
                  <a:pt x="40193" y="151856"/>
                  <a:pt x="40193" y="157424"/>
                </a:cubicBezTo>
                <a:cubicBezTo>
                  <a:pt x="40193" y="162993"/>
                  <a:pt x="44673" y="167473"/>
                  <a:pt x="50242" y="167473"/>
                </a:cubicBezTo>
                <a:lnTo>
                  <a:pt x="110532" y="167473"/>
                </a:lnTo>
                <a:cubicBezTo>
                  <a:pt x="116100" y="167473"/>
                  <a:pt x="120580" y="162993"/>
                  <a:pt x="120580" y="157424"/>
                </a:cubicBezTo>
                <a:cubicBezTo>
                  <a:pt x="120580" y="151856"/>
                  <a:pt x="116100" y="147376"/>
                  <a:pt x="110532" y="147376"/>
                </a:cubicBezTo>
                <a:lnTo>
                  <a:pt x="50242" y="14737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101287" y="357275"/>
            <a:ext cx="6180853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80000"/>
              </a:lnSpc>
            </a:pPr>
            <a:r>
              <a:rPr lang="en-US" sz="3376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تحلیل خروجی‌ها: لاگ‌ها و استدلال‌ها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01287" y="821732"/>
            <a:ext cx="6180853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407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Logs and Reasoning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04671" y="1286189"/>
            <a:ext cx="5636009" cy="2858198"/>
          </a:xfrm>
          <a:custGeom>
            <a:avLst/>
            <a:gdLst/>
            <a:ahLst/>
            <a:cxnLst/>
            <a:rect l="l" t="t" r="r" b="b"/>
            <a:pathLst>
              <a:path w="5636009" h="2858198">
                <a:moveTo>
                  <a:pt x="142910" y="0"/>
                </a:moveTo>
                <a:lnTo>
                  <a:pt x="5493099" y="0"/>
                </a:lnTo>
                <a:cubicBezTo>
                  <a:pt x="5572026" y="0"/>
                  <a:pt x="5636009" y="63983"/>
                  <a:pt x="5636009" y="142910"/>
                </a:cubicBezTo>
                <a:lnTo>
                  <a:pt x="5636009" y="2715288"/>
                </a:lnTo>
                <a:cubicBezTo>
                  <a:pt x="5636009" y="2794215"/>
                  <a:pt x="5572026" y="2858198"/>
                  <a:pt x="5493099" y="2858198"/>
                </a:cubicBezTo>
                <a:lnTo>
                  <a:pt x="142910" y="2858198"/>
                </a:lnTo>
                <a:cubicBezTo>
                  <a:pt x="63983" y="2858198"/>
                  <a:pt x="0" y="2794215"/>
                  <a:pt x="0" y="2715288"/>
                </a:cubicBezTo>
                <a:lnTo>
                  <a:pt x="0" y="142910"/>
                </a:lnTo>
                <a:cubicBezTo>
                  <a:pt x="0" y="63983"/>
                  <a:pt x="63983" y="0"/>
                  <a:pt x="1429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978" dist="893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19036" y="1500554"/>
            <a:ext cx="5314462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688" b="1" dirty="0" err="1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فایل</a:t>
            </a:r>
            <a:r>
              <a:rPr lang="en-US" sz="1688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 CSV</a:t>
            </a:r>
            <a:r>
              <a:rPr lang="fa-IR" sz="1688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 </a:t>
            </a:r>
            <a:r>
              <a:rPr lang="en-US" sz="1688" b="1" dirty="0" err="1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تولید</a:t>
            </a:r>
            <a:r>
              <a:rPr lang="en-US" sz="1688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 شده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19036" y="1929284"/>
            <a:ext cx="5207279" cy="2000738"/>
          </a:xfrm>
          <a:custGeom>
            <a:avLst/>
            <a:gdLst/>
            <a:ahLst/>
            <a:cxnLst/>
            <a:rect l="l" t="t" r="r" b="b"/>
            <a:pathLst>
              <a:path w="5207279" h="2000738">
                <a:moveTo>
                  <a:pt x="107180" y="0"/>
                </a:moveTo>
                <a:lnTo>
                  <a:pt x="5100100" y="0"/>
                </a:lnTo>
                <a:cubicBezTo>
                  <a:pt x="5159293" y="0"/>
                  <a:pt x="5207279" y="47986"/>
                  <a:pt x="5207279" y="107180"/>
                </a:cubicBezTo>
                <a:lnTo>
                  <a:pt x="5207279" y="1893559"/>
                </a:lnTo>
                <a:cubicBezTo>
                  <a:pt x="5207279" y="1952753"/>
                  <a:pt x="5159293" y="2000738"/>
                  <a:pt x="5100100" y="2000738"/>
                </a:cubicBezTo>
                <a:lnTo>
                  <a:pt x="107180" y="2000738"/>
                </a:lnTo>
                <a:cubicBezTo>
                  <a:pt x="47986" y="2000738"/>
                  <a:pt x="0" y="1952753"/>
                  <a:pt x="0" y="1893559"/>
                </a:cubicBezTo>
                <a:lnTo>
                  <a:pt x="0" y="107180"/>
                </a:lnTo>
                <a:cubicBezTo>
                  <a:pt x="0" y="47986"/>
                  <a:pt x="47986" y="0"/>
                  <a:pt x="10718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9" name="Shape 7"/>
          <p:cNvSpPr/>
          <p:nvPr/>
        </p:nvSpPr>
        <p:spPr>
          <a:xfrm>
            <a:off x="9912438" y="2072193"/>
            <a:ext cx="1572009" cy="464457"/>
          </a:xfrm>
          <a:custGeom>
            <a:avLst/>
            <a:gdLst/>
            <a:ahLst/>
            <a:cxnLst/>
            <a:rect l="l" t="t" r="r" b="b"/>
            <a:pathLst>
              <a:path w="1572009" h="464457">
                <a:moveTo>
                  <a:pt x="71457" y="0"/>
                </a:moveTo>
                <a:lnTo>
                  <a:pt x="1500552" y="0"/>
                </a:lnTo>
                <a:cubicBezTo>
                  <a:pt x="1540017" y="0"/>
                  <a:pt x="1572009" y="31992"/>
                  <a:pt x="1572009" y="71457"/>
                </a:cubicBezTo>
                <a:lnTo>
                  <a:pt x="1572009" y="393000"/>
                </a:lnTo>
                <a:cubicBezTo>
                  <a:pt x="1572009" y="432465"/>
                  <a:pt x="1540017" y="464457"/>
                  <a:pt x="1500552" y="464457"/>
                </a:cubicBezTo>
                <a:lnTo>
                  <a:pt x="71457" y="464457"/>
                </a:lnTo>
                <a:cubicBezTo>
                  <a:pt x="31992" y="464457"/>
                  <a:pt x="0" y="432465"/>
                  <a:pt x="0" y="393000"/>
                </a:cubicBezTo>
                <a:lnTo>
                  <a:pt x="0" y="71457"/>
                </a:lnTo>
                <a:cubicBezTo>
                  <a:pt x="0" y="32019"/>
                  <a:pt x="32019" y="0"/>
                  <a:pt x="71457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10" name="Text 8"/>
          <p:cNvSpPr/>
          <p:nvPr/>
        </p:nvSpPr>
        <p:spPr>
          <a:xfrm>
            <a:off x="9979427" y="2179376"/>
            <a:ext cx="1438031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6" b="1" dirty="0">
                <a:solidFill>
                  <a:srgbClr val="FFFFFF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Year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37267" y="2072193"/>
            <a:ext cx="1572009" cy="464457"/>
          </a:xfrm>
          <a:custGeom>
            <a:avLst/>
            <a:gdLst/>
            <a:ahLst/>
            <a:cxnLst/>
            <a:rect l="l" t="t" r="r" b="b"/>
            <a:pathLst>
              <a:path w="1572009" h="464457">
                <a:moveTo>
                  <a:pt x="71457" y="0"/>
                </a:moveTo>
                <a:lnTo>
                  <a:pt x="1500552" y="0"/>
                </a:lnTo>
                <a:cubicBezTo>
                  <a:pt x="1540017" y="0"/>
                  <a:pt x="1572009" y="31992"/>
                  <a:pt x="1572009" y="71457"/>
                </a:cubicBezTo>
                <a:lnTo>
                  <a:pt x="1572009" y="393000"/>
                </a:lnTo>
                <a:cubicBezTo>
                  <a:pt x="1572009" y="432465"/>
                  <a:pt x="1540017" y="464457"/>
                  <a:pt x="1500552" y="464457"/>
                </a:cubicBezTo>
                <a:lnTo>
                  <a:pt x="71457" y="464457"/>
                </a:lnTo>
                <a:cubicBezTo>
                  <a:pt x="31992" y="464457"/>
                  <a:pt x="0" y="432465"/>
                  <a:pt x="0" y="393000"/>
                </a:cubicBezTo>
                <a:lnTo>
                  <a:pt x="0" y="71457"/>
                </a:lnTo>
                <a:cubicBezTo>
                  <a:pt x="0" y="32019"/>
                  <a:pt x="32019" y="0"/>
                  <a:pt x="71457" y="0"/>
                </a:cubicBez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12" name="Text 10"/>
          <p:cNvSpPr/>
          <p:nvPr/>
        </p:nvSpPr>
        <p:spPr>
          <a:xfrm>
            <a:off x="8304256" y="2179376"/>
            <a:ext cx="1438031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6" b="1" dirty="0">
                <a:solidFill>
                  <a:srgbClr val="FFFFFF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Reasoning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62095" y="2072193"/>
            <a:ext cx="1572009" cy="464457"/>
          </a:xfrm>
          <a:custGeom>
            <a:avLst/>
            <a:gdLst/>
            <a:ahLst/>
            <a:cxnLst/>
            <a:rect l="l" t="t" r="r" b="b"/>
            <a:pathLst>
              <a:path w="1572009" h="464457">
                <a:moveTo>
                  <a:pt x="71457" y="0"/>
                </a:moveTo>
                <a:lnTo>
                  <a:pt x="1500552" y="0"/>
                </a:lnTo>
                <a:cubicBezTo>
                  <a:pt x="1540017" y="0"/>
                  <a:pt x="1572009" y="31992"/>
                  <a:pt x="1572009" y="71457"/>
                </a:cubicBezTo>
                <a:lnTo>
                  <a:pt x="1572009" y="393000"/>
                </a:lnTo>
                <a:cubicBezTo>
                  <a:pt x="1572009" y="432465"/>
                  <a:pt x="1540017" y="464457"/>
                  <a:pt x="1500552" y="464457"/>
                </a:cubicBezTo>
                <a:lnTo>
                  <a:pt x="71457" y="464457"/>
                </a:lnTo>
                <a:cubicBezTo>
                  <a:pt x="31992" y="464457"/>
                  <a:pt x="0" y="432465"/>
                  <a:pt x="0" y="393000"/>
                </a:cubicBezTo>
                <a:lnTo>
                  <a:pt x="0" y="71457"/>
                </a:lnTo>
                <a:cubicBezTo>
                  <a:pt x="0" y="32019"/>
                  <a:pt x="32019" y="0"/>
                  <a:pt x="71457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084" y="2179376"/>
            <a:ext cx="1438031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6" b="1" dirty="0">
                <a:solidFill>
                  <a:srgbClr val="FFFFFF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Action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908788" y="2679560"/>
            <a:ext cx="571640" cy="321547"/>
          </a:xfrm>
          <a:custGeom>
            <a:avLst/>
            <a:gdLst/>
            <a:ahLst/>
            <a:cxnLst/>
            <a:rect l="l" t="t" r="r" b="b"/>
            <a:pathLst>
              <a:path w="571640" h="321547">
                <a:moveTo>
                  <a:pt x="35727" y="0"/>
                </a:moveTo>
                <a:lnTo>
                  <a:pt x="535912" y="0"/>
                </a:lnTo>
                <a:cubicBezTo>
                  <a:pt x="555644" y="0"/>
                  <a:pt x="571640" y="15996"/>
                  <a:pt x="571640" y="35727"/>
                </a:cubicBezTo>
                <a:lnTo>
                  <a:pt x="571640" y="285820"/>
                </a:lnTo>
                <a:cubicBezTo>
                  <a:pt x="571640" y="305552"/>
                  <a:pt x="555644" y="321547"/>
                  <a:pt x="535912" y="321547"/>
                </a:cubicBezTo>
                <a:lnTo>
                  <a:pt x="35727" y="321547"/>
                </a:lnTo>
                <a:cubicBezTo>
                  <a:pt x="15996" y="321547"/>
                  <a:pt x="0" y="305552"/>
                  <a:pt x="0" y="285820"/>
                </a:cubicBezTo>
                <a:lnTo>
                  <a:pt x="0" y="35727"/>
                </a:lnTo>
                <a:cubicBezTo>
                  <a:pt x="0" y="16009"/>
                  <a:pt x="16009" y="0"/>
                  <a:pt x="3572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877527" y="2679560"/>
            <a:ext cx="634163" cy="321547"/>
          </a:xfrm>
          <a:prstGeom prst="rect">
            <a:avLst/>
          </a:prstGeom>
          <a:noFill/>
          <a:ln/>
        </p:spPr>
        <p:txBody>
          <a:bodyPr wrap="square" lIns="71455" tIns="71455" rIns="71455" bIns="71455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2020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240767" y="2679560"/>
            <a:ext cx="3563815" cy="321547"/>
          </a:xfrm>
          <a:custGeom>
            <a:avLst/>
            <a:gdLst/>
            <a:ahLst/>
            <a:cxnLst/>
            <a:rect l="l" t="t" r="r" b="b"/>
            <a:pathLst>
              <a:path w="3563815" h="321547">
                <a:moveTo>
                  <a:pt x="35727" y="0"/>
                </a:moveTo>
                <a:lnTo>
                  <a:pt x="3528088" y="0"/>
                </a:lnTo>
                <a:cubicBezTo>
                  <a:pt x="3547820" y="0"/>
                  <a:pt x="3563815" y="15996"/>
                  <a:pt x="3563815" y="35727"/>
                </a:cubicBezTo>
                <a:lnTo>
                  <a:pt x="3563815" y="285820"/>
                </a:lnTo>
                <a:cubicBezTo>
                  <a:pt x="3563815" y="305552"/>
                  <a:pt x="3547820" y="321547"/>
                  <a:pt x="3528088" y="321547"/>
                </a:cubicBezTo>
                <a:lnTo>
                  <a:pt x="35727" y="321547"/>
                </a:lnTo>
                <a:cubicBezTo>
                  <a:pt x="15996" y="321547"/>
                  <a:pt x="0" y="305552"/>
                  <a:pt x="0" y="285820"/>
                </a:cubicBezTo>
                <a:lnTo>
                  <a:pt x="0" y="35727"/>
                </a:lnTo>
                <a:cubicBezTo>
                  <a:pt x="0" y="16009"/>
                  <a:pt x="16009" y="0"/>
                  <a:pt x="3572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40767" y="2679560"/>
            <a:ext cx="3626338" cy="321547"/>
          </a:xfrm>
          <a:prstGeom prst="rect">
            <a:avLst/>
          </a:prstGeom>
          <a:noFill/>
          <a:ln/>
        </p:spPr>
        <p:txBody>
          <a:bodyPr wrap="square" lIns="71455" tIns="71455" rIns="71455" bIns="71455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Supply below target, decreasing tax...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61945" y="2679560"/>
            <a:ext cx="571640" cy="321547"/>
          </a:xfrm>
          <a:custGeom>
            <a:avLst/>
            <a:gdLst/>
            <a:ahLst/>
            <a:cxnLst/>
            <a:rect l="l" t="t" r="r" b="b"/>
            <a:pathLst>
              <a:path w="571640" h="321547">
                <a:moveTo>
                  <a:pt x="35727" y="0"/>
                </a:moveTo>
                <a:lnTo>
                  <a:pt x="535912" y="0"/>
                </a:lnTo>
                <a:cubicBezTo>
                  <a:pt x="555644" y="0"/>
                  <a:pt x="571640" y="15996"/>
                  <a:pt x="571640" y="35727"/>
                </a:cubicBezTo>
                <a:lnTo>
                  <a:pt x="571640" y="285820"/>
                </a:lnTo>
                <a:cubicBezTo>
                  <a:pt x="571640" y="305552"/>
                  <a:pt x="555644" y="321547"/>
                  <a:pt x="535912" y="321547"/>
                </a:cubicBezTo>
                <a:lnTo>
                  <a:pt x="35727" y="321547"/>
                </a:lnTo>
                <a:cubicBezTo>
                  <a:pt x="15996" y="321547"/>
                  <a:pt x="0" y="305552"/>
                  <a:pt x="0" y="285820"/>
                </a:cubicBezTo>
                <a:lnTo>
                  <a:pt x="0" y="35727"/>
                </a:lnTo>
                <a:cubicBezTo>
                  <a:pt x="0" y="16009"/>
                  <a:pt x="16009" y="0"/>
                  <a:pt x="3572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30684" y="2679560"/>
            <a:ext cx="634163" cy="321547"/>
          </a:xfrm>
          <a:prstGeom prst="rect">
            <a:avLst/>
          </a:prstGeom>
          <a:noFill/>
          <a:ln/>
        </p:spPr>
        <p:txBody>
          <a:bodyPr wrap="square" lIns="71455" tIns="71455" rIns="71455" bIns="71455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908788" y="3072563"/>
            <a:ext cx="571640" cy="321547"/>
          </a:xfrm>
          <a:custGeom>
            <a:avLst/>
            <a:gdLst/>
            <a:ahLst/>
            <a:cxnLst/>
            <a:rect l="l" t="t" r="r" b="b"/>
            <a:pathLst>
              <a:path w="571640" h="321547">
                <a:moveTo>
                  <a:pt x="35727" y="0"/>
                </a:moveTo>
                <a:lnTo>
                  <a:pt x="535912" y="0"/>
                </a:lnTo>
                <a:cubicBezTo>
                  <a:pt x="555644" y="0"/>
                  <a:pt x="571640" y="15996"/>
                  <a:pt x="571640" y="35727"/>
                </a:cubicBezTo>
                <a:lnTo>
                  <a:pt x="571640" y="285820"/>
                </a:lnTo>
                <a:cubicBezTo>
                  <a:pt x="571640" y="305552"/>
                  <a:pt x="555644" y="321547"/>
                  <a:pt x="535912" y="321547"/>
                </a:cubicBezTo>
                <a:lnTo>
                  <a:pt x="35727" y="321547"/>
                </a:lnTo>
                <a:cubicBezTo>
                  <a:pt x="15996" y="321547"/>
                  <a:pt x="0" y="305552"/>
                  <a:pt x="0" y="285820"/>
                </a:cubicBezTo>
                <a:lnTo>
                  <a:pt x="0" y="35727"/>
                </a:lnTo>
                <a:cubicBezTo>
                  <a:pt x="0" y="16009"/>
                  <a:pt x="16009" y="0"/>
                  <a:pt x="3572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877527" y="3072563"/>
            <a:ext cx="634163" cy="321547"/>
          </a:xfrm>
          <a:prstGeom prst="rect">
            <a:avLst/>
          </a:prstGeom>
          <a:noFill/>
          <a:ln/>
        </p:spPr>
        <p:txBody>
          <a:bodyPr wrap="square" lIns="71455" tIns="71455" rIns="71455" bIns="71455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2021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240767" y="3072563"/>
            <a:ext cx="3563815" cy="321547"/>
          </a:xfrm>
          <a:custGeom>
            <a:avLst/>
            <a:gdLst/>
            <a:ahLst/>
            <a:cxnLst/>
            <a:rect l="l" t="t" r="r" b="b"/>
            <a:pathLst>
              <a:path w="3563815" h="321547">
                <a:moveTo>
                  <a:pt x="35727" y="0"/>
                </a:moveTo>
                <a:lnTo>
                  <a:pt x="3528088" y="0"/>
                </a:lnTo>
                <a:cubicBezTo>
                  <a:pt x="3547820" y="0"/>
                  <a:pt x="3563815" y="15996"/>
                  <a:pt x="3563815" y="35727"/>
                </a:cubicBezTo>
                <a:lnTo>
                  <a:pt x="3563815" y="285820"/>
                </a:lnTo>
                <a:cubicBezTo>
                  <a:pt x="3563815" y="305552"/>
                  <a:pt x="3547820" y="321547"/>
                  <a:pt x="3528088" y="321547"/>
                </a:cubicBezTo>
                <a:lnTo>
                  <a:pt x="35727" y="321547"/>
                </a:lnTo>
                <a:cubicBezTo>
                  <a:pt x="15996" y="321547"/>
                  <a:pt x="0" y="305552"/>
                  <a:pt x="0" y="285820"/>
                </a:cubicBezTo>
                <a:lnTo>
                  <a:pt x="0" y="35727"/>
                </a:lnTo>
                <a:cubicBezTo>
                  <a:pt x="0" y="16009"/>
                  <a:pt x="16009" y="0"/>
                  <a:pt x="3572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240767" y="3072563"/>
            <a:ext cx="3626338" cy="321547"/>
          </a:xfrm>
          <a:prstGeom prst="rect">
            <a:avLst/>
          </a:prstGeom>
          <a:noFill/>
          <a:ln/>
        </p:spPr>
        <p:txBody>
          <a:bodyPr wrap="square" lIns="71455" tIns="71455" rIns="71455" bIns="71455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Market responding, maintaining...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61945" y="3072563"/>
            <a:ext cx="571640" cy="321547"/>
          </a:xfrm>
          <a:custGeom>
            <a:avLst/>
            <a:gdLst/>
            <a:ahLst/>
            <a:cxnLst/>
            <a:rect l="l" t="t" r="r" b="b"/>
            <a:pathLst>
              <a:path w="571640" h="321547">
                <a:moveTo>
                  <a:pt x="35727" y="0"/>
                </a:moveTo>
                <a:lnTo>
                  <a:pt x="535912" y="0"/>
                </a:lnTo>
                <a:cubicBezTo>
                  <a:pt x="555644" y="0"/>
                  <a:pt x="571640" y="15996"/>
                  <a:pt x="571640" y="35727"/>
                </a:cubicBezTo>
                <a:lnTo>
                  <a:pt x="571640" y="285820"/>
                </a:lnTo>
                <a:cubicBezTo>
                  <a:pt x="571640" y="305552"/>
                  <a:pt x="555644" y="321547"/>
                  <a:pt x="535912" y="321547"/>
                </a:cubicBezTo>
                <a:lnTo>
                  <a:pt x="35727" y="321547"/>
                </a:lnTo>
                <a:cubicBezTo>
                  <a:pt x="15996" y="321547"/>
                  <a:pt x="0" y="305552"/>
                  <a:pt x="0" y="285820"/>
                </a:cubicBezTo>
                <a:lnTo>
                  <a:pt x="0" y="35727"/>
                </a:lnTo>
                <a:cubicBezTo>
                  <a:pt x="0" y="16009"/>
                  <a:pt x="16009" y="0"/>
                  <a:pt x="3572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30684" y="3072563"/>
            <a:ext cx="634163" cy="321547"/>
          </a:xfrm>
          <a:prstGeom prst="rect">
            <a:avLst/>
          </a:prstGeom>
          <a:noFill/>
          <a:ln/>
        </p:spPr>
        <p:txBody>
          <a:bodyPr wrap="square" lIns="71455" tIns="71455" rIns="71455" bIns="71455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908788" y="3465565"/>
            <a:ext cx="571640" cy="321547"/>
          </a:xfrm>
          <a:custGeom>
            <a:avLst/>
            <a:gdLst/>
            <a:ahLst/>
            <a:cxnLst/>
            <a:rect l="l" t="t" r="r" b="b"/>
            <a:pathLst>
              <a:path w="571640" h="321547">
                <a:moveTo>
                  <a:pt x="35727" y="0"/>
                </a:moveTo>
                <a:lnTo>
                  <a:pt x="535912" y="0"/>
                </a:lnTo>
                <a:cubicBezTo>
                  <a:pt x="555644" y="0"/>
                  <a:pt x="571640" y="15996"/>
                  <a:pt x="571640" y="35727"/>
                </a:cubicBezTo>
                <a:lnTo>
                  <a:pt x="571640" y="285820"/>
                </a:lnTo>
                <a:cubicBezTo>
                  <a:pt x="571640" y="305552"/>
                  <a:pt x="555644" y="321547"/>
                  <a:pt x="535912" y="321547"/>
                </a:cubicBezTo>
                <a:lnTo>
                  <a:pt x="35727" y="321547"/>
                </a:lnTo>
                <a:cubicBezTo>
                  <a:pt x="15996" y="321547"/>
                  <a:pt x="0" y="305552"/>
                  <a:pt x="0" y="285820"/>
                </a:cubicBezTo>
                <a:lnTo>
                  <a:pt x="0" y="35727"/>
                </a:lnTo>
                <a:cubicBezTo>
                  <a:pt x="0" y="16009"/>
                  <a:pt x="16009" y="0"/>
                  <a:pt x="3572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877527" y="3465565"/>
            <a:ext cx="634163" cy="321547"/>
          </a:xfrm>
          <a:prstGeom prst="rect">
            <a:avLst/>
          </a:prstGeom>
          <a:noFill/>
          <a:ln/>
        </p:spPr>
        <p:txBody>
          <a:bodyPr wrap="square" lIns="71455" tIns="71455" rIns="71455" bIns="71455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2022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240767" y="3465565"/>
            <a:ext cx="3563815" cy="321547"/>
          </a:xfrm>
          <a:custGeom>
            <a:avLst/>
            <a:gdLst/>
            <a:ahLst/>
            <a:cxnLst/>
            <a:rect l="l" t="t" r="r" b="b"/>
            <a:pathLst>
              <a:path w="3563815" h="321547">
                <a:moveTo>
                  <a:pt x="35727" y="0"/>
                </a:moveTo>
                <a:lnTo>
                  <a:pt x="3528088" y="0"/>
                </a:lnTo>
                <a:cubicBezTo>
                  <a:pt x="3547820" y="0"/>
                  <a:pt x="3563815" y="15996"/>
                  <a:pt x="3563815" y="35727"/>
                </a:cubicBezTo>
                <a:lnTo>
                  <a:pt x="3563815" y="285820"/>
                </a:lnTo>
                <a:cubicBezTo>
                  <a:pt x="3563815" y="305552"/>
                  <a:pt x="3547820" y="321547"/>
                  <a:pt x="3528088" y="321547"/>
                </a:cubicBezTo>
                <a:lnTo>
                  <a:pt x="35727" y="321547"/>
                </a:lnTo>
                <a:cubicBezTo>
                  <a:pt x="15996" y="321547"/>
                  <a:pt x="0" y="305552"/>
                  <a:pt x="0" y="285820"/>
                </a:cubicBezTo>
                <a:lnTo>
                  <a:pt x="0" y="35727"/>
                </a:lnTo>
                <a:cubicBezTo>
                  <a:pt x="0" y="16009"/>
                  <a:pt x="16009" y="0"/>
                  <a:pt x="3572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240767" y="3465565"/>
            <a:ext cx="3626338" cy="321547"/>
          </a:xfrm>
          <a:prstGeom prst="rect">
            <a:avLst/>
          </a:prstGeom>
          <a:noFill/>
          <a:ln/>
        </p:spPr>
        <p:txBody>
          <a:bodyPr wrap="square" lIns="71455" tIns="71455" rIns="71455" bIns="71455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Overshoot detected, gradual increase...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561945" y="3465565"/>
            <a:ext cx="571640" cy="321547"/>
          </a:xfrm>
          <a:custGeom>
            <a:avLst/>
            <a:gdLst/>
            <a:ahLst/>
            <a:cxnLst/>
            <a:rect l="l" t="t" r="r" b="b"/>
            <a:pathLst>
              <a:path w="571640" h="321547">
                <a:moveTo>
                  <a:pt x="35727" y="0"/>
                </a:moveTo>
                <a:lnTo>
                  <a:pt x="535912" y="0"/>
                </a:lnTo>
                <a:cubicBezTo>
                  <a:pt x="555644" y="0"/>
                  <a:pt x="571640" y="15996"/>
                  <a:pt x="571640" y="35727"/>
                </a:cubicBezTo>
                <a:lnTo>
                  <a:pt x="571640" y="285820"/>
                </a:lnTo>
                <a:cubicBezTo>
                  <a:pt x="571640" y="305552"/>
                  <a:pt x="555644" y="321547"/>
                  <a:pt x="535912" y="321547"/>
                </a:cubicBezTo>
                <a:lnTo>
                  <a:pt x="35727" y="321547"/>
                </a:lnTo>
                <a:cubicBezTo>
                  <a:pt x="15996" y="321547"/>
                  <a:pt x="0" y="305552"/>
                  <a:pt x="0" y="285820"/>
                </a:cubicBezTo>
                <a:lnTo>
                  <a:pt x="0" y="35727"/>
                </a:lnTo>
                <a:cubicBezTo>
                  <a:pt x="0" y="16009"/>
                  <a:pt x="16009" y="0"/>
                  <a:pt x="3572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530684" y="3465565"/>
            <a:ext cx="634163" cy="321547"/>
          </a:xfrm>
          <a:prstGeom prst="rect">
            <a:avLst/>
          </a:prstGeom>
          <a:noFill/>
          <a:ln/>
        </p:spPr>
        <p:txBody>
          <a:bodyPr wrap="square" lIns="71455" tIns="71455" rIns="71455" bIns="71455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+1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204671" y="4323024"/>
            <a:ext cx="5636009" cy="1750646"/>
          </a:xfrm>
          <a:custGeom>
            <a:avLst/>
            <a:gdLst/>
            <a:ahLst/>
            <a:cxnLst/>
            <a:rect l="l" t="t" r="r" b="b"/>
            <a:pathLst>
              <a:path w="5636009" h="1750646">
                <a:moveTo>
                  <a:pt x="142905" y="0"/>
                </a:moveTo>
                <a:lnTo>
                  <a:pt x="5493104" y="0"/>
                </a:lnTo>
                <a:cubicBezTo>
                  <a:pt x="5572028" y="0"/>
                  <a:pt x="5636009" y="63981"/>
                  <a:pt x="5636009" y="142905"/>
                </a:cubicBezTo>
                <a:lnTo>
                  <a:pt x="5636009" y="1607741"/>
                </a:lnTo>
                <a:cubicBezTo>
                  <a:pt x="5636009" y="1686665"/>
                  <a:pt x="5572028" y="1750646"/>
                  <a:pt x="5493104" y="1750646"/>
                </a:cubicBezTo>
                <a:lnTo>
                  <a:pt x="142905" y="1750646"/>
                </a:lnTo>
                <a:cubicBezTo>
                  <a:pt x="64034" y="1750646"/>
                  <a:pt x="0" y="1686612"/>
                  <a:pt x="0" y="1607741"/>
                </a:cubicBezTo>
                <a:lnTo>
                  <a:pt x="0" y="142905"/>
                </a:lnTo>
                <a:cubicBezTo>
                  <a:pt x="0" y="63981"/>
                  <a:pt x="63981" y="0"/>
                  <a:pt x="1429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978" dist="893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19036" y="4537389"/>
            <a:ext cx="5314462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688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برتری لاگر جدید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1422371" y="5001846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89319" y="178637"/>
                </a:moveTo>
                <a:cubicBezTo>
                  <a:pt x="138615" y="178637"/>
                  <a:pt x="178637" y="138615"/>
                  <a:pt x="178637" y="89319"/>
                </a:cubicBezTo>
                <a:cubicBezTo>
                  <a:pt x="178637" y="40022"/>
                  <a:pt x="138615" y="0"/>
                  <a:pt x="89319" y="0"/>
                </a:cubicBezTo>
                <a:cubicBezTo>
                  <a:pt x="40022" y="0"/>
                  <a:pt x="0" y="40022"/>
                  <a:pt x="0" y="89319"/>
                </a:cubicBezTo>
                <a:cubicBezTo>
                  <a:pt x="0" y="138615"/>
                  <a:pt x="40022" y="178637"/>
                  <a:pt x="89319" y="178637"/>
                </a:cubicBezTo>
                <a:close/>
                <a:moveTo>
                  <a:pt x="58266" y="58266"/>
                </a:moveTo>
                <a:cubicBezTo>
                  <a:pt x="61546" y="54987"/>
                  <a:pt x="66849" y="54987"/>
                  <a:pt x="70094" y="58266"/>
                </a:cubicBezTo>
                <a:lnTo>
                  <a:pt x="89284" y="77456"/>
                </a:lnTo>
                <a:lnTo>
                  <a:pt x="108473" y="58266"/>
                </a:lnTo>
                <a:cubicBezTo>
                  <a:pt x="111753" y="54987"/>
                  <a:pt x="117056" y="54987"/>
                  <a:pt x="120301" y="58266"/>
                </a:cubicBezTo>
                <a:cubicBezTo>
                  <a:pt x="123546" y="61546"/>
                  <a:pt x="123581" y="66849"/>
                  <a:pt x="120301" y="70094"/>
                </a:cubicBezTo>
                <a:lnTo>
                  <a:pt x="101112" y="89284"/>
                </a:lnTo>
                <a:lnTo>
                  <a:pt x="120301" y="108473"/>
                </a:lnTo>
                <a:cubicBezTo>
                  <a:pt x="123581" y="111753"/>
                  <a:pt x="123581" y="117056"/>
                  <a:pt x="120301" y="120301"/>
                </a:cubicBezTo>
                <a:cubicBezTo>
                  <a:pt x="117021" y="123546"/>
                  <a:pt x="111718" y="123581"/>
                  <a:pt x="108473" y="120301"/>
                </a:cubicBezTo>
                <a:lnTo>
                  <a:pt x="89284" y="101112"/>
                </a:lnTo>
                <a:lnTo>
                  <a:pt x="70094" y="120301"/>
                </a:lnTo>
                <a:cubicBezTo>
                  <a:pt x="66815" y="123581"/>
                  <a:pt x="61511" y="123581"/>
                  <a:pt x="58266" y="120301"/>
                </a:cubicBezTo>
                <a:cubicBezTo>
                  <a:pt x="55022" y="117021"/>
                  <a:pt x="54987" y="111718"/>
                  <a:pt x="58266" y="108473"/>
                </a:cubicBezTo>
                <a:lnTo>
                  <a:pt x="77456" y="89284"/>
                </a:lnTo>
                <a:lnTo>
                  <a:pt x="58266" y="70094"/>
                </a:lnTo>
                <a:cubicBezTo>
                  <a:pt x="54987" y="66815"/>
                  <a:pt x="54987" y="61511"/>
                  <a:pt x="58266" y="58266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6" name="Text 34"/>
          <p:cNvSpPr/>
          <p:nvPr/>
        </p:nvSpPr>
        <p:spPr>
          <a:xfrm>
            <a:off x="9874180" y="4966119"/>
            <a:ext cx="1491622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125" b="1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نسخه اصلی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874180" y="5180484"/>
            <a:ext cx="1482690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985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فقط در کنسول چاپ می‌کرد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1422371" y="5502031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89319" y="178637"/>
                </a:moveTo>
                <a:cubicBezTo>
                  <a:pt x="138615" y="178637"/>
                  <a:pt x="178637" y="138615"/>
                  <a:pt x="178637" y="89319"/>
                </a:cubicBezTo>
                <a:cubicBezTo>
                  <a:pt x="178637" y="40022"/>
                  <a:pt x="138615" y="0"/>
                  <a:pt x="89319" y="0"/>
                </a:cubicBezTo>
                <a:cubicBezTo>
                  <a:pt x="40022" y="0"/>
                  <a:pt x="0" y="40022"/>
                  <a:pt x="0" y="89319"/>
                </a:cubicBezTo>
                <a:cubicBezTo>
                  <a:pt x="0" y="138615"/>
                  <a:pt x="40022" y="178637"/>
                  <a:pt x="89319" y="178637"/>
                </a:cubicBezTo>
                <a:close/>
                <a:moveTo>
                  <a:pt x="118766" y="74211"/>
                </a:moveTo>
                <a:lnTo>
                  <a:pt x="90854" y="118871"/>
                </a:lnTo>
                <a:cubicBezTo>
                  <a:pt x="89388" y="121208"/>
                  <a:pt x="86876" y="122674"/>
                  <a:pt x="84120" y="122813"/>
                </a:cubicBezTo>
                <a:cubicBezTo>
                  <a:pt x="81364" y="122953"/>
                  <a:pt x="78712" y="121697"/>
                  <a:pt x="77072" y="119464"/>
                </a:cubicBezTo>
                <a:lnTo>
                  <a:pt x="60325" y="97134"/>
                </a:lnTo>
                <a:cubicBezTo>
                  <a:pt x="57534" y="93436"/>
                  <a:pt x="58301" y="88202"/>
                  <a:pt x="62000" y="85411"/>
                </a:cubicBezTo>
                <a:cubicBezTo>
                  <a:pt x="65698" y="82620"/>
                  <a:pt x="70932" y="83387"/>
                  <a:pt x="73723" y="87086"/>
                </a:cubicBezTo>
                <a:lnTo>
                  <a:pt x="83143" y="99646"/>
                </a:lnTo>
                <a:lnTo>
                  <a:pt x="104566" y="65349"/>
                </a:lnTo>
                <a:cubicBezTo>
                  <a:pt x="107008" y="61441"/>
                  <a:pt x="112172" y="60220"/>
                  <a:pt x="116114" y="62698"/>
                </a:cubicBezTo>
                <a:cubicBezTo>
                  <a:pt x="120057" y="65175"/>
                  <a:pt x="121243" y="70304"/>
                  <a:pt x="118766" y="74246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9" name="Text 37"/>
          <p:cNvSpPr/>
          <p:nvPr/>
        </p:nvSpPr>
        <p:spPr>
          <a:xfrm>
            <a:off x="8777942" y="5466303"/>
            <a:ext cx="2590242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125" b="1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لاگر جدید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777942" y="5680668"/>
            <a:ext cx="2581310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985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امکان ترسیم نمودار از </a:t>
            </a:r>
            <a:r>
              <a:rPr lang="en-US" sz="985" dirty="0" err="1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روند</a:t>
            </a:r>
            <a:r>
              <a:rPr lang="en-US" sz="985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985" dirty="0" err="1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منطق</a:t>
            </a:r>
            <a:r>
              <a:rPr lang="en-US" sz="985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985" dirty="0" err="1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سیاست‌گذار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57275" y="1286189"/>
            <a:ext cx="5636009" cy="4885732"/>
          </a:xfrm>
          <a:custGeom>
            <a:avLst/>
            <a:gdLst/>
            <a:ahLst/>
            <a:cxnLst/>
            <a:rect l="l" t="t" r="r" b="b"/>
            <a:pathLst>
              <a:path w="5636009" h="4885732">
                <a:moveTo>
                  <a:pt x="142908" y="0"/>
                </a:moveTo>
                <a:lnTo>
                  <a:pt x="5493101" y="0"/>
                </a:lnTo>
                <a:cubicBezTo>
                  <a:pt x="5572027" y="0"/>
                  <a:pt x="5636009" y="63982"/>
                  <a:pt x="5636009" y="142908"/>
                </a:cubicBezTo>
                <a:lnTo>
                  <a:pt x="5636009" y="4742824"/>
                </a:lnTo>
                <a:cubicBezTo>
                  <a:pt x="5636009" y="4821750"/>
                  <a:pt x="5572027" y="4885732"/>
                  <a:pt x="5493101" y="4885732"/>
                </a:cubicBezTo>
                <a:lnTo>
                  <a:pt x="142908" y="4885732"/>
                </a:lnTo>
                <a:cubicBezTo>
                  <a:pt x="63982" y="4885732"/>
                  <a:pt x="0" y="4821750"/>
                  <a:pt x="0" y="4742824"/>
                </a:cubicBezTo>
                <a:lnTo>
                  <a:pt x="0" y="142908"/>
                </a:lnTo>
                <a:cubicBezTo>
                  <a:pt x="0" y="63982"/>
                  <a:pt x="63982" y="0"/>
                  <a:pt x="1429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978" dist="893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71640" y="1500554"/>
            <a:ext cx="5314462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688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مثال استدلال Gemini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71640" y="1929284"/>
            <a:ext cx="5207279" cy="4028273"/>
          </a:xfrm>
          <a:custGeom>
            <a:avLst/>
            <a:gdLst/>
            <a:ahLst/>
            <a:cxnLst/>
            <a:rect l="l" t="t" r="r" b="b"/>
            <a:pathLst>
              <a:path w="5207279" h="4028273">
                <a:moveTo>
                  <a:pt x="107192" y="0"/>
                </a:moveTo>
                <a:lnTo>
                  <a:pt x="5100087" y="0"/>
                </a:lnTo>
                <a:cubicBezTo>
                  <a:pt x="5159287" y="0"/>
                  <a:pt x="5207279" y="47992"/>
                  <a:pt x="5207279" y="107192"/>
                </a:cubicBezTo>
                <a:lnTo>
                  <a:pt x="5207279" y="3921080"/>
                </a:lnTo>
                <a:cubicBezTo>
                  <a:pt x="5207279" y="3980281"/>
                  <a:pt x="5159287" y="4028273"/>
                  <a:pt x="5100087" y="4028273"/>
                </a:cubicBezTo>
                <a:lnTo>
                  <a:pt x="107192" y="4028273"/>
                </a:lnTo>
                <a:cubicBezTo>
                  <a:pt x="47992" y="4028273"/>
                  <a:pt x="0" y="3980281"/>
                  <a:pt x="0" y="3921080"/>
                </a:cubicBezTo>
                <a:lnTo>
                  <a:pt x="0" y="107192"/>
                </a:lnTo>
                <a:cubicBezTo>
                  <a:pt x="0" y="48031"/>
                  <a:pt x="48031" y="0"/>
                  <a:pt x="10719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4" name="Shape 42"/>
          <p:cNvSpPr/>
          <p:nvPr/>
        </p:nvSpPr>
        <p:spPr>
          <a:xfrm>
            <a:off x="786004" y="2143648"/>
            <a:ext cx="4760686" cy="2456264"/>
          </a:xfrm>
          <a:custGeom>
            <a:avLst/>
            <a:gdLst/>
            <a:ahLst/>
            <a:cxnLst/>
            <a:rect l="l" t="t" r="r" b="b"/>
            <a:pathLst>
              <a:path w="4760686" h="2456264">
                <a:moveTo>
                  <a:pt x="107191" y="0"/>
                </a:moveTo>
                <a:lnTo>
                  <a:pt x="4724958" y="0"/>
                </a:lnTo>
                <a:cubicBezTo>
                  <a:pt x="4744690" y="0"/>
                  <a:pt x="4760686" y="15996"/>
                  <a:pt x="4760686" y="35727"/>
                </a:cubicBezTo>
                <a:lnTo>
                  <a:pt x="4760686" y="2420536"/>
                </a:lnTo>
                <a:cubicBezTo>
                  <a:pt x="4760686" y="2440268"/>
                  <a:pt x="4744690" y="2456264"/>
                  <a:pt x="4724958" y="2456264"/>
                </a:cubicBezTo>
                <a:lnTo>
                  <a:pt x="107191" y="2456264"/>
                </a:lnTo>
                <a:cubicBezTo>
                  <a:pt x="47991" y="2456264"/>
                  <a:pt x="0" y="2408273"/>
                  <a:pt x="0" y="2349072"/>
                </a:cubicBezTo>
                <a:lnTo>
                  <a:pt x="0" y="107191"/>
                </a:lnTo>
                <a:cubicBezTo>
                  <a:pt x="0" y="48031"/>
                  <a:pt x="48031" y="0"/>
                  <a:pt x="1071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3591" dist="3572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546690" y="2143648"/>
            <a:ext cx="35727" cy="2456264"/>
          </a:xfrm>
          <a:custGeom>
            <a:avLst/>
            <a:gdLst/>
            <a:ahLst/>
            <a:cxnLst/>
            <a:rect l="l" t="t" r="r" b="b"/>
            <a:pathLst>
              <a:path w="35727" h="2456264">
                <a:moveTo>
                  <a:pt x="0" y="0"/>
                </a:moveTo>
                <a:lnTo>
                  <a:pt x="0" y="0"/>
                </a:lnTo>
                <a:cubicBezTo>
                  <a:pt x="19732" y="0"/>
                  <a:pt x="35727" y="15996"/>
                  <a:pt x="35727" y="35727"/>
                </a:cubicBezTo>
                <a:lnTo>
                  <a:pt x="35727" y="2420536"/>
                </a:lnTo>
                <a:cubicBezTo>
                  <a:pt x="35727" y="2440268"/>
                  <a:pt x="19732" y="2456264"/>
                  <a:pt x="0" y="2456264"/>
                </a:cubicBezTo>
                <a:lnTo>
                  <a:pt x="0" y="2456264"/>
                </a:lnTo>
                <a:lnTo>
                  <a:pt x="0" y="0"/>
                </a:ln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46" name="Shape 44"/>
          <p:cNvSpPr/>
          <p:nvPr/>
        </p:nvSpPr>
        <p:spPr>
          <a:xfrm>
            <a:off x="5106051" y="2340149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50242" y="23446"/>
                </a:moveTo>
                <a:cubicBezTo>
                  <a:pt x="50242" y="10509"/>
                  <a:pt x="60751" y="0"/>
                  <a:pt x="73688" y="0"/>
                </a:cubicBezTo>
                <a:lnTo>
                  <a:pt x="83736" y="0"/>
                </a:lnTo>
                <a:cubicBezTo>
                  <a:pt x="91147" y="0"/>
                  <a:pt x="97134" y="5987"/>
                  <a:pt x="97134" y="13398"/>
                </a:cubicBezTo>
                <a:lnTo>
                  <a:pt x="97134" y="200967"/>
                </a:lnTo>
                <a:cubicBezTo>
                  <a:pt x="97134" y="208378"/>
                  <a:pt x="91147" y="214365"/>
                  <a:pt x="83736" y="214365"/>
                </a:cubicBezTo>
                <a:lnTo>
                  <a:pt x="70338" y="214365"/>
                </a:lnTo>
                <a:cubicBezTo>
                  <a:pt x="57862" y="214365"/>
                  <a:pt x="47353" y="205824"/>
                  <a:pt x="44380" y="194268"/>
                </a:cubicBezTo>
                <a:cubicBezTo>
                  <a:pt x="44087" y="194268"/>
                  <a:pt x="43836" y="194268"/>
                  <a:pt x="43543" y="194268"/>
                </a:cubicBezTo>
                <a:cubicBezTo>
                  <a:pt x="25037" y="194268"/>
                  <a:pt x="10048" y="179279"/>
                  <a:pt x="10048" y="160774"/>
                </a:cubicBezTo>
                <a:cubicBezTo>
                  <a:pt x="10048" y="153237"/>
                  <a:pt x="12560" y="146287"/>
                  <a:pt x="16747" y="140677"/>
                </a:cubicBezTo>
                <a:cubicBezTo>
                  <a:pt x="8625" y="134564"/>
                  <a:pt x="3349" y="124851"/>
                  <a:pt x="3349" y="113881"/>
                </a:cubicBezTo>
                <a:cubicBezTo>
                  <a:pt x="3349" y="100944"/>
                  <a:pt x="10718" y="89682"/>
                  <a:pt x="21436" y="84113"/>
                </a:cubicBezTo>
                <a:cubicBezTo>
                  <a:pt x="18464" y="79089"/>
                  <a:pt x="16747" y="73227"/>
                  <a:pt x="16747" y="66989"/>
                </a:cubicBezTo>
                <a:cubicBezTo>
                  <a:pt x="16747" y="48483"/>
                  <a:pt x="31736" y="33495"/>
                  <a:pt x="50242" y="33495"/>
                </a:cubicBezTo>
                <a:lnTo>
                  <a:pt x="50242" y="23446"/>
                </a:lnTo>
                <a:close/>
                <a:moveTo>
                  <a:pt x="164123" y="23446"/>
                </a:moveTo>
                <a:lnTo>
                  <a:pt x="164123" y="33495"/>
                </a:lnTo>
                <a:cubicBezTo>
                  <a:pt x="182629" y="33495"/>
                  <a:pt x="197618" y="48483"/>
                  <a:pt x="197618" y="66989"/>
                </a:cubicBezTo>
                <a:cubicBezTo>
                  <a:pt x="197618" y="73269"/>
                  <a:pt x="195901" y="79131"/>
                  <a:pt x="192928" y="84113"/>
                </a:cubicBezTo>
                <a:cubicBezTo>
                  <a:pt x="203688" y="89682"/>
                  <a:pt x="211015" y="100902"/>
                  <a:pt x="211015" y="113881"/>
                </a:cubicBezTo>
                <a:cubicBezTo>
                  <a:pt x="211015" y="124851"/>
                  <a:pt x="205740" y="134564"/>
                  <a:pt x="197618" y="140677"/>
                </a:cubicBezTo>
                <a:cubicBezTo>
                  <a:pt x="201804" y="146287"/>
                  <a:pt x="204316" y="153237"/>
                  <a:pt x="204316" y="160774"/>
                </a:cubicBezTo>
                <a:cubicBezTo>
                  <a:pt x="204316" y="179279"/>
                  <a:pt x="189328" y="194268"/>
                  <a:pt x="170822" y="194268"/>
                </a:cubicBezTo>
                <a:cubicBezTo>
                  <a:pt x="170529" y="194268"/>
                  <a:pt x="170278" y="194268"/>
                  <a:pt x="169985" y="194268"/>
                </a:cubicBezTo>
                <a:cubicBezTo>
                  <a:pt x="167012" y="205824"/>
                  <a:pt x="156503" y="214365"/>
                  <a:pt x="144026" y="214365"/>
                </a:cubicBezTo>
                <a:lnTo>
                  <a:pt x="130629" y="214365"/>
                </a:lnTo>
                <a:cubicBezTo>
                  <a:pt x="123218" y="214365"/>
                  <a:pt x="117231" y="208378"/>
                  <a:pt x="117231" y="200967"/>
                </a:cubicBezTo>
                <a:lnTo>
                  <a:pt x="117231" y="13398"/>
                </a:lnTo>
                <a:cubicBezTo>
                  <a:pt x="117231" y="5987"/>
                  <a:pt x="123218" y="0"/>
                  <a:pt x="130629" y="0"/>
                </a:cubicBezTo>
                <a:lnTo>
                  <a:pt x="140677" y="0"/>
                </a:lnTo>
                <a:cubicBezTo>
                  <a:pt x="153614" y="0"/>
                  <a:pt x="164123" y="10509"/>
                  <a:pt x="164123" y="23446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47" name="Text 45"/>
          <p:cNvSpPr/>
          <p:nvPr/>
        </p:nvSpPr>
        <p:spPr>
          <a:xfrm>
            <a:off x="3993289" y="2322286"/>
            <a:ext cx="1071824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407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استدلال عامل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64642" y="2715288"/>
            <a:ext cx="4465934" cy="526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266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با</a:t>
            </a:r>
            <a:r>
              <a:rPr lang="en-US" sz="1266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توجه به </a:t>
            </a:r>
            <a:r>
              <a:rPr lang="en-US" sz="1266" dirty="0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افزایش تقاضای گوشت </a:t>
            </a:r>
            <a:r>
              <a:rPr lang="en-US" sz="1266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و </a:t>
            </a:r>
            <a:r>
              <a:rPr lang="en-US" sz="1266" dirty="0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کاهش مراتع </a:t>
            </a:r>
            <a:r>
              <a:rPr lang="en-US" sz="1266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، تصمیم گرفته‌ام نرخ حمایتی را افزایش </a:t>
            </a:r>
            <a:r>
              <a:rPr lang="en-US" sz="1266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دهم</a:t>
            </a:r>
            <a:r>
              <a:rPr lang="en-US" sz="1266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64642" y="3380712"/>
            <a:ext cx="4385547" cy="1036097"/>
          </a:xfrm>
          <a:custGeom>
            <a:avLst/>
            <a:gdLst/>
            <a:ahLst/>
            <a:cxnLst/>
            <a:rect l="l" t="t" r="r" b="b"/>
            <a:pathLst>
              <a:path w="4385547" h="1036097">
                <a:moveTo>
                  <a:pt x="71460" y="0"/>
                </a:moveTo>
                <a:lnTo>
                  <a:pt x="4314088" y="0"/>
                </a:lnTo>
                <a:cubicBezTo>
                  <a:pt x="4353554" y="0"/>
                  <a:pt x="4385547" y="31994"/>
                  <a:pt x="4385547" y="71460"/>
                </a:cubicBezTo>
                <a:lnTo>
                  <a:pt x="4385547" y="964637"/>
                </a:lnTo>
                <a:cubicBezTo>
                  <a:pt x="4385547" y="1004103"/>
                  <a:pt x="4353554" y="1036097"/>
                  <a:pt x="4314088" y="1036097"/>
                </a:cubicBezTo>
                <a:lnTo>
                  <a:pt x="71460" y="1036097"/>
                </a:lnTo>
                <a:cubicBezTo>
                  <a:pt x="31994" y="1036097"/>
                  <a:pt x="0" y="1004103"/>
                  <a:pt x="0" y="964637"/>
                </a:cubicBezTo>
                <a:lnTo>
                  <a:pt x="0" y="71460"/>
                </a:lnTo>
                <a:cubicBezTo>
                  <a:pt x="0" y="32020"/>
                  <a:pt x="32020" y="0"/>
                  <a:pt x="7146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045761" y="3568281"/>
            <a:ext cx="120580" cy="160774"/>
          </a:xfrm>
          <a:custGeom>
            <a:avLst/>
            <a:gdLst/>
            <a:ahLst/>
            <a:cxnLst/>
            <a:rect l="l" t="t" r="r" b="b"/>
            <a:pathLst>
              <a:path w="120580" h="160774">
                <a:moveTo>
                  <a:pt x="91974" y="120580"/>
                </a:moveTo>
                <a:cubicBezTo>
                  <a:pt x="94266" y="113578"/>
                  <a:pt x="98851" y="107235"/>
                  <a:pt x="104032" y="101771"/>
                </a:cubicBezTo>
                <a:cubicBezTo>
                  <a:pt x="114300" y="90969"/>
                  <a:pt x="120580" y="76367"/>
                  <a:pt x="120580" y="60290"/>
                </a:cubicBezTo>
                <a:cubicBezTo>
                  <a:pt x="120580" y="27005"/>
                  <a:pt x="93575" y="0"/>
                  <a:pt x="60290" y="0"/>
                </a:cubicBezTo>
                <a:cubicBezTo>
                  <a:pt x="27005" y="0"/>
                  <a:pt x="0" y="27005"/>
                  <a:pt x="0" y="60290"/>
                </a:cubicBezTo>
                <a:cubicBezTo>
                  <a:pt x="0" y="76367"/>
                  <a:pt x="6280" y="90969"/>
                  <a:pt x="16548" y="101771"/>
                </a:cubicBezTo>
                <a:cubicBezTo>
                  <a:pt x="21730" y="107235"/>
                  <a:pt x="26346" y="113578"/>
                  <a:pt x="28606" y="120580"/>
                </a:cubicBezTo>
                <a:lnTo>
                  <a:pt x="91942" y="120580"/>
                </a:lnTo>
                <a:close/>
                <a:moveTo>
                  <a:pt x="90435" y="135653"/>
                </a:moveTo>
                <a:lnTo>
                  <a:pt x="30145" y="135653"/>
                </a:lnTo>
                <a:lnTo>
                  <a:pt x="30145" y="140677"/>
                </a:lnTo>
                <a:cubicBezTo>
                  <a:pt x="30145" y="154556"/>
                  <a:pt x="41387" y="165798"/>
                  <a:pt x="55266" y="165798"/>
                </a:cubicBezTo>
                <a:lnTo>
                  <a:pt x="65314" y="165798"/>
                </a:lnTo>
                <a:cubicBezTo>
                  <a:pt x="79194" y="165798"/>
                  <a:pt x="90435" y="154556"/>
                  <a:pt x="90435" y="140677"/>
                </a:cubicBezTo>
                <a:lnTo>
                  <a:pt x="90435" y="135653"/>
                </a:lnTo>
                <a:close/>
                <a:moveTo>
                  <a:pt x="57778" y="35169"/>
                </a:moveTo>
                <a:cubicBezTo>
                  <a:pt x="45280" y="35169"/>
                  <a:pt x="35169" y="45280"/>
                  <a:pt x="35169" y="57778"/>
                </a:cubicBezTo>
                <a:cubicBezTo>
                  <a:pt x="35169" y="61954"/>
                  <a:pt x="31809" y="65314"/>
                  <a:pt x="27633" y="65314"/>
                </a:cubicBezTo>
                <a:cubicBezTo>
                  <a:pt x="23457" y="65314"/>
                  <a:pt x="20097" y="61954"/>
                  <a:pt x="20097" y="57778"/>
                </a:cubicBezTo>
                <a:cubicBezTo>
                  <a:pt x="20097" y="36959"/>
                  <a:pt x="36959" y="20097"/>
                  <a:pt x="57778" y="20097"/>
                </a:cubicBezTo>
                <a:cubicBezTo>
                  <a:pt x="61954" y="20097"/>
                  <a:pt x="65314" y="23457"/>
                  <a:pt x="65314" y="27633"/>
                </a:cubicBezTo>
                <a:cubicBezTo>
                  <a:pt x="65314" y="31809"/>
                  <a:pt x="61954" y="35169"/>
                  <a:pt x="57778" y="35169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51" name="Text 49"/>
          <p:cNvSpPr/>
          <p:nvPr/>
        </p:nvSpPr>
        <p:spPr>
          <a:xfrm>
            <a:off x="3784730" y="3523622"/>
            <a:ext cx="1187938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66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چرا </a:t>
            </a:r>
            <a:r>
              <a:rPr lang="en-US" sz="1266" b="1" dirty="0" err="1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فقط</a:t>
            </a:r>
            <a:r>
              <a:rPr lang="en-US" sz="1266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 ۱</a:t>
            </a:r>
            <a:r>
              <a:rPr lang="fa-IR" sz="1266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 </a:t>
            </a:r>
            <a:r>
              <a:rPr lang="en-US" sz="1266" b="1" dirty="0" err="1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درصد</a:t>
            </a:r>
            <a:r>
              <a:rPr lang="en-US" sz="1266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؟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107552" y="3845169"/>
            <a:ext cx="4171182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125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برای</a:t>
            </a:r>
            <a:r>
              <a:rPr lang="en-US" sz="112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25" b="1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جلوگیری از شوک به بازار</a:t>
            </a:r>
            <a:r>
              <a:rPr lang="en-US" sz="112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، ترجیح می‌دهم تغییرات را به صورت </a:t>
            </a:r>
            <a:r>
              <a:rPr lang="en-US" sz="1125" b="1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تدریجی</a:t>
            </a:r>
            <a:r>
              <a:rPr lang="en-US" sz="112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25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اعمال</a:t>
            </a:r>
            <a:r>
              <a:rPr lang="en-US" sz="112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25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کنم</a:t>
            </a:r>
            <a:r>
              <a:rPr lang="en-US" sz="1125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132847" y="4774084"/>
            <a:ext cx="428730" cy="428730"/>
          </a:xfrm>
          <a:custGeom>
            <a:avLst/>
            <a:gdLst/>
            <a:ahLst/>
            <a:cxnLst/>
            <a:rect l="l" t="t" r="r" b="b"/>
            <a:pathLst>
              <a:path w="428730" h="428730">
                <a:moveTo>
                  <a:pt x="107182" y="0"/>
                </a:moveTo>
                <a:lnTo>
                  <a:pt x="321547" y="0"/>
                </a:lnTo>
                <a:cubicBezTo>
                  <a:pt x="380742" y="0"/>
                  <a:pt x="428730" y="47987"/>
                  <a:pt x="428730" y="107182"/>
                </a:cubicBezTo>
                <a:lnTo>
                  <a:pt x="428730" y="321547"/>
                </a:lnTo>
                <a:cubicBezTo>
                  <a:pt x="428730" y="380742"/>
                  <a:pt x="380742" y="428730"/>
                  <a:pt x="321547" y="428730"/>
                </a:cubicBezTo>
                <a:lnTo>
                  <a:pt x="107182" y="428730"/>
                </a:lnTo>
                <a:cubicBezTo>
                  <a:pt x="47987" y="428730"/>
                  <a:pt x="0" y="380742"/>
                  <a:pt x="0" y="321547"/>
                </a:cubicBezTo>
                <a:lnTo>
                  <a:pt x="0" y="107182"/>
                </a:lnTo>
                <a:cubicBezTo>
                  <a:pt x="0" y="48027"/>
                  <a:pt x="48027" y="0"/>
                  <a:pt x="107182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54" name="Shape 52"/>
          <p:cNvSpPr/>
          <p:nvPr/>
        </p:nvSpPr>
        <p:spPr>
          <a:xfrm>
            <a:off x="5269058" y="4899130"/>
            <a:ext cx="156308" cy="178637"/>
          </a:xfrm>
          <a:custGeom>
            <a:avLst/>
            <a:gdLst/>
            <a:ahLst/>
            <a:cxnLst/>
            <a:rect l="l" t="t" r="r" b="b"/>
            <a:pathLst>
              <a:path w="156308" h="178637">
                <a:moveTo>
                  <a:pt x="66989" y="44659"/>
                </a:moveTo>
                <a:cubicBezTo>
                  <a:pt x="66989" y="26173"/>
                  <a:pt x="51981" y="11165"/>
                  <a:pt x="33495" y="11165"/>
                </a:cubicBezTo>
                <a:cubicBezTo>
                  <a:pt x="15008" y="11165"/>
                  <a:pt x="0" y="26173"/>
                  <a:pt x="0" y="44659"/>
                </a:cubicBezTo>
                <a:cubicBezTo>
                  <a:pt x="0" y="63145"/>
                  <a:pt x="15008" y="78154"/>
                  <a:pt x="33495" y="78154"/>
                </a:cubicBezTo>
                <a:cubicBezTo>
                  <a:pt x="51981" y="78154"/>
                  <a:pt x="66989" y="63145"/>
                  <a:pt x="66989" y="44659"/>
                </a:cubicBezTo>
                <a:close/>
                <a:moveTo>
                  <a:pt x="156308" y="133978"/>
                </a:moveTo>
                <a:cubicBezTo>
                  <a:pt x="156308" y="115492"/>
                  <a:pt x="141299" y="100484"/>
                  <a:pt x="122813" y="100484"/>
                </a:cubicBezTo>
                <a:cubicBezTo>
                  <a:pt x="104327" y="100484"/>
                  <a:pt x="89319" y="115492"/>
                  <a:pt x="89319" y="133978"/>
                </a:cubicBezTo>
                <a:cubicBezTo>
                  <a:pt x="89319" y="152464"/>
                  <a:pt x="104327" y="167473"/>
                  <a:pt x="122813" y="167473"/>
                </a:cubicBezTo>
                <a:cubicBezTo>
                  <a:pt x="141299" y="167473"/>
                  <a:pt x="156308" y="152464"/>
                  <a:pt x="156308" y="133978"/>
                </a:cubicBezTo>
                <a:close/>
                <a:moveTo>
                  <a:pt x="153028" y="30215"/>
                </a:moveTo>
                <a:cubicBezTo>
                  <a:pt x="157389" y="25854"/>
                  <a:pt x="157389" y="18771"/>
                  <a:pt x="153028" y="14410"/>
                </a:cubicBezTo>
                <a:cubicBezTo>
                  <a:pt x="148667" y="10048"/>
                  <a:pt x="141584" y="10048"/>
                  <a:pt x="137223" y="14410"/>
                </a:cubicBezTo>
                <a:lnTo>
                  <a:pt x="3245" y="148388"/>
                </a:lnTo>
                <a:cubicBezTo>
                  <a:pt x="-1116" y="152749"/>
                  <a:pt x="-1116" y="159832"/>
                  <a:pt x="3245" y="164193"/>
                </a:cubicBezTo>
                <a:cubicBezTo>
                  <a:pt x="7606" y="168554"/>
                  <a:pt x="14689" y="168554"/>
                  <a:pt x="19050" y="164193"/>
                </a:cubicBezTo>
                <a:lnTo>
                  <a:pt x="153028" y="3021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4315879" y="4738356"/>
            <a:ext cx="760399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688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+1%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315880" y="5024176"/>
            <a:ext cx="749234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125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تغییر مالیات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357274" y="6173704"/>
            <a:ext cx="11477451" cy="607367"/>
          </a:xfrm>
          <a:custGeom>
            <a:avLst/>
            <a:gdLst/>
            <a:ahLst/>
            <a:cxnLst/>
            <a:rect l="l" t="t" r="r" b="b"/>
            <a:pathLst>
              <a:path w="11477451" h="607367">
                <a:moveTo>
                  <a:pt x="107182" y="0"/>
                </a:moveTo>
                <a:lnTo>
                  <a:pt x="11370268" y="0"/>
                </a:lnTo>
                <a:cubicBezTo>
                  <a:pt x="11429464" y="0"/>
                  <a:pt x="11477451" y="47987"/>
                  <a:pt x="11477451" y="107182"/>
                </a:cubicBezTo>
                <a:lnTo>
                  <a:pt x="11477451" y="500185"/>
                </a:lnTo>
                <a:cubicBezTo>
                  <a:pt x="11477451" y="559380"/>
                  <a:pt x="11429464" y="607367"/>
                  <a:pt x="11370268" y="607367"/>
                </a:cubicBezTo>
                <a:lnTo>
                  <a:pt x="107182" y="607367"/>
                </a:lnTo>
                <a:cubicBezTo>
                  <a:pt x="47987" y="607367"/>
                  <a:pt x="0" y="559380"/>
                  <a:pt x="0" y="500185"/>
                </a:cubicBezTo>
                <a:lnTo>
                  <a:pt x="0" y="107182"/>
                </a:lnTo>
                <a:cubicBezTo>
                  <a:pt x="0" y="48027"/>
                  <a:pt x="48027" y="0"/>
                  <a:pt x="107182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/>
              </a:gs>
              <a:gs pos="100000">
                <a:srgbClr val="4A6C7C"/>
              </a:gs>
            </a:gsLst>
            <a:lin ang="0" scaled="1"/>
          </a:gradFill>
          <a:ln/>
        </p:spPr>
      </p:sp>
      <p:sp>
        <p:nvSpPr>
          <p:cNvPr id="58" name="Shape 56"/>
          <p:cNvSpPr/>
          <p:nvPr/>
        </p:nvSpPr>
        <p:spPr>
          <a:xfrm>
            <a:off x="11417904" y="6370205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26796" y="26796"/>
                </a:moveTo>
                <a:cubicBezTo>
                  <a:pt x="26796" y="19385"/>
                  <a:pt x="20808" y="13398"/>
                  <a:pt x="13398" y="13398"/>
                </a:cubicBezTo>
                <a:cubicBezTo>
                  <a:pt x="5987" y="13398"/>
                  <a:pt x="0" y="19385"/>
                  <a:pt x="0" y="26796"/>
                </a:cubicBezTo>
                <a:lnTo>
                  <a:pt x="0" y="167473"/>
                </a:lnTo>
                <a:cubicBezTo>
                  <a:pt x="0" y="185978"/>
                  <a:pt x="14989" y="200967"/>
                  <a:pt x="33495" y="200967"/>
                </a:cubicBezTo>
                <a:lnTo>
                  <a:pt x="200967" y="200967"/>
                </a:lnTo>
                <a:cubicBezTo>
                  <a:pt x="208378" y="200967"/>
                  <a:pt x="214365" y="194980"/>
                  <a:pt x="214365" y="187569"/>
                </a:cubicBezTo>
                <a:cubicBezTo>
                  <a:pt x="214365" y="180159"/>
                  <a:pt x="208378" y="174171"/>
                  <a:pt x="200967" y="174171"/>
                </a:cubicBezTo>
                <a:lnTo>
                  <a:pt x="33495" y="174171"/>
                </a:lnTo>
                <a:cubicBezTo>
                  <a:pt x="29810" y="174171"/>
                  <a:pt x="26796" y="171157"/>
                  <a:pt x="26796" y="167473"/>
                </a:cubicBezTo>
                <a:lnTo>
                  <a:pt x="26796" y="26796"/>
                </a:lnTo>
                <a:close/>
                <a:moveTo>
                  <a:pt x="197031" y="63053"/>
                </a:moveTo>
                <a:cubicBezTo>
                  <a:pt x="202265" y="57820"/>
                  <a:pt x="202265" y="49321"/>
                  <a:pt x="197031" y="44087"/>
                </a:cubicBezTo>
                <a:cubicBezTo>
                  <a:pt x="191798" y="38854"/>
                  <a:pt x="183299" y="38854"/>
                  <a:pt x="178065" y="44087"/>
                </a:cubicBezTo>
                <a:lnTo>
                  <a:pt x="133978" y="88216"/>
                </a:lnTo>
                <a:lnTo>
                  <a:pt x="109946" y="64226"/>
                </a:lnTo>
                <a:cubicBezTo>
                  <a:pt x="104712" y="58992"/>
                  <a:pt x="96213" y="58992"/>
                  <a:pt x="90979" y="64226"/>
                </a:cubicBezTo>
                <a:lnTo>
                  <a:pt x="50786" y="104419"/>
                </a:lnTo>
                <a:cubicBezTo>
                  <a:pt x="45553" y="109653"/>
                  <a:pt x="45553" y="118152"/>
                  <a:pt x="50786" y="123385"/>
                </a:cubicBezTo>
                <a:cubicBezTo>
                  <a:pt x="56020" y="128619"/>
                  <a:pt x="64519" y="128619"/>
                  <a:pt x="69752" y="123385"/>
                </a:cubicBezTo>
                <a:lnTo>
                  <a:pt x="100484" y="92654"/>
                </a:lnTo>
                <a:lnTo>
                  <a:pt x="124516" y="116686"/>
                </a:lnTo>
                <a:cubicBezTo>
                  <a:pt x="129749" y="121920"/>
                  <a:pt x="138249" y="121920"/>
                  <a:pt x="143482" y="116686"/>
                </a:cubicBezTo>
                <a:lnTo>
                  <a:pt x="197073" y="63095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59" name="Text 57"/>
          <p:cNvSpPr/>
          <p:nvPr/>
        </p:nvSpPr>
        <p:spPr>
          <a:xfrm>
            <a:off x="2593367" y="6352341"/>
            <a:ext cx="8735367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66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قابلیت تحلیل:</a:t>
            </a:r>
            <a:r>
              <a:rPr lang="en-US" sz="1266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با لاگر جدید می‌توان نمودارهای سری زمانی از نحوه تغییر تفکر عامل در طول سال‌های مختلف را به راحتی استخراج کرد.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6337" y="474894"/>
            <a:ext cx="511425" cy="511425"/>
          </a:xfrm>
          <a:custGeom>
            <a:avLst/>
            <a:gdLst/>
            <a:ahLst/>
            <a:cxnLst/>
            <a:rect l="l" t="t" r="r" b="b"/>
            <a:pathLst>
              <a:path w="511425" h="511425">
                <a:moveTo>
                  <a:pt x="146119" y="0"/>
                </a:moveTo>
                <a:lnTo>
                  <a:pt x="365306" y="0"/>
                </a:lnTo>
                <a:cubicBezTo>
                  <a:pt x="445951" y="0"/>
                  <a:pt x="511425" y="65474"/>
                  <a:pt x="511425" y="146119"/>
                </a:cubicBezTo>
                <a:lnTo>
                  <a:pt x="511425" y="365306"/>
                </a:lnTo>
                <a:cubicBezTo>
                  <a:pt x="511425" y="445951"/>
                  <a:pt x="445951" y="511425"/>
                  <a:pt x="365306" y="511425"/>
                </a:cubicBezTo>
                <a:lnTo>
                  <a:pt x="146119" y="511425"/>
                </a:lnTo>
                <a:cubicBezTo>
                  <a:pt x="65474" y="511425"/>
                  <a:pt x="0" y="445951"/>
                  <a:pt x="0" y="365306"/>
                </a:cubicBezTo>
                <a:lnTo>
                  <a:pt x="0" y="146119"/>
                </a:lnTo>
                <a:cubicBezTo>
                  <a:pt x="0" y="65474"/>
                  <a:pt x="65474" y="0"/>
                  <a:pt x="146119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blurRad="136989" dist="9132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462459" y="621016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13699" y="13699"/>
                </a:moveTo>
                <a:cubicBezTo>
                  <a:pt x="21276" y="13699"/>
                  <a:pt x="27398" y="19821"/>
                  <a:pt x="27398" y="27398"/>
                </a:cubicBezTo>
                <a:lnTo>
                  <a:pt x="27398" y="171236"/>
                </a:lnTo>
                <a:cubicBezTo>
                  <a:pt x="27398" y="175003"/>
                  <a:pt x="30480" y="178085"/>
                  <a:pt x="34247" y="178085"/>
                </a:cubicBezTo>
                <a:lnTo>
                  <a:pt x="205483" y="178085"/>
                </a:lnTo>
                <a:cubicBezTo>
                  <a:pt x="213060" y="178085"/>
                  <a:pt x="219182" y="184207"/>
                  <a:pt x="219182" y="191784"/>
                </a:cubicBezTo>
                <a:cubicBezTo>
                  <a:pt x="219182" y="199361"/>
                  <a:pt x="213060" y="205483"/>
                  <a:pt x="205483" y="205483"/>
                </a:cubicBezTo>
                <a:lnTo>
                  <a:pt x="34247" y="205483"/>
                </a:lnTo>
                <a:cubicBezTo>
                  <a:pt x="15326" y="205483"/>
                  <a:pt x="0" y="190158"/>
                  <a:pt x="0" y="171236"/>
                </a:cubicBezTo>
                <a:lnTo>
                  <a:pt x="0" y="27398"/>
                </a:lnTo>
                <a:cubicBezTo>
                  <a:pt x="0" y="19821"/>
                  <a:pt x="6122" y="13699"/>
                  <a:pt x="13699" y="13699"/>
                </a:cubicBezTo>
                <a:close/>
                <a:moveTo>
                  <a:pt x="54796" y="41097"/>
                </a:moveTo>
                <a:cubicBezTo>
                  <a:pt x="54796" y="33519"/>
                  <a:pt x="60917" y="27398"/>
                  <a:pt x="68494" y="27398"/>
                </a:cubicBezTo>
                <a:lnTo>
                  <a:pt x="150688" y="27398"/>
                </a:lnTo>
                <a:cubicBezTo>
                  <a:pt x="158265" y="27398"/>
                  <a:pt x="164387" y="33519"/>
                  <a:pt x="164387" y="41097"/>
                </a:cubicBezTo>
                <a:cubicBezTo>
                  <a:pt x="164387" y="48674"/>
                  <a:pt x="158265" y="54796"/>
                  <a:pt x="150688" y="54796"/>
                </a:cubicBezTo>
                <a:lnTo>
                  <a:pt x="68494" y="54796"/>
                </a:lnTo>
                <a:cubicBezTo>
                  <a:pt x="60917" y="54796"/>
                  <a:pt x="54796" y="48674"/>
                  <a:pt x="54796" y="41097"/>
                </a:cubicBezTo>
                <a:close/>
                <a:moveTo>
                  <a:pt x="68494" y="75344"/>
                </a:moveTo>
                <a:lnTo>
                  <a:pt x="123290" y="75344"/>
                </a:lnTo>
                <a:cubicBezTo>
                  <a:pt x="130867" y="75344"/>
                  <a:pt x="136989" y="81466"/>
                  <a:pt x="136989" y="89043"/>
                </a:cubicBezTo>
                <a:cubicBezTo>
                  <a:pt x="136989" y="96620"/>
                  <a:pt x="130867" y="102742"/>
                  <a:pt x="123290" y="102742"/>
                </a:cubicBezTo>
                <a:lnTo>
                  <a:pt x="68494" y="102742"/>
                </a:lnTo>
                <a:cubicBezTo>
                  <a:pt x="60917" y="102742"/>
                  <a:pt x="54796" y="96620"/>
                  <a:pt x="54796" y="89043"/>
                </a:cubicBezTo>
                <a:cubicBezTo>
                  <a:pt x="54796" y="81466"/>
                  <a:pt x="60917" y="75344"/>
                  <a:pt x="68494" y="75344"/>
                </a:cubicBezTo>
                <a:close/>
                <a:moveTo>
                  <a:pt x="68494" y="123290"/>
                </a:moveTo>
                <a:lnTo>
                  <a:pt x="178085" y="123290"/>
                </a:lnTo>
                <a:cubicBezTo>
                  <a:pt x="185663" y="123290"/>
                  <a:pt x="191784" y="129412"/>
                  <a:pt x="191784" y="136989"/>
                </a:cubicBezTo>
                <a:cubicBezTo>
                  <a:pt x="191784" y="144566"/>
                  <a:pt x="185663" y="150688"/>
                  <a:pt x="178085" y="150688"/>
                </a:cubicBezTo>
                <a:lnTo>
                  <a:pt x="68494" y="150688"/>
                </a:lnTo>
                <a:cubicBezTo>
                  <a:pt x="60917" y="150688"/>
                  <a:pt x="54796" y="144566"/>
                  <a:pt x="54796" y="136989"/>
                </a:cubicBezTo>
                <a:cubicBezTo>
                  <a:pt x="54796" y="129412"/>
                  <a:pt x="60917" y="123290"/>
                  <a:pt x="68494" y="12329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683530" y="365303"/>
            <a:ext cx="4575425" cy="43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80000"/>
              </a:lnSpc>
            </a:pPr>
            <a:r>
              <a:rPr lang="en-US" sz="3452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نتایج شبیه‌سازی و مقایسه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83530" y="840198"/>
            <a:ext cx="4575425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438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Simulation Results &amp; Comparison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128761" y="1315092"/>
            <a:ext cx="3698697" cy="2995488"/>
          </a:xfrm>
          <a:custGeom>
            <a:avLst/>
            <a:gdLst/>
            <a:ahLst/>
            <a:cxnLst/>
            <a:rect l="l" t="t" r="r" b="b"/>
            <a:pathLst>
              <a:path w="3698697" h="2995488">
                <a:moveTo>
                  <a:pt x="146120" y="0"/>
                </a:moveTo>
                <a:lnTo>
                  <a:pt x="3552577" y="0"/>
                </a:lnTo>
                <a:cubicBezTo>
                  <a:pt x="3633277" y="0"/>
                  <a:pt x="3698697" y="65420"/>
                  <a:pt x="3698697" y="146120"/>
                </a:cubicBezTo>
                <a:lnTo>
                  <a:pt x="3698697" y="2849368"/>
                </a:lnTo>
                <a:cubicBezTo>
                  <a:pt x="3698697" y="2930068"/>
                  <a:pt x="3633277" y="2995488"/>
                  <a:pt x="3552577" y="2995488"/>
                </a:cubicBezTo>
                <a:lnTo>
                  <a:pt x="146120" y="2995488"/>
                </a:lnTo>
                <a:cubicBezTo>
                  <a:pt x="65420" y="2995488"/>
                  <a:pt x="0" y="2930068"/>
                  <a:pt x="0" y="2849368"/>
                </a:cubicBezTo>
                <a:lnTo>
                  <a:pt x="0" y="146120"/>
                </a:lnTo>
                <a:cubicBezTo>
                  <a:pt x="0" y="65474"/>
                  <a:pt x="65474" y="0"/>
                  <a:pt x="1461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989" dist="9132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170216" y="1534274"/>
            <a:ext cx="438364" cy="438364"/>
          </a:xfrm>
          <a:custGeom>
            <a:avLst/>
            <a:gdLst/>
            <a:ahLst/>
            <a:cxnLst/>
            <a:rect l="l" t="t" r="r" b="b"/>
            <a:pathLst>
              <a:path w="438364" h="438364">
                <a:moveTo>
                  <a:pt x="109591" y="0"/>
                </a:moveTo>
                <a:lnTo>
                  <a:pt x="328773" y="0"/>
                </a:lnTo>
                <a:cubicBezTo>
                  <a:pt x="389258" y="0"/>
                  <a:pt x="438364" y="49106"/>
                  <a:pt x="438364" y="109591"/>
                </a:cubicBezTo>
                <a:lnTo>
                  <a:pt x="438364" y="328773"/>
                </a:lnTo>
                <a:cubicBezTo>
                  <a:pt x="438364" y="389258"/>
                  <a:pt x="389258" y="438364"/>
                  <a:pt x="328773" y="438364"/>
                </a:cubicBezTo>
                <a:lnTo>
                  <a:pt x="109591" y="438364"/>
                </a:lnTo>
                <a:cubicBezTo>
                  <a:pt x="49106" y="438364"/>
                  <a:pt x="0" y="389258"/>
                  <a:pt x="0" y="328773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8" name="Shape 6"/>
          <p:cNvSpPr/>
          <p:nvPr/>
        </p:nvSpPr>
        <p:spPr>
          <a:xfrm>
            <a:off x="11298072" y="1662130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22831" y="22831"/>
                </a:moveTo>
                <a:cubicBezTo>
                  <a:pt x="22831" y="16517"/>
                  <a:pt x="17730" y="11416"/>
                  <a:pt x="11416" y="11416"/>
                </a:cubicBezTo>
                <a:cubicBezTo>
                  <a:pt x="5101" y="11416"/>
                  <a:pt x="0" y="16517"/>
                  <a:pt x="0" y="22831"/>
                </a:cubicBezTo>
                <a:lnTo>
                  <a:pt x="0" y="142697"/>
                </a:lnTo>
                <a:cubicBezTo>
                  <a:pt x="0" y="158465"/>
                  <a:pt x="12771" y="171236"/>
                  <a:pt x="28539" y="171236"/>
                </a:cubicBezTo>
                <a:lnTo>
                  <a:pt x="171236" y="171236"/>
                </a:lnTo>
                <a:cubicBezTo>
                  <a:pt x="177550" y="171236"/>
                  <a:pt x="182652" y="166135"/>
                  <a:pt x="182652" y="159820"/>
                </a:cubicBezTo>
                <a:cubicBezTo>
                  <a:pt x="182652" y="153506"/>
                  <a:pt x="177550" y="148404"/>
                  <a:pt x="171236" y="148404"/>
                </a:cubicBezTo>
                <a:lnTo>
                  <a:pt x="28539" y="148404"/>
                </a:lnTo>
                <a:cubicBezTo>
                  <a:pt x="25400" y="148404"/>
                  <a:pt x="22831" y="145836"/>
                  <a:pt x="22831" y="142697"/>
                </a:cubicBezTo>
                <a:lnTo>
                  <a:pt x="22831" y="22831"/>
                </a:lnTo>
                <a:close/>
                <a:moveTo>
                  <a:pt x="167883" y="53725"/>
                </a:moveTo>
                <a:cubicBezTo>
                  <a:pt x="172342" y="49266"/>
                  <a:pt x="172342" y="42024"/>
                  <a:pt x="167883" y="37565"/>
                </a:cubicBezTo>
                <a:cubicBezTo>
                  <a:pt x="163423" y="33106"/>
                  <a:pt x="156181" y="33106"/>
                  <a:pt x="151722" y="37565"/>
                </a:cubicBezTo>
                <a:lnTo>
                  <a:pt x="114157" y="75165"/>
                </a:lnTo>
                <a:lnTo>
                  <a:pt x="93680" y="54724"/>
                </a:lnTo>
                <a:cubicBezTo>
                  <a:pt x="89221" y="50265"/>
                  <a:pt x="81979" y="50265"/>
                  <a:pt x="77520" y="54724"/>
                </a:cubicBezTo>
                <a:lnTo>
                  <a:pt x="43273" y="88971"/>
                </a:lnTo>
                <a:cubicBezTo>
                  <a:pt x="38813" y="93431"/>
                  <a:pt x="38813" y="100672"/>
                  <a:pt x="43273" y="105132"/>
                </a:cubicBezTo>
                <a:cubicBezTo>
                  <a:pt x="47732" y="109591"/>
                  <a:pt x="54974" y="109591"/>
                  <a:pt x="59433" y="105132"/>
                </a:cubicBezTo>
                <a:lnTo>
                  <a:pt x="85618" y="78947"/>
                </a:lnTo>
                <a:lnTo>
                  <a:pt x="106095" y="99424"/>
                </a:lnTo>
                <a:cubicBezTo>
                  <a:pt x="110554" y="103883"/>
                  <a:pt x="117796" y="103883"/>
                  <a:pt x="122255" y="99424"/>
                </a:cubicBezTo>
                <a:lnTo>
                  <a:pt x="167918" y="537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938078" y="1625600"/>
            <a:ext cx="1214634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438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یافته‌های عددی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347943" y="2118760"/>
            <a:ext cx="3260333" cy="1022849"/>
          </a:xfrm>
          <a:custGeom>
            <a:avLst/>
            <a:gdLst/>
            <a:ahLst/>
            <a:cxnLst/>
            <a:rect l="l" t="t" r="r" b="b"/>
            <a:pathLst>
              <a:path w="3260333" h="1022849">
                <a:moveTo>
                  <a:pt x="109588" y="0"/>
                </a:moveTo>
                <a:lnTo>
                  <a:pt x="3150744" y="0"/>
                </a:lnTo>
                <a:cubicBezTo>
                  <a:pt x="3211268" y="0"/>
                  <a:pt x="3260333" y="49064"/>
                  <a:pt x="3260333" y="109588"/>
                </a:cubicBezTo>
                <a:lnTo>
                  <a:pt x="3260333" y="913261"/>
                </a:lnTo>
                <a:cubicBezTo>
                  <a:pt x="3260333" y="973785"/>
                  <a:pt x="3211268" y="1022849"/>
                  <a:pt x="3150744" y="1022849"/>
                </a:cubicBezTo>
                <a:lnTo>
                  <a:pt x="109588" y="1022849"/>
                </a:lnTo>
                <a:cubicBezTo>
                  <a:pt x="49105" y="1022849"/>
                  <a:pt x="0" y="973745"/>
                  <a:pt x="0" y="913261"/>
                </a:cubicBezTo>
                <a:lnTo>
                  <a:pt x="0" y="109588"/>
                </a:lnTo>
                <a:cubicBezTo>
                  <a:pt x="0" y="49064"/>
                  <a:pt x="49064" y="0"/>
                  <a:pt x="10958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8384474" y="2264881"/>
            <a:ext cx="3187272" cy="43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52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↓ X%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457534" y="2776306"/>
            <a:ext cx="3041151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1151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کاهش خطای تولید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47943" y="3287730"/>
            <a:ext cx="3333393" cy="712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151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عامل‌های LLM </a:t>
            </a:r>
            <a:r>
              <a:rPr lang="fa-IR" sz="1151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51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به</a:t>
            </a:r>
            <a:r>
              <a:rPr lang="en-US" sz="1151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خصوص با پشتیبانی </a:t>
            </a:r>
            <a:r>
              <a:rPr lang="en-US" sz="1151" b="1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Gemini </a:t>
            </a:r>
            <a:r>
              <a:rPr lang="fa-IR" sz="1151" b="1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51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توانسته‌اند</a:t>
            </a:r>
            <a:r>
              <a:rPr lang="en-US" sz="1151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خطای تولید را نسبت به </a:t>
            </a:r>
            <a:r>
              <a:rPr lang="en-US" sz="1151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سناریوی</a:t>
            </a:r>
            <a:r>
              <a:rPr lang="en-US" sz="1151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51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بدون</a:t>
            </a:r>
            <a:r>
              <a:rPr lang="en-US" sz="1151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51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سیاست</a:t>
            </a:r>
            <a:r>
              <a:rPr lang="en-US" sz="1151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کاهش دهند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47108" y="1315092"/>
            <a:ext cx="3698697" cy="2995488"/>
          </a:xfrm>
          <a:custGeom>
            <a:avLst/>
            <a:gdLst/>
            <a:ahLst/>
            <a:cxnLst/>
            <a:rect l="l" t="t" r="r" b="b"/>
            <a:pathLst>
              <a:path w="3698697" h="2995488">
                <a:moveTo>
                  <a:pt x="146120" y="0"/>
                </a:moveTo>
                <a:lnTo>
                  <a:pt x="3552577" y="0"/>
                </a:lnTo>
                <a:cubicBezTo>
                  <a:pt x="3633277" y="0"/>
                  <a:pt x="3698697" y="65420"/>
                  <a:pt x="3698697" y="146120"/>
                </a:cubicBezTo>
                <a:lnTo>
                  <a:pt x="3698697" y="2849368"/>
                </a:lnTo>
                <a:cubicBezTo>
                  <a:pt x="3698697" y="2930068"/>
                  <a:pt x="3633277" y="2995488"/>
                  <a:pt x="3552577" y="2995488"/>
                </a:cubicBezTo>
                <a:lnTo>
                  <a:pt x="146120" y="2995488"/>
                </a:lnTo>
                <a:cubicBezTo>
                  <a:pt x="65420" y="2995488"/>
                  <a:pt x="0" y="2930068"/>
                  <a:pt x="0" y="2849368"/>
                </a:cubicBezTo>
                <a:lnTo>
                  <a:pt x="0" y="146120"/>
                </a:lnTo>
                <a:cubicBezTo>
                  <a:pt x="0" y="65474"/>
                  <a:pt x="65474" y="0"/>
                  <a:pt x="1461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989" dist="9132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88563" y="1534274"/>
            <a:ext cx="438364" cy="438364"/>
          </a:xfrm>
          <a:custGeom>
            <a:avLst/>
            <a:gdLst/>
            <a:ahLst/>
            <a:cxnLst/>
            <a:rect l="l" t="t" r="r" b="b"/>
            <a:pathLst>
              <a:path w="438364" h="438364">
                <a:moveTo>
                  <a:pt x="109591" y="0"/>
                </a:moveTo>
                <a:lnTo>
                  <a:pt x="328773" y="0"/>
                </a:lnTo>
                <a:cubicBezTo>
                  <a:pt x="389258" y="0"/>
                  <a:pt x="438364" y="49106"/>
                  <a:pt x="438364" y="109591"/>
                </a:cubicBezTo>
                <a:lnTo>
                  <a:pt x="438364" y="328773"/>
                </a:lnTo>
                <a:cubicBezTo>
                  <a:pt x="438364" y="389258"/>
                  <a:pt x="389258" y="438364"/>
                  <a:pt x="328773" y="438364"/>
                </a:cubicBezTo>
                <a:lnTo>
                  <a:pt x="109591" y="438364"/>
                </a:lnTo>
                <a:cubicBezTo>
                  <a:pt x="49106" y="438364"/>
                  <a:pt x="0" y="389258"/>
                  <a:pt x="0" y="328773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16" name="Shape 14"/>
          <p:cNvSpPr/>
          <p:nvPr/>
        </p:nvSpPr>
        <p:spPr>
          <a:xfrm>
            <a:off x="7439251" y="1662130"/>
            <a:ext cx="136989" cy="182652"/>
          </a:xfrm>
          <a:custGeom>
            <a:avLst/>
            <a:gdLst/>
            <a:ahLst/>
            <a:cxnLst/>
            <a:rect l="l" t="t" r="r" b="b"/>
            <a:pathLst>
              <a:path w="136989" h="182652">
                <a:moveTo>
                  <a:pt x="68494" y="28539"/>
                </a:moveTo>
                <a:cubicBezTo>
                  <a:pt x="79520" y="28539"/>
                  <a:pt x="88472" y="19588"/>
                  <a:pt x="88472" y="8562"/>
                </a:cubicBezTo>
                <a:cubicBezTo>
                  <a:pt x="88472" y="-2464"/>
                  <a:pt x="79520" y="-11416"/>
                  <a:pt x="68494" y="-11416"/>
                </a:cubicBezTo>
                <a:cubicBezTo>
                  <a:pt x="57468" y="-11416"/>
                  <a:pt x="48517" y="-2464"/>
                  <a:pt x="48517" y="8562"/>
                </a:cubicBezTo>
                <a:cubicBezTo>
                  <a:pt x="48517" y="19588"/>
                  <a:pt x="57468" y="28539"/>
                  <a:pt x="68494" y="28539"/>
                </a:cubicBezTo>
                <a:close/>
                <a:moveTo>
                  <a:pt x="37601" y="81301"/>
                </a:moveTo>
                <a:lnTo>
                  <a:pt x="45663" y="73239"/>
                </a:lnTo>
                <a:lnTo>
                  <a:pt x="45663" y="97961"/>
                </a:lnTo>
                <a:cubicBezTo>
                  <a:pt x="45663" y="107950"/>
                  <a:pt x="50015" y="117475"/>
                  <a:pt x="57614" y="123968"/>
                </a:cubicBezTo>
                <a:lnTo>
                  <a:pt x="83085" y="145800"/>
                </a:lnTo>
                <a:cubicBezTo>
                  <a:pt x="85190" y="147620"/>
                  <a:pt x="86581" y="150117"/>
                  <a:pt x="86974" y="152864"/>
                </a:cubicBezTo>
                <a:lnTo>
                  <a:pt x="91469" y="184293"/>
                </a:lnTo>
                <a:cubicBezTo>
                  <a:pt x="92360" y="190536"/>
                  <a:pt x="98140" y="194888"/>
                  <a:pt x="104383" y="193996"/>
                </a:cubicBezTo>
                <a:cubicBezTo>
                  <a:pt x="110626" y="193104"/>
                  <a:pt x="114978" y="187325"/>
                  <a:pt x="114086" y="181082"/>
                </a:cubicBezTo>
                <a:lnTo>
                  <a:pt x="109591" y="149653"/>
                </a:lnTo>
                <a:cubicBezTo>
                  <a:pt x="108414" y="141412"/>
                  <a:pt x="104276" y="133921"/>
                  <a:pt x="97961" y="128498"/>
                </a:cubicBezTo>
                <a:lnTo>
                  <a:pt x="85654" y="117939"/>
                </a:lnTo>
                <a:lnTo>
                  <a:pt x="85654" y="76842"/>
                </a:lnTo>
                <a:lnTo>
                  <a:pt x="87009" y="78519"/>
                </a:lnTo>
                <a:cubicBezTo>
                  <a:pt x="93502" y="86653"/>
                  <a:pt x="103348" y="91362"/>
                  <a:pt x="113765" y="91362"/>
                </a:cubicBezTo>
                <a:lnTo>
                  <a:pt x="125609" y="91362"/>
                </a:lnTo>
                <a:cubicBezTo>
                  <a:pt x="131923" y="91362"/>
                  <a:pt x="137024" y="86260"/>
                  <a:pt x="137024" y="79946"/>
                </a:cubicBezTo>
                <a:cubicBezTo>
                  <a:pt x="137024" y="73631"/>
                  <a:pt x="131923" y="68530"/>
                  <a:pt x="125609" y="68530"/>
                </a:cubicBezTo>
                <a:lnTo>
                  <a:pt x="113765" y="68530"/>
                </a:lnTo>
                <a:cubicBezTo>
                  <a:pt x="110304" y="68530"/>
                  <a:pt x="107022" y="66960"/>
                  <a:pt x="104846" y="64249"/>
                </a:cubicBezTo>
                <a:lnTo>
                  <a:pt x="98461" y="56258"/>
                </a:lnTo>
                <a:cubicBezTo>
                  <a:pt x="90256" y="45984"/>
                  <a:pt x="77805" y="39991"/>
                  <a:pt x="64642" y="39991"/>
                </a:cubicBezTo>
                <a:cubicBezTo>
                  <a:pt x="53154" y="39991"/>
                  <a:pt x="42131" y="44557"/>
                  <a:pt x="34033" y="52691"/>
                </a:cubicBezTo>
                <a:lnTo>
                  <a:pt x="21440" y="65141"/>
                </a:lnTo>
                <a:cubicBezTo>
                  <a:pt x="15019" y="71562"/>
                  <a:pt x="11416" y="80267"/>
                  <a:pt x="11416" y="89364"/>
                </a:cubicBezTo>
                <a:lnTo>
                  <a:pt x="11416" y="102742"/>
                </a:lnTo>
                <a:cubicBezTo>
                  <a:pt x="11416" y="109056"/>
                  <a:pt x="16517" y="114157"/>
                  <a:pt x="22831" y="114157"/>
                </a:cubicBezTo>
                <a:cubicBezTo>
                  <a:pt x="29146" y="114157"/>
                  <a:pt x="34247" y="109056"/>
                  <a:pt x="34247" y="102742"/>
                </a:cubicBezTo>
                <a:lnTo>
                  <a:pt x="34247" y="89364"/>
                </a:lnTo>
                <a:cubicBezTo>
                  <a:pt x="34247" y="86331"/>
                  <a:pt x="35460" y="83442"/>
                  <a:pt x="37601" y="81301"/>
                </a:cubicBezTo>
                <a:close/>
                <a:moveTo>
                  <a:pt x="42024" y="145301"/>
                </a:moveTo>
                <a:cubicBezTo>
                  <a:pt x="41489" y="147156"/>
                  <a:pt x="40490" y="148868"/>
                  <a:pt x="39135" y="150224"/>
                </a:cubicBezTo>
                <a:lnTo>
                  <a:pt x="14769" y="174589"/>
                </a:lnTo>
                <a:cubicBezTo>
                  <a:pt x="10310" y="179049"/>
                  <a:pt x="10310" y="186290"/>
                  <a:pt x="14769" y="190750"/>
                </a:cubicBezTo>
                <a:cubicBezTo>
                  <a:pt x="19228" y="195209"/>
                  <a:pt x="26470" y="195209"/>
                  <a:pt x="30929" y="190750"/>
                </a:cubicBezTo>
                <a:lnTo>
                  <a:pt x="55295" y="166384"/>
                </a:lnTo>
                <a:cubicBezTo>
                  <a:pt x="59397" y="162282"/>
                  <a:pt x="62394" y="157180"/>
                  <a:pt x="63999" y="151579"/>
                </a:cubicBezTo>
                <a:lnTo>
                  <a:pt x="64784" y="148868"/>
                </a:lnTo>
                <a:lnTo>
                  <a:pt x="48374" y="134813"/>
                </a:lnTo>
                <a:cubicBezTo>
                  <a:pt x="47482" y="134028"/>
                  <a:pt x="46590" y="133243"/>
                  <a:pt x="45734" y="132387"/>
                </a:cubicBezTo>
                <a:lnTo>
                  <a:pt x="42024" y="14530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98" y="1625600"/>
            <a:ext cx="958921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438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رفتارشناسی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66290" y="2118760"/>
            <a:ext cx="3260333" cy="840198"/>
          </a:xfrm>
          <a:custGeom>
            <a:avLst/>
            <a:gdLst/>
            <a:ahLst/>
            <a:cxnLst/>
            <a:rect l="l" t="t" r="r" b="b"/>
            <a:pathLst>
              <a:path w="3260333" h="840198">
                <a:moveTo>
                  <a:pt x="109587" y="0"/>
                </a:moveTo>
                <a:lnTo>
                  <a:pt x="3150746" y="0"/>
                </a:lnTo>
                <a:cubicBezTo>
                  <a:pt x="3211269" y="0"/>
                  <a:pt x="3260333" y="49064"/>
                  <a:pt x="3260333" y="109587"/>
                </a:cubicBezTo>
                <a:lnTo>
                  <a:pt x="3260333" y="730611"/>
                </a:lnTo>
                <a:cubicBezTo>
                  <a:pt x="3260333" y="791134"/>
                  <a:pt x="3211269" y="840198"/>
                  <a:pt x="3150746" y="840198"/>
                </a:cubicBezTo>
                <a:lnTo>
                  <a:pt x="109587" y="840198"/>
                </a:lnTo>
                <a:cubicBezTo>
                  <a:pt x="49064" y="840198"/>
                  <a:pt x="0" y="791134"/>
                  <a:pt x="0" y="730611"/>
                </a:cubicBezTo>
                <a:lnTo>
                  <a:pt x="0" y="109587"/>
                </a:lnTo>
                <a:cubicBezTo>
                  <a:pt x="0" y="49104"/>
                  <a:pt x="49104" y="0"/>
                  <a:pt x="109587" y="0"/>
                </a:cubicBezTo>
                <a:close/>
              </a:path>
            </a:pathLst>
          </a:custGeom>
          <a:solidFill>
            <a:srgbClr val="4A6C7C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612412" y="2264881"/>
            <a:ext cx="305028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94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تدریجی‌گرایی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12412" y="2593654"/>
            <a:ext cx="3041151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151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Incrementalism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66290" y="3105079"/>
            <a:ext cx="3333393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151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تأیید </a:t>
            </a:r>
            <a:r>
              <a:rPr lang="en-US" sz="1151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رفتار</a:t>
            </a:r>
            <a:r>
              <a:rPr lang="en-US" sz="1151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51" b="1" dirty="0" err="1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تدریجی</a:t>
            </a:r>
            <a:r>
              <a:rPr lang="en-US" sz="1151" b="1" dirty="0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151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عامل‌ها که مشابه رفتار مدیران واقعی در دنیای واقعی است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456" y="1315092"/>
            <a:ext cx="3698697" cy="2995488"/>
          </a:xfrm>
          <a:custGeom>
            <a:avLst/>
            <a:gdLst/>
            <a:ahLst/>
            <a:cxnLst/>
            <a:rect l="l" t="t" r="r" b="b"/>
            <a:pathLst>
              <a:path w="3698697" h="2995488">
                <a:moveTo>
                  <a:pt x="146120" y="0"/>
                </a:moveTo>
                <a:lnTo>
                  <a:pt x="3552577" y="0"/>
                </a:lnTo>
                <a:cubicBezTo>
                  <a:pt x="3633277" y="0"/>
                  <a:pt x="3698697" y="65420"/>
                  <a:pt x="3698697" y="146120"/>
                </a:cubicBezTo>
                <a:lnTo>
                  <a:pt x="3698697" y="2849368"/>
                </a:lnTo>
                <a:cubicBezTo>
                  <a:pt x="3698697" y="2930068"/>
                  <a:pt x="3633277" y="2995488"/>
                  <a:pt x="3552577" y="2995488"/>
                </a:cubicBezTo>
                <a:lnTo>
                  <a:pt x="146120" y="2995488"/>
                </a:lnTo>
                <a:cubicBezTo>
                  <a:pt x="65420" y="2995488"/>
                  <a:pt x="0" y="2930068"/>
                  <a:pt x="0" y="2849368"/>
                </a:cubicBezTo>
                <a:lnTo>
                  <a:pt x="0" y="146120"/>
                </a:lnTo>
                <a:cubicBezTo>
                  <a:pt x="0" y="65474"/>
                  <a:pt x="65474" y="0"/>
                  <a:pt x="1461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989" dist="9132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06911" y="1534274"/>
            <a:ext cx="438364" cy="438364"/>
          </a:xfrm>
          <a:custGeom>
            <a:avLst/>
            <a:gdLst/>
            <a:ahLst/>
            <a:cxnLst/>
            <a:rect l="l" t="t" r="r" b="b"/>
            <a:pathLst>
              <a:path w="438364" h="438364">
                <a:moveTo>
                  <a:pt x="109591" y="0"/>
                </a:moveTo>
                <a:lnTo>
                  <a:pt x="328773" y="0"/>
                </a:lnTo>
                <a:cubicBezTo>
                  <a:pt x="389258" y="0"/>
                  <a:pt x="438364" y="49106"/>
                  <a:pt x="438364" y="109591"/>
                </a:cubicBezTo>
                <a:lnTo>
                  <a:pt x="438364" y="328773"/>
                </a:lnTo>
                <a:cubicBezTo>
                  <a:pt x="438364" y="389258"/>
                  <a:pt x="389258" y="438364"/>
                  <a:pt x="328773" y="438364"/>
                </a:cubicBezTo>
                <a:lnTo>
                  <a:pt x="109591" y="438364"/>
                </a:lnTo>
                <a:cubicBezTo>
                  <a:pt x="49106" y="438364"/>
                  <a:pt x="0" y="389258"/>
                  <a:pt x="0" y="328773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4" name="Shape 22"/>
          <p:cNvSpPr/>
          <p:nvPr/>
        </p:nvSpPr>
        <p:spPr>
          <a:xfrm>
            <a:off x="3511935" y="1662130"/>
            <a:ext cx="228315" cy="182652"/>
          </a:xfrm>
          <a:custGeom>
            <a:avLst/>
            <a:gdLst/>
            <a:ahLst/>
            <a:cxnLst/>
            <a:rect l="l" t="t" r="r" b="b"/>
            <a:pathLst>
              <a:path w="228315" h="182652">
                <a:moveTo>
                  <a:pt x="136989" y="11416"/>
                </a:moveTo>
                <a:lnTo>
                  <a:pt x="182652" y="11416"/>
                </a:lnTo>
                <a:cubicBezTo>
                  <a:pt x="188966" y="11416"/>
                  <a:pt x="194067" y="16517"/>
                  <a:pt x="194067" y="22831"/>
                </a:cubicBezTo>
                <a:cubicBezTo>
                  <a:pt x="194067" y="29146"/>
                  <a:pt x="188966" y="34247"/>
                  <a:pt x="182652" y="34247"/>
                </a:cubicBezTo>
                <a:lnTo>
                  <a:pt x="142126" y="34247"/>
                </a:lnTo>
                <a:cubicBezTo>
                  <a:pt x="140271" y="43451"/>
                  <a:pt x="133956" y="51050"/>
                  <a:pt x="125573" y="54688"/>
                </a:cubicBezTo>
                <a:lnTo>
                  <a:pt x="125573" y="159820"/>
                </a:lnTo>
                <a:lnTo>
                  <a:pt x="182652" y="159820"/>
                </a:lnTo>
                <a:cubicBezTo>
                  <a:pt x="188966" y="159820"/>
                  <a:pt x="194067" y="164922"/>
                  <a:pt x="194067" y="171236"/>
                </a:cubicBezTo>
                <a:cubicBezTo>
                  <a:pt x="194067" y="177550"/>
                  <a:pt x="188966" y="182652"/>
                  <a:pt x="182652" y="182652"/>
                </a:cubicBezTo>
                <a:lnTo>
                  <a:pt x="45663" y="182652"/>
                </a:lnTo>
                <a:cubicBezTo>
                  <a:pt x="39349" y="182652"/>
                  <a:pt x="34247" y="177550"/>
                  <a:pt x="34247" y="171236"/>
                </a:cubicBezTo>
                <a:cubicBezTo>
                  <a:pt x="34247" y="164922"/>
                  <a:pt x="39349" y="159820"/>
                  <a:pt x="45663" y="159820"/>
                </a:cubicBezTo>
                <a:lnTo>
                  <a:pt x="102742" y="159820"/>
                </a:lnTo>
                <a:lnTo>
                  <a:pt x="102742" y="54688"/>
                </a:lnTo>
                <a:cubicBezTo>
                  <a:pt x="94358" y="51014"/>
                  <a:pt x="88044" y="43415"/>
                  <a:pt x="86189" y="34247"/>
                </a:cubicBezTo>
                <a:lnTo>
                  <a:pt x="45663" y="34247"/>
                </a:lnTo>
                <a:cubicBezTo>
                  <a:pt x="39349" y="34247"/>
                  <a:pt x="34247" y="29146"/>
                  <a:pt x="34247" y="22831"/>
                </a:cubicBezTo>
                <a:cubicBezTo>
                  <a:pt x="34247" y="16517"/>
                  <a:pt x="39349" y="11416"/>
                  <a:pt x="45663" y="11416"/>
                </a:cubicBezTo>
                <a:lnTo>
                  <a:pt x="91326" y="11416"/>
                </a:lnTo>
                <a:cubicBezTo>
                  <a:pt x="96534" y="4495"/>
                  <a:pt x="104811" y="0"/>
                  <a:pt x="114157" y="0"/>
                </a:cubicBezTo>
                <a:cubicBezTo>
                  <a:pt x="123504" y="0"/>
                  <a:pt x="131780" y="4495"/>
                  <a:pt x="136989" y="11416"/>
                </a:cubicBezTo>
                <a:close/>
                <a:moveTo>
                  <a:pt x="156824" y="114157"/>
                </a:moveTo>
                <a:lnTo>
                  <a:pt x="208480" y="114157"/>
                </a:lnTo>
                <a:lnTo>
                  <a:pt x="182652" y="69850"/>
                </a:lnTo>
                <a:lnTo>
                  <a:pt x="156824" y="114157"/>
                </a:lnTo>
                <a:close/>
                <a:moveTo>
                  <a:pt x="182652" y="148404"/>
                </a:moveTo>
                <a:cubicBezTo>
                  <a:pt x="160213" y="148404"/>
                  <a:pt x="141555" y="136275"/>
                  <a:pt x="137702" y="120258"/>
                </a:cubicBezTo>
                <a:cubicBezTo>
                  <a:pt x="136775" y="116333"/>
                  <a:pt x="138059" y="112302"/>
                  <a:pt x="140092" y="108806"/>
                </a:cubicBezTo>
                <a:lnTo>
                  <a:pt x="174054" y="50586"/>
                </a:lnTo>
                <a:cubicBezTo>
                  <a:pt x="175838" y="47518"/>
                  <a:pt x="179120" y="45663"/>
                  <a:pt x="182652" y="45663"/>
                </a:cubicBezTo>
                <a:cubicBezTo>
                  <a:pt x="186183" y="45663"/>
                  <a:pt x="189465" y="47554"/>
                  <a:pt x="191249" y="50586"/>
                </a:cubicBezTo>
                <a:lnTo>
                  <a:pt x="225211" y="108806"/>
                </a:lnTo>
                <a:cubicBezTo>
                  <a:pt x="227244" y="112302"/>
                  <a:pt x="228529" y="116333"/>
                  <a:pt x="227601" y="120258"/>
                </a:cubicBezTo>
                <a:cubicBezTo>
                  <a:pt x="223748" y="136240"/>
                  <a:pt x="205091" y="148404"/>
                  <a:pt x="182652" y="148404"/>
                </a:cubicBezTo>
                <a:close/>
                <a:moveTo>
                  <a:pt x="45235" y="69850"/>
                </a:moveTo>
                <a:lnTo>
                  <a:pt x="19407" y="114157"/>
                </a:lnTo>
                <a:lnTo>
                  <a:pt x="71099" y="114157"/>
                </a:lnTo>
                <a:lnTo>
                  <a:pt x="45235" y="69850"/>
                </a:lnTo>
                <a:close/>
                <a:moveTo>
                  <a:pt x="321" y="120258"/>
                </a:moveTo>
                <a:cubicBezTo>
                  <a:pt x="-606" y="116333"/>
                  <a:pt x="678" y="112302"/>
                  <a:pt x="2711" y="108806"/>
                </a:cubicBezTo>
                <a:lnTo>
                  <a:pt x="36673" y="50586"/>
                </a:lnTo>
                <a:cubicBezTo>
                  <a:pt x="38457" y="47518"/>
                  <a:pt x="41739" y="45663"/>
                  <a:pt x="45271" y="45663"/>
                </a:cubicBezTo>
                <a:cubicBezTo>
                  <a:pt x="48802" y="45663"/>
                  <a:pt x="52084" y="47554"/>
                  <a:pt x="53868" y="50586"/>
                </a:cubicBezTo>
                <a:lnTo>
                  <a:pt x="87830" y="108806"/>
                </a:lnTo>
                <a:cubicBezTo>
                  <a:pt x="89863" y="112302"/>
                  <a:pt x="91147" y="116333"/>
                  <a:pt x="90220" y="120258"/>
                </a:cubicBezTo>
                <a:cubicBezTo>
                  <a:pt x="86367" y="136240"/>
                  <a:pt x="67710" y="148404"/>
                  <a:pt x="45271" y="148404"/>
                </a:cubicBezTo>
                <a:cubicBezTo>
                  <a:pt x="22831" y="148404"/>
                  <a:pt x="4174" y="136275"/>
                  <a:pt x="321" y="12025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748147" y="1625600"/>
            <a:ext cx="639281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438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مقایسه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84638" y="2118760"/>
            <a:ext cx="3260333" cy="767137"/>
          </a:xfrm>
          <a:custGeom>
            <a:avLst/>
            <a:gdLst/>
            <a:ahLst/>
            <a:cxnLst/>
            <a:rect l="l" t="t" r="r" b="b"/>
            <a:pathLst>
              <a:path w="3260333" h="767137">
                <a:moveTo>
                  <a:pt x="109593" y="0"/>
                </a:moveTo>
                <a:lnTo>
                  <a:pt x="3150739" y="0"/>
                </a:lnTo>
                <a:cubicBezTo>
                  <a:pt x="3211266" y="0"/>
                  <a:pt x="3260333" y="49067"/>
                  <a:pt x="3260333" y="109593"/>
                </a:cubicBezTo>
                <a:lnTo>
                  <a:pt x="3260333" y="657544"/>
                </a:lnTo>
                <a:cubicBezTo>
                  <a:pt x="3260333" y="718071"/>
                  <a:pt x="3211266" y="767137"/>
                  <a:pt x="3150739" y="767137"/>
                </a:cubicBezTo>
                <a:lnTo>
                  <a:pt x="109593" y="767137"/>
                </a:lnTo>
                <a:cubicBezTo>
                  <a:pt x="49067" y="767137"/>
                  <a:pt x="0" y="718071"/>
                  <a:pt x="0" y="657544"/>
                </a:cubicBezTo>
                <a:lnTo>
                  <a:pt x="0" y="109593"/>
                </a:lnTo>
                <a:cubicBezTo>
                  <a:pt x="0" y="49067"/>
                  <a:pt x="49067" y="0"/>
                  <a:pt x="10959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7" name="Shape 25"/>
          <p:cNvSpPr/>
          <p:nvPr/>
        </p:nvSpPr>
        <p:spPr>
          <a:xfrm>
            <a:off x="3553032" y="2301411"/>
            <a:ext cx="109591" cy="146121"/>
          </a:xfrm>
          <a:custGeom>
            <a:avLst/>
            <a:gdLst/>
            <a:ahLst/>
            <a:cxnLst/>
            <a:rect l="l" t="t" r="r" b="b"/>
            <a:pathLst>
              <a:path w="109591" h="146121">
                <a:moveTo>
                  <a:pt x="18265" y="0"/>
                </a:moveTo>
                <a:cubicBezTo>
                  <a:pt x="8191" y="0"/>
                  <a:pt x="0" y="8191"/>
                  <a:pt x="0" y="18265"/>
                </a:cubicBezTo>
                <a:lnTo>
                  <a:pt x="0" y="127856"/>
                </a:lnTo>
                <a:cubicBezTo>
                  <a:pt x="0" y="137931"/>
                  <a:pt x="8191" y="146121"/>
                  <a:pt x="18265" y="146121"/>
                </a:cubicBezTo>
                <a:lnTo>
                  <a:pt x="91326" y="146121"/>
                </a:lnTo>
                <a:cubicBezTo>
                  <a:pt x="101400" y="146121"/>
                  <a:pt x="109591" y="137931"/>
                  <a:pt x="109591" y="127856"/>
                </a:cubicBezTo>
                <a:lnTo>
                  <a:pt x="109591" y="18265"/>
                </a:lnTo>
                <a:cubicBezTo>
                  <a:pt x="109591" y="8191"/>
                  <a:pt x="101400" y="0"/>
                  <a:pt x="91326" y="0"/>
                </a:cubicBezTo>
                <a:lnTo>
                  <a:pt x="18265" y="0"/>
                </a:lnTo>
                <a:close/>
                <a:moveTo>
                  <a:pt x="27398" y="18265"/>
                </a:moveTo>
                <a:lnTo>
                  <a:pt x="82193" y="18265"/>
                </a:lnTo>
                <a:cubicBezTo>
                  <a:pt x="87245" y="18265"/>
                  <a:pt x="91326" y="22346"/>
                  <a:pt x="91326" y="27398"/>
                </a:cubicBezTo>
                <a:lnTo>
                  <a:pt x="91326" y="36530"/>
                </a:lnTo>
                <a:cubicBezTo>
                  <a:pt x="91326" y="41582"/>
                  <a:pt x="87245" y="45663"/>
                  <a:pt x="82193" y="45663"/>
                </a:cubicBezTo>
                <a:lnTo>
                  <a:pt x="27398" y="45663"/>
                </a:lnTo>
                <a:cubicBezTo>
                  <a:pt x="22346" y="45663"/>
                  <a:pt x="18265" y="41582"/>
                  <a:pt x="18265" y="36530"/>
                </a:cubicBezTo>
                <a:lnTo>
                  <a:pt x="18265" y="27398"/>
                </a:lnTo>
                <a:cubicBezTo>
                  <a:pt x="18265" y="22346"/>
                  <a:pt x="22346" y="18265"/>
                  <a:pt x="27398" y="18265"/>
                </a:cubicBezTo>
                <a:close/>
                <a:moveTo>
                  <a:pt x="31964" y="66211"/>
                </a:moveTo>
                <a:cubicBezTo>
                  <a:pt x="31964" y="69992"/>
                  <a:pt x="28895" y="73061"/>
                  <a:pt x="25115" y="73061"/>
                </a:cubicBezTo>
                <a:cubicBezTo>
                  <a:pt x="21334" y="73061"/>
                  <a:pt x="18265" y="69992"/>
                  <a:pt x="18265" y="66211"/>
                </a:cubicBezTo>
                <a:cubicBezTo>
                  <a:pt x="18265" y="62431"/>
                  <a:pt x="21334" y="59362"/>
                  <a:pt x="25115" y="59362"/>
                </a:cubicBezTo>
                <a:cubicBezTo>
                  <a:pt x="28895" y="59362"/>
                  <a:pt x="31964" y="62431"/>
                  <a:pt x="31964" y="66211"/>
                </a:cubicBezTo>
                <a:close/>
                <a:moveTo>
                  <a:pt x="54796" y="73061"/>
                </a:moveTo>
                <a:cubicBezTo>
                  <a:pt x="51015" y="73061"/>
                  <a:pt x="47946" y="69992"/>
                  <a:pt x="47946" y="66211"/>
                </a:cubicBezTo>
                <a:cubicBezTo>
                  <a:pt x="47946" y="62431"/>
                  <a:pt x="51015" y="59362"/>
                  <a:pt x="54796" y="59362"/>
                </a:cubicBezTo>
                <a:cubicBezTo>
                  <a:pt x="58576" y="59362"/>
                  <a:pt x="61645" y="62431"/>
                  <a:pt x="61645" y="66211"/>
                </a:cubicBezTo>
                <a:cubicBezTo>
                  <a:pt x="61645" y="69992"/>
                  <a:pt x="58576" y="73061"/>
                  <a:pt x="54796" y="73061"/>
                </a:cubicBezTo>
                <a:close/>
                <a:moveTo>
                  <a:pt x="91326" y="66211"/>
                </a:moveTo>
                <a:cubicBezTo>
                  <a:pt x="91326" y="69992"/>
                  <a:pt x="88257" y="73061"/>
                  <a:pt x="84476" y="73061"/>
                </a:cubicBezTo>
                <a:cubicBezTo>
                  <a:pt x="80696" y="73061"/>
                  <a:pt x="77627" y="69992"/>
                  <a:pt x="77627" y="66211"/>
                </a:cubicBezTo>
                <a:cubicBezTo>
                  <a:pt x="77627" y="62431"/>
                  <a:pt x="80696" y="59362"/>
                  <a:pt x="84476" y="59362"/>
                </a:cubicBezTo>
                <a:cubicBezTo>
                  <a:pt x="88257" y="59362"/>
                  <a:pt x="91326" y="62431"/>
                  <a:pt x="91326" y="66211"/>
                </a:cubicBezTo>
                <a:close/>
                <a:moveTo>
                  <a:pt x="25115" y="100458"/>
                </a:moveTo>
                <a:cubicBezTo>
                  <a:pt x="21334" y="100458"/>
                  <a:pt x="18265" y="97389"/>
                  <a:pt x="18265" y="93609"/>
                </a:cubicBezTo>
                <a:cubicBezTo>
                  <a:pt x="18265" y="89829"/>
                  <a:pt x="21334" y="86760"/>
                  <a:pt x="25115" y="86760"/>
                </a:cubicBezTo>
                <a:cubicBezTo>
                  <a:pt x="28895" y="86760"/>
                  <a:pt x="31964" y="89829"/>
                  <a:pt x="31964" y="93609"/>
                </a:cubicBezTo>
                <a:cubicBezTo>
                  <a:pt x="31964" y="97389"/>
                  <a:pt x="28895" y="100458"/>
                  <a:pt x="25115" y="100458"/>
                </a:cubicBezTo>
                <a:close/>
                <a:moveTo>
                  <a:pt x="61645" y="93609"/>
                </a:moveTo>
                <a:cubicBezTo>
                  <a:pt x="61645" y="97389"/>
                  <a:pt x="58576" y="100458"/>
                  <a:pt x="54796" y="100458"/>
                </a:cubicBezTo>
                <a:cubicBezTo>
                  <a:pt x="51015" y="100458"/>
                  <a:pt x="47946" y="97389"/>
                  <a:pt x="47946" y="93609"/>
                </a:cubicBezTo>
                <a:cubicBezTo>
                  <a:pt x="47946" y="89829"/>
                  <a:pt x="51015" y="86760"/>
                  <a:pt x="54796" y="86760"/>
                </a:cubicBezTo>
                <a:cubicBezTo>
                  <a:pt x="58576" y="86760"/>
                  <a:pt x="61645" y="89829"/>
                  <a:pt x="61645" y="93609"/>
                </a:cubicBezTo>
                <a:close/>
                <a:moveTo>
                  <a:pt x="84476" y="100458"/>
                </a:moveTo>
                <a:cubicBezTo>
                  <a:pt x="80696" y="100458"/>
                  <a:pt x="77627" y="97389"/>
                  <a:pt x="77627" y="93609"/>
                </a:cubicBezTo>
                <a:cubicBezTo>
                  <a:pt x="77627" y="89829"/>
                  <a:pt x="80696" y="86760"/>
                  <a:pt x="84476" y="86760"/>
                </a:cubicBezTo>
                <a:cubicBezTo>
                  <a:pt x="88257" y="86760"/>
                  <a:pt x="91326" y="89829"/>
                  <a:pt x="91326" y="93609"/>
                </a:cubicBezTo>
                <a:cubicBezTo>
                  <a:pt x="91326" y="97389"/>
                  <a:pt x="88257" y="100458"/>
                  <a:pt x="84476" y="100458"/>
                </a:cubicBezTo>
                <a:close/>
                <a:moveTo>
                  <a:pt x="18265" y="121007"/>
                </a:moveTo>
                <a:cubicBezTo>
                  <a:pt x="18265" y="117211"/>
                  <a:pt x="21319" y="114157"/>
                  <a:pt x="25115" y="114157"/>
                </a:cubicBezTo>
                <a:lnTo>
                  <a:pt x="57079" y="114157"/>
                </a:lnTo>
                <a:cubicBezTo>
                  <a:pt x="60874" y="114157"/>
                  <a:pt x="63928" y="117211"/>
                  <a:pt x="63928" y="121007"/>
                </a:cubicBezTo>
                <a:cubicBezTo>
                  <a:pt x="63928" y="124802"/>
                  <a:pt x="60874" y="127856"/>
                  <a:pt x="57079" y="127856"/>
                </a:cubicBezTo>
                <a:lnTo>
                  <a:pt x="25115" y="127856"/>
                </a:lnTo>
                <a:cubicBezTo>
                  <a:pt x="21319" y="127856"/>
                  <a:pt x="18265" y="124802"/>
                  <a:pt x="18265" y="121007"/>
                </a:cubicBezTo>
                <a:close/>
                <a:moveTo>
                  <a:pt x="84476" y="114157"/>
                </a:moveTo>
                <a:cubicBezTo>
                  <a:pt x="88272" y="114157"/>
                  <a:pt x="91326" y="117211"/>
                  <a:pt x="91326" y="121007"/>
                </a:cubicBezTo>
                <a:cubicBezTo>
                  <a:pt x="91326" y="124802"/>
                  <a:pt x="88272" y="127856"/>
                  <a:pt x="84476" y="127856"/>
                </a:cubicBezTo>
                <a:cubicBezTo>
                  <a:pt x="80681" y="127856"/>
                  <a:pt x="77627" y="124802"/>
                  <a:pt x="77627" y="121007"/>
                </a:cubicBezTo>
                <a:cubicBezTo>
                  <a:pt x="77627" y="117211"/>
                  <a:pt x="80681" y="114157"/>
                  <a:pt x="84476" y="114157"/>
                </a:cubicBez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28" name="Text 26"/>
          <p:cNvSpPr/>
          <p:nvPr/>
        </p:nvSpPr>
        <p:spPr>
          <a:xfrm>
            <a:off x="2396542" y="2264881"/>
            <a:ext cx="1123308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151" b="1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بهینه‌سازی ریاضی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30759" y="2557124"/>
            <a:ext cx="3032018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007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دقیق اما غیرانسانی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105365" y="2995488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215158" y="64470"/>
                </a:moveTo>
                <a:lnTo>
                  <a:pt x="174061" y="105567"/>
                </a:lnTo>
                <a:cubicBezTo>
                  <a:pt x="170123" y="109505"/>
                  <a:pt x="164258" y="110661"/>
                  <a:pt x="159121" y="108521"/>
                </a:cubicBezTo>
                <a:cubicBezTo>
                  <a:pt x="153984" y="106380"/>
                  <a:pt x="150688" y="101414"/>
                  <a:pt x="150688" y="95892"/>
                </a:cubicBezTo>
                <a:lnTo>
                  <a:pt x="150688" y="68494"/>
                </a:lnTo>
                <a:lnTo>
                  <a:pt x="13699" y="68494"/>
                </a:lnTo>
                <a:cubicBezTo>
                  <a:pt x="6122" y="68494"/>
                  <a:pt x="0" y="62373"/>
                  <a:pt x="0" y="54796"/>
                </a:cubicBezTo>
                <a:cubicBezTo>
                  <a:pt x="0" y="47218"/>
                  <a:pt x="6122" y="41097"/>
                  <a:pt x="13699" y="41097"/>
                </a:cubicBezTo>
                <a:lnTo>
                  <a:pt x="150688" y="41097"/>
                </a:lnTo>
                <a:lnTo>
                  <a:pt x="150688" y="13699"/>
                </a:lnTo>
                <a:cubicBezTo>
                  <a:pt x="150688" y="8177"/>
                  <a:pt x="154027" y="3168"/>
                  <a:pt x="159164" y="1027"/>
                </a:cubicBezTo>
                <a:cubicBezTo>
                  <a:pt x="164301" y="-1113"/>
                  <a:pt x="170166" y="86"/>
                  <a:pt x="174104" y="3981"/>
                </a:cubicBezTo>
                <a:lnTo>
                  <a:pt x="215201" y="45078"/>
                </a:lnTo>
                <a:cubicBezTo>
                  <a:pt x="220552" y="50429"/>
                  <a:pt x="220552" y="59119"/>
                  <a:pt x="215201" y="64470"/>
                </a:cubicBezTo>
                <a:close/>
                <a:moveTo>
                  <a:pt x="45078" y="215158"/>
                </a:moveTo>
                <a:lnTo>
                  <a:pt x="3981" y="174061"/>
                </a:lnTo>
                <a:cubicBezTo>
                  <a:pt x="-1370" y="168710"/>
                  <a:pt x="-1370" y="160020"/>
                  <a:pt x="3981" y="154669"/>
                </a:cubicBezTo>
                <a:lnTo>
                  <a:pt x="45078" y="113572"/>
                </a:lnTo>
                <a:cubicBezTo>
                  <a:pt x="49016" y="109634"/>
                  <a:pt x="54881" y="108478"/>
                  <a:pt x="60018" y="110618"/>
                </a:cubicBezTo>
                <a:cubicBezTo>
                  <a:pt x="65155" y="112759"/>
                  <a:pt x="68494" y="117768"/>
                  <a:pt x="68494" y="123290"/>
                </a:cubicBezTo>
                <a:lnTo>
                  <a:pt x="68494" y="150688"/>
                </a:lnTo>
                <a:lnTo>
                  <a:pt x="205483" y="150688"/>
                </a:lnTo>
                <a:cubicBezTo>
                  <a:pt x="213060" y="150688"/>
                  <a:pt x="219182" y="156809"/>
                  <a:pt x="219182" y="164387"/>
                </a:cubicBezTo>
                <a:cubicBezTo>
                  <a:pt x="219182" y="171964"/>
                  <a:pt x="213060" y="178085"/>
                  <a:pt x="205483" y="178085"/>
                </a:cubicBezTo>
                <a:lnTo>
                  <a:pt x="68494" y="178085"/>
                </a:lnTo>
                <a:lnTo>
                  <a:pt x="68494" y="205483"/>
                </a:lnTo>
                <a:cubicBezTo>
                  <a:pt x="68494" y="211006"/>
                  <a:pt x="65155" y="216014"/>
                  <a:pt x="60018" y="218155"/>
                </a:cubicBezTo>
                <a:cubicBezTo>
                  <a:pt x="54881" y="220295"/>
                  <a:pt x="49016" y="219096"/>
                  <a:pt x="45078" y="215201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1" name="Shape 29"/>
          <p:cNvSpPr/>
          <p:nvPr/>
        </p:nvSpPr>
        <p:spPr>
          <a:xfrm>
            <a:off x="584638" y="3324261"/>
            <a:ext cx="3260333" cy="767137"/>
          </a:xfrm>
          <a:custGeom>
            <a:avLst/>
            <a:gdLst/>
            <a:ahLst/>
            <a:cxnLst/>
            <a:rect l="l" t="t" r="r" b="b"/>
            <a:pathLst>
              <a:path w="3260333" h="767137">
                <a:moveTo>
                  <a:pt x="109593" y="0"/>
                </a:moveTo>
                <a:lnTo>
                  <a:pt x="3150739" y="0"/>
                </a:lnTo>
                <a:cubicBezTo>
                  <a:pt x="3211266" y="0"/>
                  <a:pt x="3260333" y="49067"/>
                  <a:pt x="3260333" y="109593"/>
                </a:cubicBezTo>
                <a:lnTo>
                  <a:pt x="3260333" y="657544"/>
                </a:lnTo>
                <a:cubicBezTo>
                  <a:pt x="3260333" y="718071"/>
                  <a:pt x="3211266" y="767137"/>
                  <a:pt x="3150739" y="767137"/>
                </a:cubicBezTo>
                <a:lnTo>
                  <a:pt x="109593" y="767137"/>
                </a:lnTo>
                <a:cubicBezTo>
                  <a:pt x="49067" y="767137"/>
                  <a:pt x="0" y="718071"/>
                  <a:pt x="0" y="657544"/>
                </a:cubicBezTo>
                <a:lnTo>
                  <a:pt x="0" y="109593"/>
                </a:lnTo>
                <a:cubicBezTo>
                  <a:pt x="0" y="49067"/>
                  <a:pt x="49067" y="0"/>
                  <a:pt x="109593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534767" y="3506912"/>
            <a:ext cx="146121" cy="146121"/>
          </a:xfrm>
          <a:custGeom>
            <a:avLst/>
            <a:gdLst/>
            <a:ahLst/>
            <a:cxnLst/>
            <a:rect l="l" t="t" r="r" b="b"/>
            <a:pathLst>
              <a:path w="146121" h="146121">
                <a:moveTo>
                  <a:pt x="34247" y="15982"/>
                </a:moveTo>
                <a:cubicBezTo>
                  <a:pt x="34247" y="7163"/>
                  <a:pt x="41411" y="0"/>
                  <a:pt x="50229" y="0"/>
                </a:cubicBezTo>
                <a:lnTo>
                  <a:pt x="57079" y="0"/>
                </a:lnTo>
                <a:cubicBezTo>
                  <a:pt x="62130" y="0"/>
                  <a:pt x="66211" y="4081"/>
                  <a:pt x="66211" y="9133"/>
                </a:cubicBezTo>
                <a:lnTo>
                  <a:pt x="66211" y="136989"/>
                </a:lnTo>
                <a:cubicBezTo>
                  <a:pt x="66211" y="142040"/>
                  <a:pt x="62130" y="146121"/>
                  <a:pt x="57079" y="146121"/>
                </a:cubicBezTo>
                <a:lnTo>
                  <a:pt x="47946" y="146121"/>
                </a:lnTo>
                <a:cubicBezTo>
                  <a:pt x="39441" y="146121"/>
                  <a:pt x="32278" y="140299"/>
                  <a:pt x="30252" y="132422"/>
                </a:cubicBezTo>
                <a:cubicBezTo>
                  <a:pt x="30052" y="132422"/>
                  <a:pt x="29881" y="132422"/>
                  <a:pt x="29681" y="132422"/>
                </a:cubicBezTo>
                <a:cubicBezTo>
                  <a:pt x="17067" y="132422"/>
                  <a:pt x="6849" y="122205"/>
                  <a:pt x="6849" y="109591"/>
                </a:cubicBezTo>
                <a:cubicBezTo>
                  <a:pt x="6849" y="104454"/>
                  <a:pt x="8562" y="99716"/>
                  <a:pt x="11416" y="95892"/>
                </a:cubicBezTo>
                <a:cubicBezTo>
                  <a:pt x="5879" y="91725"/>
                  <a:pt x="2283" y="85104"/>
                  <a:pt x="2283" y="77627"/>
                </a:cubicBezTo>
                <a:cubicBezTo>
                  <a:pt x="2283" y="68808"/>
                  <a:pt x="7306" y="61131"/>
                  <a:pt x="14612" y="57336"/>
                </a:cubicBezTo>
                <a:cubicBezTo>
                  <a:pt x="12586" y="53911"/>
                  <a:pt x="11416" y="49915"/>
                  <a:pt x="11416" y="45663"/>
                </a:cubicBezTo>
                <a:cubicBezTo>
                  <a:pt x="11416" y="33049"/>
                  <a:pt x="21633" y="22831"/>
                  <a:pt x="34247" y="22831"/>
                </a:cubicBezTo>
                <a:lnTo>
                  <a:pt x="34247" y="15982"/>
                </a:lnTo>
                <a:close/>
                <a:moveTo>
                  <a:pt x="111874" y="15982"/>
                </a:moveTo>
                <a:lnTo>
                  <a:pt x="111874" y="22831"/>
                </a:lnTo>
                <a:cubicBezTo>
                  <a:pt x="124489" y="22831"/>
                  <a:pt x="134706" y="33049"/>
                  <a:pt x="134706" y="45663"/>
                </a:cubicBezTo>
                <a:cubicBezTo>
                  <a:pt x="134706" y="49944"/>
                  <a:pt x="133536" y="53939"/>
                  <a:pt x="131509" y="57336"/>
                </a:cubicBezTo>
                <a:cubicBezTo>
                  <a:pt x="138844" y="61131"/>
                  <a:pt x="143838" y="68780"/>
                  <a:pt x="143838" y="77627"/>
                </a:cubicBezTo>
                <a:cubicBezTo>
                  <a:pt x="143838" y="85104"/>
                  <a:pt x="140242" y="91725"/>
                  <a:pt x="134706" y="95892"/>
                </a:cubicBezTo>
                <a:cubicBezTo>
                  <a:pt x="137560" y="99716"/>
                  <a:pt x="139272" y="104454"/>
                  <a:pt x="139272" y="109591"/>
                </a:cubicBezTo>
                <a:cubicBezTo>
                  <a:pt x="139272" y="122205"/>
                  <a:pt x="129055" y="132422"/>
                  <a:pt x="116440" y="132422"/>
                </a:cubicBezTo>
                <a:cubicBezTo>
                  <a:pt x="116241" y="132422"/>
                  <a:pt x="116069" y="132422"/>
                  <a:pt x="115870" y="132422"/>
                </a:cubicBezTo>
                <a:cubicBezTo>
                  <a:pt x="113843" y="140299"/>
                  <a:pt x="106680" y="146121"/>
                  <a:pt x="98175" y="146121"/>
                </a:cubicBezTo>
                <a:lnTo>
                  <a:pt x="89043" y="146121"/>
                </a:lnTo>
                <a:cubicBezTo>
                  <a:pt x="83991" y="146121"/>
                  <a:pt x="79910" y="142040"/>
                  <a:pt x="79910" y="136989"/>
                </a:cubicBezTo>
                <a:lnTo>
                  <a:pt x="79910" y="9133"/>
                </a:lnTo>
                <a:cubicBezTo>
                  <a:pt x="79910" y="4081"/>
                  <a:pt x="83991" y="0"/>
                  <a:pt x="89043" y="0"/>
                </a:cubicBezTo>
                <a:lnTo>
                  <a:pt x="95892" y="0"/>
                </a:lnTo>
                <a:cubicBezTo>
                  <a:pt x="104711" y="0"/>
                  <a:pt x="111874" y="7163"/>
                  <a:pt x="111874" y="1598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3" name="Text 31"/>
          <p:cNvSpPr/>
          <p:nvPr/>
        </p:nvSpPr>
        <p:spPr>
          <a:xfrm>
            <a:off x="3139935" y="3470382"/>
            <a:ext cx="374436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LLM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0759" y="3762625"/>
            <a:ext cx="3032018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007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معقول و تبیین‌پذیر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65303" y="4493231"/>
            <a:ext cx="11461393" cy="2365339"/>
          </a:xfrm>
          <a:custGeom>
            <a:avLst/>
            <a:gdLst/>
            <a:ahLst/>
            <a:cxnLst/>
            <a:rect l="l" t="t" r="r" b="b"/>
            <a:pathLst>
              <a:path w="11461393" h="2365339">
                <a:moveTo>
                  <a:pt x="146131" y="0"/>
                </a:moveTo>
                <a:lnTo>
                  <a:pt x="11315263" y="0"/>
                </a:lnTo>
                <a:cubicBezTo>
                  <a:pt x="11395968" y="0"/>
                  <a:pt x="11461393" y="65425"/>
                  <a:pt x="11461393" y="146131"/>
                </a:cubicBezTo>
                <a:lnTo>
                  <a:pt x="11461393" y="2219209"/>
                </a:lnTo>
                <a:cubicBezTo>
                  <a:pt x="11461393" y="2299914"/>
                  <a:pt x="11395968" y="2365339"/>
                  <a:pt x="11315263" y="2365339"/>
                </a:cubicBezTo>
                <a:lnTo>
                  <a:pt x="146131" y="2365339"/>
                </a:lnTo>
                <a:cubicBezTo>
                  <a:pt x="65479" y="2365339"/>
                  <a:pt x="0" y="2299860"/>
                  <a:pt x="0" y="2219209"/>
                </a:cubicBezTo>
                <a:lnTo>
                  <a:pt x="0" y="146131"/>
                </a:lnTo>
                <a:cubicBezTo>
                  <a:pt x="0" y="65479"/>
                  <a:pt x="65479" y="0"/>
                  <a:pt x="14613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989" dist="9132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84485" y="4712413"/>
            <a:ext cx="11114355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438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مقایسه عملکرد سناریوها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962109" y="5114247"/>
            <a:ext cx="2648449" cy="1525142"/>
          </a:xfrm>
          <a:custGeom>
            <a:avLst/>
            <a:gdLst/>
            <a:ahLst/>
            <a:cxnLst/>
            <a:rect l="l" t="t" r="r" b="b"/>
            <a:pathLst>
              <a:path w="2648449" h="1525142">
                <a:moveTo>
                  <a:pt x="109597" y="0"/>
                </a:moveTo>
                <a:lnTo>
                  <a:pt x="2538853" y="0"/>
                </a:lnTo>
                <a:cubicBezTo>
                  <a:pt x="2599381" y="0"/>
                  <a:pt x="2648449" y="49068"/>
                  <a:pt x="2648449" y="109597"/>
                </a:cubicBezTo>
                <a:lnTo>
                  <a:pt x="2648449" y="1415545"/>
                </a:lnTo>
                <a:cubicBezTo>
                  <a:pt x="2648449" y="1476073"/>
                  <a:pt x="2599381" y="1525142"/>
                  <a:pt x="2538853" y="1525142"/>
                </a:cubicBezTo>
                <a:lnTo>
                  <a:pt x="109597" y="1525142"/>
                </a:lnTo>
                <a:cubicBezTo>
                  <a:pt x="49109" y="1525142"/>
                  <a:pt x="0" y="1476033"/>
                  <a:pt x="0" y="1415545"/>
                </a:cubicBezTo>
                <a:lnTo>
                  <a:pt x="0" y="109597"/>
                </a:lnTo>
                <a:cubicBezTo>
                  <a:pt x="0" y="49068"/>
                  <a:pt x="49068" y="0"/>
                  <a:pt x="1095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8" name="Shape 36"/>
          <p:cNvSpPr/>
          <p:nvPr/>
        </p:nvSpPr>
        <p:spPr>
          <a:xfrm>
            <a:off x="9993178" y="5260369"/>
            <a:ext cx="584485" cy="584485"/>
          </a:xfrm>
          <a:custGeom>
            <a:avLst/>
            <a:gdLst/>
            <a:ahLst/>
            <a:cxnLst/>
            <a:rect l="l" t="t" r="r" b="b"/>
            <a:pathLst>
              <a:path w="584485" h="584485">
                <a:moveTo>
                  <a:pt x="292243" y="0"/>
                </a:moveTo>
                <a:lnTo>
                  <a:pt x="292243" y="0"/>
                </a:lnTo>
                <a:cubicBezTo>
                  <a:pt x="453536" y="0"/>
                  <a:pt x="584485" y="130950"/>
                  <a:pt x="584485" y="292243"/>
                </a:cubicBezTo>
                <a:lnTo>
                  <a:pt x="584485" y="292243"/>
                </a:lnTo>
                <a:cubicBezTo>
                  <a:pt x="584485" y="453536"/>
                  <a:pt x="453536" y="584485"/>
                  <a:pt x="292243" y="584485"/>
                </a:cubicBezTo>
                <a:lnTo>
                  <a:pt x="292243" y="584485"/>
                </a:lnTo>
                <a:cubicBezTo>
                  <a:pt x="130950" y="584485"/>
                  <a:pt x="0" y="453536"/>
                  <a:pt x="0" y="292243"/>
                </a:cubicBezTo>
                <a:lnTo>
                  <a:pt x="0" y="292243"/>
                </a:lnTo>
                <a:cubicBezTo>
                  <a:pt x="0" y="130950"/>
                  <a:pt x="130950" y="0"/>
                  <a:pt x="292243" y="0"/>
                </a:cubicBezTo>
                <a:close/>
              </a:path>
            </a:pathLst>
          </a:custGeom>
          <a:solidFill>
            <a:srgbClr val="4A6C7C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203228" y="5443020"/>
            <a:ext cx="164387" cy="219182"/>
          </a:xfrm>
          <a:custGeom>
            <a:avLst/>
            <a:gdLst/>
            <a:ahLst/>
            <a:cxnLst/>
            <a:rect l="l" t="t" r="r" b="b"/>
            <a:pathLst>
              <a:path w="164387" h="219182">
                <a:moveTo>
                  <a:pt x="23588" y="31422"/>
                </a:moveTo>
                <a:cubicBezTo>
                  <a:pt x="18237" y="26071"/>
                  <a:pt x="9546" y="26071"/>
                  <a:pt x="4195" y="31422"/>
                </a:cubicBezTo>
                <a:cubicBezTo>
                  <a:pt x="-1156" y="36773"/>
                  <a:pt x="-1156" y="45463"/>
                  <a:pt x="4195" y="50814"/>
                </a:cubicBezTo>
                <a:lnTo>
                  <a:pt x="63015" y="109591"/>
                </a:lnTo>
                <a:lnTo>
                  <a:pt x="4238" y="168411"/>
                </a:lnTo>
                <a:cubicBezTo>
                  <a:pt x="-1113" y="173762"/>
                  <a:pt x="-1113" y="182452"/>
                  <a:pt x="4238" y="187803"/>
                </a:cubicBezTo>
                <a:cubicBezTo>
                  <a:pt x="9589" y="193154"/>
                  <a:pt x="18279" y="193154"/>
                  <a:pt x="23631" y="187803"/>
                </a:cubicBezTo>
                <a:lnTo>
                  <a:pt x="82407" y="128983"/>
                </a:lnTo>
                <a:lnTo>
                  <a:pt x="141227" y="187760"/>
                </a:lnTo>
                <a:cubicBezTo>
                  <a:pt x="146578" y="193111"/>
                  <a:pt x="155268" y="193111"/>
                  <a:pt x="160619" y="187760"/>
                </a:cubicBezTo>
                <a:cubicBezTo>
                  <a:pt x="165970" y="182409"/>
                  <a:pt x="165970" y="173719"/>
                  <a:pt x="160619" y="168368"/>
                </a:cubicBezTo>
                <a:lnTo>
                  <a:pt x="101800" y="109591"/>
                </a:lnTo>
                <a:lnTo>
                  <a:pt x="160577" y="50771"/>
                </a:lnTo>
                <a:cubicBezTo>
                  <a:pt x="165928" y="45420"/>
                  <a:pt x="165928" y="36730"/>
                  <a:pt x="160577" y="31379"/>
                </a:cubicBezTo>
                <a:cubicBezTo>
                  <a:pt x="155225" y="26028"/>
                  <a:pt x="146535" y="26028"/>
                  <a:pt x="141184" y="31379"/>
                </a:cubicBezTo>
                <a:lnTo>
                  <a:pt x="82407" y="90199"/>
                </a:lnTo>
                <a:lnTo>
                  <a:pt x="23588" y="31422"/>
                </a:ln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40" name="Text 38"/>
          <p:cNvSpPr/>
          <p:nvPr/>
        </p:nvSpPr>
        <p:spPr>
          <a:xfrm>
            <a:off x="9067134" y="5954445"/>
            <a:ext cx="2438400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1294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بدون سیاست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071700" y="6246688"/>
            <a:ext cx="2429267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1151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خطای بالا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176824" y="5121553"/>
            <a:ext cx="2635664" cy="1512356"/>
          </a:xfrm>
          <a:custGeom>
            <a:avLst/>
            <a:gdLst/>
            <a:ahLst/>
            <a:cxnLst/>
            <a:rect l="l" t="t" r="r" b="b"/>
            <a:pathLst>
              <a:path w="2635664" h="1512356">
                <a:moveTo>
                  <a:pt x="109585" y="0"/>
                </a:moveTo>
                <a:lnTo>
                  <a:pt x="2526079" y="0"/>
                </a:lnTo>
                <a:cubicBezTo>
                  <a:pt x="2586560" y="0"/>
                  <a:pt x="2635664" y="49104"/>
                  <a:pt x="2635664" y="109585"/>
                </a:cubicBezTo>
                <a:lnTo>
                  <a:pt x="2635664" y="1402771"/>
                </a:lnTo>
                <a:cubicBezTo>
                  <a:pt x="2635664" y="1463293"/>
                  <a:pt x="2586601" y="1512356"/>
                  <a:pt x="2526079" y="1512356"/>
                </a:cubicBezTo>
                <a:lnTo>
                  <a:pt x="109585" y="1512356"/>
                </a:lnTo>
                <a:cubicBezTo>
                  <a:pt x="49104" y="1512356"/>
                  <a:pt x="0" y="1463252"/>
                  <a:pt x="0" y="1402771"/>
                </a:cubicBezTo>
                <a:lnTo>
                  <a:pt x="0" y="109585"/>
                </a:lnTo>
                <a:cubicBezTo>
                  <a:pt x="0" y="49104"/>
                  <a:pt x="49104" y="0"/>
                  <a:pt x="109585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 w="20320">
            <a:solidFill>
              <a:srgbClr val="1A53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00586" y="5274982"/>
            <a:ext cx="584485" cy="584485"/>
          </a:xfrm>
          <a:custGeom>
            <a:avLst/>
            <a:gdLst/>
            <a:ahLst/>
            <a:cxnLst/>
            <a:rect l="l" t="t" r="r" b="b"/>
            <a:pathLst>
              <a:path w="584485" h="584485">
                <a:moveTo>
                  <a:pt x="292243" y="0"/>
                </a:moveTo>
                <a:lnTo>
                  <a:pt x="292243" y="0"/>
                </a:lnTo>
                <a:cubicBezTo>
                  <a:pt x="453536" y="0"/>
                  <a:pt x="584485" y="130950"/>
                  <a:pt x="584485" y="292243"/>
                </a:cubicBezTo>
                <a:lnTo>
                  <a:pt x="584485" y="292243"/>
                </a:lnTo>
                <a:cubicBezTo>
                  <a:pt x="584485" y="453536"/>
                  <a:pt x="453536" y="584485"/>
                  <a:pt x="292243" y="584485"/>
                </a:cubicBezTo>
                <a:lnTo>
                  <a:pt x="292243" y="584485"/>
                </a:lnTo>
                <a:cubicBezTo>
                  <a:pt x="130950" y="584485"/>
                  <a:pt x="0" y="453536"/>
                  <a:pt x="0" y="292243"/>
                </a:cubicBezTo>
                <a:lnTo>
                  <a:pt x="0" y="292243"/>
                </a:lnTo>
                <a:cubicBezTo>
                  <a:pt x="0" y="130950"/>
                  <a:pt x="130950" y="0"/>
                  <a:pt x="292243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44" name="Shape 42"/>
          <p:cNvSpPr/>
          <p:nvPr/>
        </p:nvSpPr>
        <p:spPr>
          <a:xfrm>
            <a:off x="7355840" y="5457633"/>
            <a:ext cx="273978" cy="219182"/>
          </a:xfrm>
          <a:custGeom>
            <a:avLst/>
            <a:gdLst/>
            <a:ahLst/>
            <a:cxnLst/>
            <a:rect l="l" t="t" r="r" b="b"/>
            <a:pathLst>
              <a:path w="273978" h="219182">
                <a:moveTo>
                  <a:pt x="150688" y="0"/>
                </a:moveTo>
                <a:cubicBezTo>
                  <a:pt x="150688" y="-7577"/>
                  <a:pt x="144566" y="-13699"/>
                  <a:pt x="136989" y="-13699"/>
                </a:cubicBezTo>
                <a:cubicBezTo>
                  <a:pt x="129412" y="-13699"/>
                  <a:pt x="123290" y="-7577"/>
                  <a:pt x="123290" y="0"/>
                </a:cubicBezTo>
                <a:lnTo>
                  <a:pt x="123290" y="27398"/>
                </a:lnTo>
                <a:lnTo>
                  <a:pt x="82193" y="27398"/>
                </a:lnTo>
                <a:cubicBezTo>
                  <a:pt x="59504" y="27398"/>
                  <a:pt x="41097" y="45806"/>
                  <a:pt x="41097" y="68494"/>
                </a:cubicBezTo>
                <a:lnTo>
                  <a:pt x="41097" y="164387"/>
                </a:lnTo>
                <a:cubicBezTo>
                  <a:pt x="41097" y="187075"/>
                  <a:pt x="59504" y="205483"/>
                  <a:pt x="82193" y="205483"/>
                </a:cubicBezTo>
                <a:lnTo>
                  <a:pt x="191784" y="205483"/>
                </a:lnTo>
                <a:cubicBezTo>
                  <a:pt x="214473" y="205483"/>
                  <a:pt x="232881" y="187075"/>
                  <a:pt x="232881" y="164387"/>
                </a:cubicBezTo>
                <a:lnTo>
                  <a:pt x="232881" y="68494"/>
                </a:lnTo>
                <a:cubicBezTo>
                  <a:pt x="232881" y="45806"/>
                  <a:pt x="214473" y="27398"/>
                  <a:pt x="191784" y="27398"/>
                </a:cubicBezTo>
                <a:lnTo>
                  <a:pt x="150688" y="27398"/>
                </a:lnTo>
                <a:lnTo>
                  <a:pt x="150688" y="0"/>
                </a:lnTo>
                <a:close/>
                <a:moveTo>
                  <a:pt x="68494" y="157537"/>
                </a:moveTo>
                <a:cubicBezTo>
                  <a:pt x="68494" y="151843"/>
                  <a:pt x="73075" y="147263"/>
                  <a:pt x="78769" y="147263"/>
                </a:cubicBezTo>
                <a:lnTo>
                  <a:pt x="92467" y="147263"/>
                </a:lnTo>
                <a:cubicBezTo>
                  <a:pt x="98161" y="147263"/>
                  <a:pt x="102742" y="151843"/>
                  <a:pt x="102742" y="157537"/>
                </a:cubicBezTo>
                <a:cubicBezTo>
                  <a:pt x="102742" y="163231"/>
                  <a:pt x="98161" y="167811"/>
                  <a:pt x="92467" y="167811"/>
                </a:cubicBezTo>
                <a:lnTo>
                  <a:pt x="78769" y="167811"/>
                </a:lnTo>
                <a:cubicBezTo>
                  <a:pt x="73075" y="167811"/>
                  <a:pt x="68494" y="163231"/>
                  <a:pt x="68494" y="157537"/>
                </a:cubicBezTo>
                <a:close/>
                <a:moveTo>
                  <a:pt x="119865" y="157537"/>
                </a:moveTo>
                <a:cubicBezTo>
                  <a:pt x="119865" y="151843"/>
                  <a:pt x="124446" y="147263"/>
                  <a:pt x="130139" y="147263"/>
                </a:cubicBezTo>
                <a:lnTo>
                  <a:pt x="143838" y="147263"/>
                </a:lnTo>
                <a:cubicBezTo>
                  <a:pt x="149532" y="147263"/>
                  <a:pt x="154112" y="151843"/>
                  <a:pt x="154112" y="157537"/>
                </a:cubicBezTo>
                <a:cubicBezTo>
                  <a:pt x="154112" y="163231"/>
                  <a:pt x="149532" y="167811"/>
                  <a:pt x="143838" y="167811"/>
                </a:cubicBezTo>
                <a:lnTo>
                  <a:pt x="130139" y="167811"/>
                </a:lnTo>
                <a:cubicBezTo>
                  <a:pt x="124446" y="167811"/>
                  <a:pt x="119865" y="163231"/>
                  <a:pt x="119865" y="157537"/>
                </a:cubicBezTo>
                <a:close/>
                <a:moveTo>
                  <a:pt x="171236" y="157537"/>
                </a:moveTo>
                <a:cubicBezTo>
                  <a:pt x="171236" y="151843"/>
                  <a:pt x="175817" y="147263"/>
                  <a:pt x="181510" y="147263"/>
                </a:cubicBezTo>
                <a:lnTo>
                  <a:pt x="195209" y="147263"/>
                </a:lnTo>
                <a:cubicBezTo>
                  <a:pt x="200903" y="147263"/>
                  <a:pt x="205483" y="151843"/>
                  <a:pt x="205483" y="157537"/>
                </a:cubicBezTo>
                <a:cubicBezTo>
                  <a:pt x="205483" y="163231"/>
                  <a:pt x="200903" y="167811"/>
                  <a:pt x="195209" y="167811"/>
                </a:cubicBezTo>
                <a:lnTo>
                  <a:pt x="181510" y="167811"/>
                </a:lnTo>
                <a:cubicBezTo>
                  <a:pt x="175817" y="167811"/>
                  <a:pt x="171236" y="163231"/>
                  <a:pt x="171236" y="157537"/>
                </a:cubicBezTo>
                <a:close/>
                <a:moveTo>
                  <a:pt x="95892" y="75344"/>
                </a:moveTo>
                <a:cubicBezTo>
                  <a:pt x="107233" y="75344"/>
                  <a:pt x="116440" y="84551"/>
                  <a:pt x="116440" y="95892"/>
                </a:cubicBezTo>
                <a:cubicBezTo>
                  <a:pt x="116440" y="107233"/>
                  <a:pt x="107233" y="116440"/>
                  <a:pt x="95892" y="116440"/>
                </a:cubicBezTo>
                <a:cubicBezTo>
                  <a:pt x="84551" y="116440"/>
                  <a:pt x="75344" y="107233"/>
                  <a:pt x="75344" y="95892"/>
                </a:cubicBezTo>
                <a:cubicBezTo>
                  <a:pt x="75344" y="84551"/>
                  <a:pt x="84551" y="75344"/>
                  <a:pt x="95892" y="75344"/>
                </a:cubicBezTo>
                <a:close/>
                <a:moveTo>
                  <a:pt x="157537" y="95892"/>
                </a:moveTo>
                <a:cubicBezTo>
                  <a:pt x="157537" y="84551"/>
                  <a:pt x="166744" y="75344"/>
                  <a:pt x="178085" y="75344"/>
                </a:cubicBezTo>
                <a:cubicBezTo>
                  <a:pt x="189426" y="75344"/>
                  <a:pt x="198634" y="84551"/>
                  <a:pt x="198634" y="95892"/>
                </a:cubicBezTo>
                <a:cubicBezTo>
                  <a:pt x="198634" y="107233"/>
                  <a:pt x="189426" y="116440"/>
                  <a:pt x="178085" y="116440"/>
                </a:cubicBezTo>
                <a:cubicBezTo>
                  <a:pt x="166744" y="116440"/>
                  <a:pt x="157537" y="107233"/>
                  <a:pt x="157537" y="95892"/>
                </a:cubicBezTo>
                <a:close/>
                <a:moveTo>
                  <a:pt x="27398" y="95892"/>
                </a:moveTo>
                <a:cubicBezTo>
                  <a:pt x="27398" y="88315"/>
                  <a:pt x="21276" y="82193"/>
                  <a:pt x="13699" y="82193"/>
                </a:cubicBezTo>
                <a:cubicBezTo>
                  <a:pt x="6122" y="82193"/>
                  <a:pt x="0" y="88315"/>
                  <a:pt x="0" y="95892"/>
                </a:cubicBezTo>
                <a:lnTo>
                  <a:pt x="0" y="136989"/>
                </a:lnTo>
                <a:cubicBezTo>
                  <a:pt x="0" y="144566"/>
                  <a:pt x="6122" y="150688"/>
                  <a:pt x="13699" y="150688"/>
                </a:cubicBezTo>
                <a:cubicBezTo>
                  <a:pt x="21276" y="150688"/>
                  <a:pt x="27398" y="144566"/>
                  <a:pt x="27398" y="136989"/>
                </a:cubicBezTo>
                <a:lnTo>
                  <a:pt x="27398" y="95892"/>
                </a:lnTo>
                <a:close/>
                <a:moveTo>
                  <a:pt x="260279" y="82193"/>
                </a:moveTo>
                <a:cubicBezTo>
                  <a:pt x="252701" y="82193"/>
                  <a:pt x="246580" y="88315"/>
                  <a:pt x="246580" y="95892"/>
                </a:cubicBezTo>
                <a:lnTo>
                  <a:pt x="246580" y="136989"/>
                </a:lnTo>
                <a:cubicBezTo>
                  <a:pt x="246580" y="144566"/>
                  <a:pt x="252701" y="150688"/>
                  <a:pt x="260279" y="150688"/>
                </a:cubicBezTo>
                <a:cubicBezTo>
                  <a:pt x="267856" y="150688"/>
                  <a:pt x="273978" y="144566"/>
                  <a:pt x="273978" y="136989"/>
                </a:cubicBezTo>
                <a:lnTo>
                  <a:pt x="273978" y="95892"/>
                </a:lnTo>
                <a:cubicBezTo>
                  <a:pt x="273978" y="88315"/>
                  <a:pt x="267856" y="82193"/>
                  <a:pt x="260279" y="821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289154" y="5969058"/>
            <a:ext cx="2411002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4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LLM Agent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293720" y="6261301"/>
            <a:ext cx="2401870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1151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عملکرد متوسط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384231" y="5121553"/>
            <a:ext cx="2635664" cy="1512356"/>
          </a:xfrm>
          <a:custGeom>
            <a:avLst/>
            <a:gdLst/>
            <a:ahLst/>
            <a:cxnLst/>
            <a:rect l="l" t="t" r="r" b="b"/>
            <a:pathLst>
              <a:path w="2635664" h="1512356">
                <a:moveTo>
                  <a:pt x="109585" y="0"/>
                </a:moveTo>
                <a:lnTo>
                  <a:pt x="2526079" y="0"/>
                </a:lnTo>
                <a:cubicBezTo>
                  <a:pt x="2586560" y="0"/>
                  <a:pt x="2635664" y="49104"/>
                  <a:pt x="2635664" y="109585"/>
                </a:cubicBezTo>
                <a:lnTo>
                  <a:pt x="2635664" y="1402771"/>
                </a:lnTo>
                <a:cubicBezTo>
                  <a:pt x="2635664" y="1463293"/>
                  <a:pt x="2586601" y="1512356"/>
                  <a:pt x="2526079" y="1512356"/>
                </a:cubicBezTo>
                <a:lnTo>
                  <a:pt x="109585" y="1512356"/>
                </a:lnTo>
                <a:cubicBezTo>
                  <a:pt x="49104" y="1512356"/>
                  <a:pt x="0" y="1463252"/>
                  <a:pt x="0" y="1402771"/>
                </a:cubicBezTo>
                <a:lnTo>
                  <a:pt x="0" y="109585"/>
                </a:lnTo>
                <a:cubicBezTo>
                  <a:pt x="0" y="49104"/>
                  <a:pt x="49104" y="0"/>
                  <a:pt x="109585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07994" y="5274982"/>
            <a:ext cx="584485" cy="584485"/>
          </a:xfrm>
          <a:custGeom>
            <a:avLst/>
            <a:gdLst/>
            <a:ahLst/>
            <a:cxnLst/>
            <a:rect l="l" t="t" r="r" b="b"/>
            <a:pathLst>
              <a:path w="584485" h="584485">
                <a:moveTo>
                  <a:pt x="292243" y="0"/>
                </a:moveTo>
                <a:lnTo>
                  <a:pt x="292243" y="0"/>
                </a:lnTo>
                <a:cubicBezTo>
                  <a:pt x="453536" y="0"/>
                  <a:pt x="584485" y="130950"/>
                  <a:pt x="584485" y="292243"/>
                </a:cubicBezTo>
                <a:lnTo>
                  <a:pt x="584485" y="292243"/>
                </a:lnTo>
                <a:cubicBezTo>
                  <a:pt x="584485" y="453536"/>
                  <a:pt x="453536" y="584485"/>
                  <a:pt x="292243" y="584485"/>
                </a:cubicBezTo>
                <a:lnTo>
                  <a:pt x="292243" y="584485"/>
                </a:lnTo>
                <a:cubicBezTo>
                  <a:pt x="130950" y="584485"/>
                  <a:pt x="0" y="453536"/>
                  <a:pt x="0" y="292243"/>
                </a:cubicBezTo>
                <a:lnTo>
                  <a:pt x="0" y="292243"/>
                </a:lnTo>
                <a:cubicBezTo>
                  <a:pt x="0" y="130950"/>
                  <a:pt x="130950" y="0"/>
                  <a:pt x="292243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9" name="Shape 47"/>
          <p:cNvSpPr/>
          <p:nvPr/>
        </p:nvSpPr>
        <p:spPr>
          <a:xfrm>
            <a:off x="4590646" y="5457633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49958" y="14469"/>
                </a:moveTo>
                <a:cubicBezTo>
                  <a:pt x="51884" y="11858"/>
                  <a:pt x="54967" y="10274"/>
                  <a:pt x="58220" y="10274"/>
                </a:cubicBezTo>
                <a:lnTo>
                  <a:pt x="160962" y="10274"/>
                </a:lnTo>
                <a:cubicBezTo>
                  <a:pt x="164215" y="10274"/>
                  <a:pt x="167298" y="11815"/>
                  <a:pt x="169224" y="14469"/>
                </a:cubicBezTo>
                <a:lnTo>
                  <a:pt x="217170" y="79539"/>
                </a:lnTo>
                <a:cubicBezTo>
                  <a:pt x="220081" y="83478"/>
                  <a:pt x="219781" y="88914"/>
                  <a:pt x="216528" y="92553"/>
                </a:cubicBezTo>
                <a:lnTo>
                  <a:pt x="117211" y="202144"/>
                </a:lnTo>
                <a:cubicBezTo>
                  <a:pt x="115285" y="204284"/>
                  <a:pt x="112502" y="205526"/>
                  <a:pt x="109591" y="205526"/>
                </a:cubicBezTo>
                <a:cubicBezTo>
                  <a:pt x="106680" y="205526"/>
                  <a:pt x="103940" y="204284"/>
                  <a:pt x="101971" y="202144"/>
                </a:cubicBezTo>
                <a:lnTo>
                  <a:pt x="2654" y="92553"/>
                </a:lnTo>
                <a:cubicBezTo>
                  <a:pt x="-642" y="88914"/>
                  <a:pt x="-899" y="83478"/>
                  <a:pt x="2012" y="79539"/>
                </a:cubicBezTo>
                <a:lnTo>
                  <a:pt x="49958" y="14469"/>
                </a:lnTo>
                <a:close/>
                <a:moveTo>
                  <a:pt x="66440" y="31507"/>
                </a:moveTo>
                <a:cubicBezTo>
                  <a:pt x="65027" y="32578"/>
                  <a:pt x="64642" y="34504"/>
                  <a:pt x="65541" y="36002"/>
                </a:cubicBezTo>
                <a:lnTo>
                  <a:pt x="90113" y="76971"/>
                </a:lnTo>
                <a:lnTo>
                  <a:pt x="27098" y="82193"/>
                </a:lnTo>
                <a:cubicBezTo>
                  <a:pt x="25343" y="82322"/>
                  <a:pt x="23973" y="83820"/>
                  <a:pt x="23973" y="85618"/>
                </a:cubicBezTo>
                <a:cubicBezTo>
                  <a:pt x="23973" y="87416"/>
                  <a:pt x="25343" y="88871"/>
                  <a:pt x="27098" y="89043"/>
                </a:cubicBezTo>
                <a:lnTo>
                  <a:pt x="109291" y="95892"/>
                </a:lnTo>
                <a:cubicBezTo>
                  <a:pt x="109463" y="95892"/>
                  <a:pt x="109677" y="95892"/>
                  <a:pt x="109848" y="95892"/>
                </a:cubicBezTo>
                <a:lnTo>
                  <a:pt x="192041" y="89043"/>
                </a:lnTo>
                <a:cubicBezTo>
                  <a:pt x="193796" y="88914"/>
                  <a:pt x="195166" y="87416"/>
                  <a:pt x="195166" y="85618"/>
                </a:cubicBezTo>
                <a:cubicBezTo>
                  <a:pt x="195166" y="83820"/>
                  <a:pt x="193796" y="82364"/>
                  <a:pt x="192041" y="82193"/>
                </a:cubicBezTo>
                <a:lnTo>
                  <a:pt x="129026" y="76928"/>
                </a:lnTo>
                <a:lnTo>
                  <a:pt x="153599" y="36002"/>
                </a:lnTo>
                <a:cubicBezTo>
                  <a:pt x="154498" y="34504"/>
                  <a:pt x="154112" y="32535"/>
                  <a:pt x="152700" y="31507"/>
                </a:cubicBezTo>
                <a:cubicBezTo>
                  <a:pt x="151287" y="30480"/>
                  <a:pt x="149318" y="30651"/>
                  <a:pt x="148119" y="31936"/>
                </a:cubicBezTo>
                <a:lnTo>
                  <a:pt x="109591" y="73717"/>
                </a:lnTo>
                <a:lnTo>
                  <a:pt x="71020" y="31936"/>
                </a:lnTo>
                <a:cubicBezTo>
                  <a:pt x="69821" y="30651"/>
                  <a:pt x="67852" y="30480"/>
                  <a:pt x="66440" y="3150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3496562" y="5969058"/>
            <a:ext cx="2411002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4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LLM + Gemini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501128" y="6261301"/>
            <a:ext cx="2401870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1151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عملکرد بهبود یافته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84333" y="5114247"/>
            <a:ext cx="2648449" cy="1525142"/>
          </a:xfrm>
          <a:custGeom>
            <a:avLst/>
            <a:gdLst/>
            <a:ahLst/>
            <a:cxnLst/>
            <a:rect l="l" t="t" r="r" b="b"/>
            <a:pathLst>
              <a:path w="2648449" h="1525142">
                <a:moveTo>
                  <a:pt x="109597" y="0"/>
                </a:moveTo>
                <a:lnTo>
                  <a:pt x="2538853" y="0"/>
                </a:lnTo>
                <a:cubicBezTo>
                  <a:pt x="2599381" y="0"/>
                  <a:pt x="2648449" y="49068"/>
                  <a:pt x="2648449" y="109597"/>
                </a:cubicBezTo>
                <a:lnTo>
                  <a:pt x="2648449" y="1415545"/>
                </a:lnTo>
                <a:cubicBezTo>
                  <a:pt x="2648449" y="1476073"/>
                  <a:pt x="2599381" y="1525142"/>
                  <a:pt x="2538853" y="1525142"/>
                </a:cubicBezTo>
                <a:lnTo>
                  <a:pt x="109597" y="1525142"/>
                </a:lnTo>
                <a:cubicBezTo>
                  <a:pt x="49109" y="1525142"/>
                  <a:pt x="0" y="1476033"/>
                  <a:pt x="0" y="1415545"/>
                </a:cubicBezTo>
                <a:lnTo>
                  <a:pt x="0" y="109597"/>
                </a:lnTo>
                <a:cubicBezTo>
                  <a:pt x="0" y="49068"/>
                  <a:pt x="49068" y="0"/>
                  <a:pt x="1095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3" name="Shape 51"/>
          <p:cNvSpPr/>
          <p:nvPr/>
        </p:nvSpPr>
        <p:spPr>
          <a:xfrm>
            <a:off x="1615402" y="5260369"/>
            <a:ext cx="584485" cy="584485"/>
          </a:xfrm>
          <a:custGeom>
            <a:avLst/>
            <a:gdLst/>
            <a:ahLst/>
            <a:cxnLst/>
            <a:rect l="l" t="t" r="r" b="b"/>
            <a:pathLst>
              <a:path w="584485" h="584485">
                <a:moveTo>
                  <a:pt x="292243" y="0"/>
                </a:moveTo>
                <a:lnTo>
                  <a:pt x="292243" y="0"/>
                </a:lnTo>
                <a:cubicBezTo>
                  <a:pt x="453536" y="0"/>
                  <a:pt x="584485" y="130950"/>
                  <a:pt x="584485" y="292243"/>
                </a:cubicBezTo>
                <a:lnTo>
                  <a:pt x="584485" y="292243"/>
                </a:lnTo>
                <a:cubicBezTo>
                  <a:pt x="584485" y="453536"/>
                  <a:pt x="453536" y="584485"/>
                  <a:pt x="292243" y="584485"/>
                </a:cubicBezTo>
                <a:lnTo>
                  <a:pt x="292243" y="584485"/>
                </a:lnTo>
                <a:cubicBezTo>
                  <a:pt x="130950" y="584485"/>
                  <a:pt x="0" y="453536"/>
                  <a:pt x="0" y="292243"/>
                </a:cubicBezTo>
                <a:lnTo>
                  <a:pt x="0" y="292243"/>
                </a:lnTo>
                <a:cubicBezTo>
                  <a:pt x="0" y="130950"/>
                  <a:pt x="130950" y="0"/>
                  <a:pt x="292243" y="0"/>
                </a:cubicBezTo>
                <a:close/>
              </a:path>
            </a:pathLst>
          </a:custGeom>
          <a:solidFill>
            <a:srgbClr val="4A6C7C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825451" y="5443020"/>
            <a:ext cx="164387" cy="219182"/>
          </a:xfrm>
          <a:custGeom>
            <a:avLst/>
            <a:gdLst/>
            <a:ahLst/>
            <a:cxnLst/>
            <a:rect l="l" t="t" r="r" b="b"/>
            <a:pathLst>
              <a:path w="164387" h="219182">
                <a:moveTo>
                  <a:pt x="150688" y="0"/>
                </a:moveTo>
                <a:cubicBezTo>
                  <a:pt x="158265" y="0"/>
                  <a:pt x="164387" y="6122"/>
                  <a:pt x="164387" y="13699"/>
                </a:cubicBezTo>
                <a:cubicBezTo>
                  <a:pt x="164387" y="38442"/>
                  <a:pt x="153941" y="58563"/>
                  <a:pt x="139814" y="75558"/>
                </a:cubicBezTo>
                <a:cubicBezTo>
                  <a:pt x="129497" y="87930"/>
                  <a:pt x="116783" y="99146"/>
                  <a:pt x="104026" y="109591"/>
                </a:cubicBezTo>
                <a:cubicBezTo>
                  <a:pt x="116783" y="120079"/>
                  <a:pt x="129497" y="131252"/>
                  <a:pt x="139814" y="143624"/>
                </a:cubicBezTo>
                <a:cubicBezTo>
                  <a:pt x="153941" y="160577"/>
                  <a:pt x="164387" y="180740"/>
                  <a:pt x="164387" y="205483"/>
                </a:cubicBezTo>
                <a:cubicBezTo>
                  <a:pt x="164387" y="213060"/>
                  <a:pt x="158265" y="219182"/>
                  <a:pt x="150688" y="219182"/>
                </a:cubicBezTo>
                <a:cubicBezTo>
                  <a:pt x="143110" y="219182"/>
                  <a:pt x="136989" y="213060"/>
                  <a:pt x="136989" y="205483"/>
                </a:cubicBezTo>
                <a:lnTo>
                  <a:pt x="27398" y="205483"/>
                </a:lnTo>
                <a:cubicBezTo>
                  <a:pt x="27398" y="213060"/>
                  <a:pt x="21276" y="219182"/>
                  <a:pt x="13699" y="219182"/>
                </a:cubicBezTo>
                <a:cubicBezTo>
                  <a:pt x="6122" y="219182"/>
                  <a:pt x="0" y="213060"/>
                  <a:pt x="0" y="205483"/>
                </a:cubicBezTo>
                <a:cubicBezTo>
                  <a:pt x="0" y="180740"/>
                  <a:pt x="10445" y="160619"/>
                  <a:pt x="24572" y="143624"/>
                </a:cubicBezTo>
                <a:cubicBezTo>
                  <a:pt x="34889" y="131252"/>
                  <a:pt x="47604" y="120079"/>
                  <a:pt x="60361" y="109591"/>
                </a:cubicBezTo>
                <a:cubicBezTo>
                  <a:pt x="47604" y="99103"/>
                  <a:pt x="34889" y="87930"/>
                  <a:pt x="24572" y="75558"/>
                </a:cubicBezTo>
                <a:cubicBezTo>
                  <a:pt x="10445" y="58563"/>
                  <a:pt x="0" y="38442"/>
                  <a:pt x="0" y="13699"/>
                </a:cubicBezTo>
                <a:cubicBezTo>
                  <a:pt x="0" y="6122"/>
                  <a:pt x="6122" y="0"/>
                  <a:pt x="13699" y="0"/>
                </a:cubicBezTo>
                <a:cubicBezTo>
                  <a:pt x="21276" y="0"/>
                  <a:pt x="27398" y="6122"/>
                  <a:pt x="27398" y="13699"/>
                </a:cubicBezTo>
                <a:lnTo>
                  <a:pt x="136989" y="13699"/>
                </a:lnTo>
                <a:cubicBezTo>
                  <a:pt x="136989" y="6122"/>
                  <a:pt x="143110" y="0"/>
                  <a:pt x="150688" y="0"/>
                </a:cubicBezTo>
                <a:close/>
                <a:moveTo>
                  <a:pt x="121363" y="164387"/>
                </a:moveTo>
                <a:lnTo>
                  <a:pt x="43066" y="164387"/>
                </a:lnTo>
                <a:cubicBezTo>
                  <a:pt x="39556" y="168881"/>
                  <a:pt x="36602" y="173419"/>
                  <a:pt x="34247" y="178085"/>
                </a:cubicBezTo>
                <a:lnTo>
                  <a:pt x="130225" y="178085"/>
                </a:lnTo>
                <a:cubicBezTo>
                  <a:pt x="127828" y="173419"/>
                  <a:pt x="124874" y="168881"/>
                  <a:pt x="121406" y="164387"/>
                </a:cubicBezTo>
                <a:close/>
                <a:moveTo>
                  <a:pt x="101885" y="143838"/>
                </a:moveTo>
                <a:cubicBezTo>
                  <a:pt x="95764" y="138273"/>
                  <a:pt x="89128" y="132793"/>
                  <a:pt x="82193" y="127143"/>
                </a:cubicBezTo>
                <a:cubicBezTo>
                  <a:pt x="75258" y="132751"/>
                  <a:pt x="68623" y="138273"/>
                  <a:pt x="62501" y="143838"/>
                </a:cubicBezTo>
                <a:lnTo>
                  <a:pt x="101885" y="143838"/>
                </a:lnTo>
                <a:close/>
                <a:moveTo>
                  <a:pt x="43023" y="54796"/>
                </a:moveTo>
                <a:lnTo>
                  <a:pt x="121321" y="54796"/>
                </a:lnTo>
                <a:cubicBezTo>
                  <a:pt x="124831" y="50301"/>
                  <a:pt x="127785" y="45763"/>
                  <a:pt x="130139" y="41097"/>
                </a:cubicBezTo>
                <a:lnTo>
                  <a:pt x="34204" y="41097"/>
                </a:lnTo>
                <a:cubicBezTo>
                  <a:pt x="36602" y="45763"/>
                  <a:pt x="39556" y="50301"/>
                  <a:pt x="43023" y="54796"/>
                </a:cubicBezTo>
                <a:close/>
                <a:moveTo>
                  <a:pt x="62501" y="75344"/>
                </a:moveTo>
                <a:cubicBezTo>
                  <a:pt x="68623" y="80909"/>
                  <a:pt x="75258" y="86389"/>
                  <a:pt x="82193" y="92039"/>
                </a:cubicBezTo>
                <a:cubicBezTo>
                  <a:pt x="89128" y="86431"/>
                  <a:pt x="95764" y="80909"/>
                  <a:pt x="101885" y="75344"/>
                </a:cubicBezTo>
                <a:lnTo>
                  <a:pt x="62501" y="75344"/>
                </a:ln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55" name="Text 53"/>
          <p:cNvSpPr/>
          <p:nvPr/>
        </p:nvSpPr>
        <p:spPr>
          <a:xfrm>
            <a:off x="689358" y="5954445"/>
            <a:ext cx="2438400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1294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الگوریتم ژنتیک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93924" y="6246688"/>
            <a:ext cx="2429267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1151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بهینه اما غیرواقعی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600" y="495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1A535C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430000" y="64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0"/>
                </a:moveTo>
                <a:cubicBezTo>
                  <a:pt x="66749" y="0"/>
                  <a:pt x="57150" y="9599"/>
                  <a:pt x="57150" y="21431"/>
                </a:cubicBezTo>
                <a:lnTo>
                  <a:pt x="57150" y="114300"/>
                </a:lnTo>
                <a:cubicBezTo>
                  <a:pt x="57150" y="126132"/>
                  <a:pt x="66749" y="135731"/>
                  <a:pt x="78581" y="135731"/>
                </a:cubicBezTo>
                <a:lnTo>
                  <a:pt x="107156" y="135731"/>
                </a:lnTo>
                <a:cubicBezTo>
                  <a:pt x="118988" y="135731"/>
                  <a:pt x="128588" y="126132"/>
                  <a:pt x="128588" y="114300"/>
                </a:cubicBezTo>
                <a:lnTo>
                  <a:pt x="128588" y="85725"/>
                </a:lnTo>
                <a:lnTo>
                  <a:pt x="142875" y="85725"/>
                </a:lnTo>
                <a:cubicBezTo>
                  <a:pt x="174441" y="85725"/>
                  <a:pt x="200025" y="111309"/>
                  <a:pt x="200025" y="142875"/>
                </a:cubicBezTo>
                <a:cubicBezTo>
                  <a:pt x="200025" y="174441"/>
                  <a:pt x="174441" y="200025"/>
                  <a:pt x="142875" y="200025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6410"/>
                  <a:pt x="222215" y="200025"/>
                  <a:pt x="214313" y="200025"/>
                </a:cubicBezTo>
                <a:lnTo>
                  <a:pt x="206767" y="200025"/>
                </a:lnTo>
                <a:cubicBezTo>
                  <a:pt x="220340" y="184845"/>
                  <a:pt x="228600" y="164842"/>
                  <a:pt x="228600" y="142875"/>
                </a:cubicBezTo>
                <a:cubicBezTo>
                  <a:pt x="228600" y="95548"/>
                  <a:pt x="190202" y="57150"/>
                  <a:pt x="142875" y="57150"/>
                </a:cubicBezTo>
                <a:lnTo>
                  <a:pt x="128588" y="57150"/>
                </a:lnTo>
                <a:lnTo>
                  <a:pt x="128588" y="21431"/>
                </a:lnTo>
                <a:cubicBezTo>
                  <a:pt x="128588" y="9599"/>
                  <a:pt x="118988" y="0"/>
                  <a:pt x="107156" y="0"/>
                </a:cubicBezTo>
                <a:lnTo>
                  <a:pt x="78581" y="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32159" y="178594"/>
                </a:lnTo>
                <a:cubicBezTo>
                  <a:pt x="138098" y="178594"/>
                  <a:pt x="142875" y="173816"/>
                  <a:pt x="142875" y="167878"/>
                </a:cubicBezTo>
                <a:cubicBezTo>
                  <a:pt x="142875" y="161940"/>
                  <a:pt x="138098" y="157163"/>
                  <a:pt x="132159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318919" y="381000"/>
            <a:ext cx="58967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80000"/>
              </a:lnSpc>
            </a:pPr>
            <a:r>
              <a:rPr lang="en-US" sz="36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تحلیل کیفی و ویژگی‌های رفتاری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18919" y="876300"/>
            <a:ext cx="590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50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Qualitative Analysis &amp; Behavioral Features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10300" y="1371600"/>
            <a:ext cx="5600700" cy="4267200"/>
          </a:xfrm>
          <a:custGeom>
            <a:avLst/>
            <a:gdLst/>
            <a:ahLst/>
            <a:cxnLst/>
            <a:rect l="l" t="t" r="r" b="b"/>
            <a:pathLst>
              <a:path w="5600700" h="4267200">
                <a:moveTo>
                  <a:pt x="152382" y="0"/>
                </a:moveTo>
                <a:lnTo>
                  <a:pt x="5448318" y="0"/>
                </a:lnTo>
                <a:cubicBezTo>
                  <a:pt x="5532420" y="0"/>
                  <a:pt x="5600700" y="68280"/>
                  <a:pt x="5600700" y="152382"/>
                </a:cubicBezTo>
                <a:lnTo>
                  <a:pt x="5600700" y="4114818"/>
                </a:lnTo>
                <a:cubicBezTo>
                  <a:pt x="5600700" y="4198920"/>
                  <a:pt x="5532420" y="4267200"/>
                  <a:pt x="5448318" y="4267200"/>
                </a:cubicBezTo>
                <a:lnTo>
                  <a:pt x="152382" y="4267200"/>
                </a:lnTo>
                <a:cubicBezTo>
                  <a:pt x="68280" y="4267200"/>
                  <a:pt x="0" y="4198920"/>
                  <a:pt x="0" y="4114818"/>
                </a:cubicBezTo>
                <a:lnTo>
                  <a:pt x="0" y="152382"/>
                </a:lnTo>
                <a:cubicBezTo>
                  <a:pt x="0" y="68280"/>
                  <a:pt x="68280" y="0"/>
                  <a:pt x="1523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0490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11215688" y="17526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655810" y="1714500"/>
            <a:ext cx="13250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انعطاف‌پذیری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38900" y="2324100"/>
            <a:ext cx="5229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عامل در مواجهه با </a:t>
            </a:r>
            <a:r>
              <a:rPr lang="en-US" sz="1350" b="1" dirty="0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بحران‌های </a:t>
            </a:r>
            <a:r>
              <a:rPr lang="en-US" sz="1350" b="1" dirty="0" err="1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ناگهانی</a:t>
            </a:r>
            <a:r>
              <a:rPr lang="en-US" sz="1350" b="1" dirty="0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کمبود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شدید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یک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محصول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سریع‌تر واکنش نشان می‌دهد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38900" y="3071813"/>
            <a:ext cx="5143500" cy="1600200"/>
          </a:xfrm>
          <a:custGeom>
            <a:avLst/>
            <a:gdLst/>
            <a:ahLst/>
            <a:cxnLst/>
            <a:rect l="l" t="t" r="r" b="b"/>
            <a:pathLst>
              <a:path w="5143500" h="1600200">
                <a:moveTo>
                  <a:pt x="114302" y="0"/>
                </a:moveTo>
                <a:lnTo>
                  <a:pt x="5029198" y="0"/>
                </a:lnTo>
                <a:cubicBezTo>
                  <a:pt x="5092283" y="0"/>
                  <a:pt x="5143500" y="51217"/>
                  <a:pt x="5143500" y="114302"/>
                </a:cubicBezTo>
                <a:lnTo>
                  <a:pt x="5143500" y="1485898"/>
                </a:lnTo>
                <a:cubicBezTo>
                  <a:pt x="5143500" y="1548983"/>
                  <a:pt x="5092283" y="1600200"/>
                  <a:pt x="5029198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77588" y="33004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9802654" y="3262313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مثال: بحران کمبود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163300" y="36433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15" name="Text 13"/>
          <p:cNvSpPr/>
          <p:nvPr/>
        </p:nvSpPr>
        <p:spPr>
          <a:xfrm>
            <a:off x="11134725" y="3643313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۱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434512" y="3643313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شناسایی سریع شوک بازار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163300" y="394811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18" name="Text 16"/>
          <p:cNvSpPr/>
          <p:nvPr/>
        </p:nvSpPr>
        <p:spPr>
          <a:xfrm>
            <a:off x="11134725" y="3948112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۲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52610" y="3948112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تحلیل علل و عوامل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163300" y="42529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11134725" y="4252913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۳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953625" y="4252913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تصمیم‌گیری سریع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81000" y="1371600"/>
            <a:ext cx="5600700" cy="4267200"/>
          </a:xfrm>
          <a:custGeom>
            <a:avLst/>
            <a:gdLst/>
            <a:ahLst/>
            <a:cxnLst/>
            <a:rect l="l" t="t" r="r" b="b"/>
            <a:pathLst>
              <a:path w="5600700" h="4267200">
                <a:moveTo>
                  <a:pt x="152382" y="0"/>
                </a:moveTo>
                <a:lnTo>
                  <a:pt x="5448318" y="0"/>
                </a:lnTo>
                <a:cubicBezTo>
                  <a:pt x="5532420" y="0"/>
                  <a:pt x="5600700" y="68280"/>
                  <a:pt x="5600700" y="152382"/>
                </a:cubicBezTo>
                <a:lnTo>
                  <a:pt x="5600700" y="4114818"/>
                </a:lnTo>
                <a:cubicBezTo>
                  <a:pt x="5600700" y="4198920"/>
                  <a:pt x="5532420" y="4267200"/>
                  <a:pt x="5448318" y="4267200"/>
                </a:cubicBezTo>
                <a:lnTo>
                  <a:pt x="152382" y="4267200"/>
                </a:lnTo>
                <a:cubicBezTo>
                  <a:pt x="68280" y="4267200"/>
                  <a:pt x="0" y="4198920"/>
                  <a:pt x="0" y="4114818"/>
                </a:cubicBezTo>
                <a:lnTo>
                  <a:pt x="0" y="152382"/>
                </a:lnTo>
                <a:cubicBezTo>
                  <a:pt x="0" y="68280"/>
                  <a:pt x="68280" y="0"/>
                  <a:pt x="1523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197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25" name="Shape 23"/>
          <p:cNvSpPr/>
          <p:nvPr/>
        </p:nvSpPr>
        <p:spPr>
          <a:xfrm>
            <a:off x="5357813" y="1752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974499" y="1714500"/>
            <a:ext cx="22166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شفافیت (Explainability)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9600" y="2324100"/>
            <a:ext cx="5229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هرعدد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مالیاتی دارای یک </a:t>
            </a:r>
            <a:r>
              <a:rPr lang="en-US" sz="1350" b="1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پیوست متنی 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است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که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چ</a:t>
            </a:r>
            <a:r>
              <a:rPr lang="fa-IR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ر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ای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آن را توضیح می‌دهد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09600" y="3071813"/>
            <a:ext cx="5143500" cy="2247900"/>
          </a:xfrm>
          <a:custGeom>
            <a:avLst/>
            <a:gdLst/>
            <a:ahLst/>
            <a:cxnLst/>
            <a:rect l="l" t="t" r="r" b="b"/>
            <a:pathLst>
              <a:path w="5143500" h="2247900">
                <a:moveTo>
                  <a:pt x="114306" y="0"/>
                </a:moveTo>
                <a:lnTo>
                  <a:pt x="5029194" y="0"/>
                </a:lnTo>
                <a:cubicBezTo>
                  <a:pt x="5092324" y="0"/>
                  <a:pt x="5143500" y="51176"/>
                  <a:pt x="5143500" y="114306"/>
                </a:cubicBezTo>
                <a:lnTo>
                  <a:pt x="5143500" y="2133594"/>
                </a:lnTo>
                <a:cubicBezTo>
                  <a:pt x="5143500" y="2196724"/>
                  <a:pt x="5092324" y="2247900"/>
                  <a:pt x="5029194" y="2247900"/>
                </a:cubicBezTo>
                <a:lnTo>
                  <a:pt x="114306" y="2247900"/>
                </a:lnTo>
                <a:cubicBezTo>
                  <a:pt x="51176" y="2247900"/>
                  <a:pt x="0" y="2196724"/>
                  <a:pt x="0" y="213359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348288" y="33004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0" name="Text 28"/>
          <p:cNvSpPr/>
          <p:nvPr/>
        </p:nvSpPr>
        <p:spPr>
          <a:xfrm>
            <a:off x="4371022" y="3262313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مزیت کلیدی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00100" y="3643313"/>
            <a:ext cx="4762500" cy="685800"/>
          </a:xfrm>
          <a:custGeom>
            <a:avLst/>
            <a:gdLst/>
            <a:ahLst/>
            <a:cxnLst/>
            <a:rect l="l" t="t" r="r" b="b"/>
            <a:pathLst>
              <a:path w="4762500" h="685800">
                <a:moveTo>
                  <a:pt x="76199" y="0"/>
                </a:moveTo>
                <a:lnTo>
                  <a:pt x="4686301" y="0"/>
                </a:lnTo>
                <a:cubicBezTo>
                  <a:pt x="4728384" y="0"/>
                  <a:pt x="4762500" y="34116"/>
                  <a:pt x="4762500" y="76199"/>
                </a:cubicBezTo>
                <a:lnTo>
                  <a:pt x="4762500" y="609601"/>
                </a:lnTo>
                <a:cubicBezTo>
                  <a:pt x="4762500" y="651684"/>
                  <a:pt x="4728384" y="685800"/>
                  <a:pt x="46863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257800" y="379571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3" name="Text 31"/>
          <p:cNvSpPr/>
          <p:nvPr/>
        </p:nvSpPr>
        <p:spPr>
          <a:xfrm>
            <a:off x="4377849" y="3757613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LLM Agent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14400" y="4024313"/>
            <a:ext cx="460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05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✓ هر تصمیم با استدلال همراه است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00100" y="4443413"/>
            <a:ext cx="4762500" cy="685800"/>
          </a:xfrm>
          <a:custGeom>
            <a:avLst/>
            <a:gdLst/>
            <a:ahLst/>
            <a:cxnLst/>
            <a:rect l="l" t="t" r="r" b="b"/>
            <a:pathLst>
              <a:path w="4762500" h="685800">
                <a:moveTo>
                  <a:pt x="76199" y="0"/>
                </a:moveTo>
                <a:lnTo>
                  <a:pt x="4686301" y="0"/>
                </a:lnTo>
                <a:cubicBezTo>
                  <a:pt x="4728384" y="0"/>
                  <a:pt x="4762500" y="34116"/>
                  <a:pt x="4762500" y="76199"/>
                </a:cubicBezTo>
                <a:lnTo>
                  <a:pt x="4762500" y="609601"/>
                </a:lnTo>
                <a:cubicBezTo>
                  <a:pt x="4762500" y="651684"/>
                  <a:pt x="4728384" y="685800"/>
                  <a:pt x="46863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295900" y="459581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04775" y="0"/>
                </a:moveTo>
                <a:cubicBezTo>
                  <a:pt x="110044" y="0"/>
                  <a:pt x="114300" y="4256"/>
                  <a:pt x="114300" y="9525"/>
                </a:cubicBezTo>
                <a:cubicBezTo>
                  <a:pt x="114300" y="26730"/>
                  <a:pt x="107037" y="40719"/>
                  <a:pt x="97215" y="52536"/>
                </a:cubicBezTo>
                <a:cubicBezTo>
                  <a:pt x="90041" y="61139"/>
                  <a:pt x="81201" y="68937"/>
                  <a:pt x="72330" y="76200"/>
                </a:cubicBezTo>
                <a:cubicBezTo>
                  <a:pt x="81201" y="83493"/>
                  <a:pt x="90041" y="91261"/>
                  <a:pt x="97215" y="99864"/>
                </a:cubicBezTo>
                <a:cubicBezTo>
                  <a:pt x="107037" y="111651"/>
                  <a:pt x="114300" y="125670"/>
                  <a:pt x="114300" y="142875"/>
                </a:cubicBezTo>
                <a:cubicBezTo>
                  <a:pt x="114300" y="148144"/>
                  <a:pt x="110044" y="152400"/>
                  <a:pt x="104775" y="152400"/>
                </a:cubicBezTo>
                <a:cubicBezTo>
                  <a:pt x="99506" y="152400"/>
                  <a:pt x="95250" y="148144"/>
                  <a:pt x="95250" y="142875"/>
                </a:cubicBezTo>
                <a:lnTo>
                  <a:pt x="19050" y="142875"/>
                </a:lnTo>
                <a:cubicBezTo>
                  <a:pt x="19050" y="148144"/>
                  <a:pt x="14794" y="152400"/>
                  <a:pt x="9525" y="152400"/>
                </a:cubicBezTo>
                <a:cubicBezTo>
                  <a:pt x="4256" y="152400"/>
                  <a:pt x="0" y="148144"/>
                  <a:pt x="0" y="142875"/>
                </a:cubicBezTo>
                <a:cubicBezTo>
                  <a:pt x="0" y="125670"/>
                  <a:pt x="7263" y="111681"/>
                  <a:pt x="17085" y="99864"/>
                </a:cubicBezTo>
                <a:cubicBezTo>
                  <a:pt x="24259" y="91261"/>
                  <a:pt x="33099" y="83493"/>
                  <a:pt x="41970" y="76200"/>
                </a:cubicBezTo>
                <a:cubicBezTo>
                  <a:pt x="33099" y="68907"/>
                  <a:pt x="24259" y="61139"/>
                  <a:pt x="17085" y="52536"/>
                </a:cubicBezTo>
                <a:cubicBezTo>
                  <a:pt x="7263" y="40719"/>
                  <a:pt x="0" y="26730"/>
                  <a:pt x="0" y="9525"/>
                </a:cubicBezTo>
                <a:cubicBezTo>
                  <a:pt x="0" y="4256"/>
                  <a:pt x="4256" y="0"/>
                  <a:pt x="9525" y="0"/>
                </a:cubicBezTo>
                <a:cubicBezTo>
                  <a:pt x="14794" y="0"/>
                  <a:pt x="19050" y="4256"/>
                  <a:pt x="19050" y="9525"/>
                </a:cubicBezTo>
                <a:lnTo>
                  <a:pt x="95250" y="9525"/>
                </a:lnTo>
                <a:cubicBezTo>
                  <a:pt x="95250" y="4256"/>
                  <a:pt x="99506" y="0"/>
                  <a:pt x="104775" y="0"/>
                </a:cubicBezTo>
                <a:close/>
                <a:moveTo>
                  <a:pt x="84386" y="114300"/>
                </a:moveTo>
                <a:lnTo>
                  <a:pt x="29944" y="114300"/>
                </a:lnTo>
                <a:cubicBezTo>
                  <a:pt x="27503" y="117425"/>
                  <a:pt x="25450" y="120581"/>
                  <a:pt x="23813" y="123825"/>
                </a:cubicBezTo>
                <a:lnTo>
                  <a:pt x="90547" y="123825"/>
                </a:lnTo>
                <a:cubicBezTo>
                  <a:pt x="88880" y="120581"/>
                  <a:pt x="86826" y="117425"/>
                  <a:pt x="84415" y="114300"/>
                </a:cubicBezTo>
                <a:close/>
                <a:moveTo>
                  <a:pt x="70842" y="100013"/>
                </a:moveTo>
                <a:cubicBezTo>
                  <a:pt x="66586" y="96143"/>
                  <a:pt x="61972" y="92333"/>
                  <a:pt x="57150" y="88404"/>
                </a:cubicBezTo>
                <a:cubicBezTo>
                  <a:pt x="52328" y="92303"/>
                  <a:pt x="47714" y="96143"/>
                  <a:pt x="43458" y="100013"/>
                </a:cubicBezTo>
                <a:lnTo>
                  <a:pt x="70842" y="100013"/>
                </a:lnTo>
                <a:close/>
                <a:moveTo>
                  <a:pt x="29914" y="38100"/>
                </a:moveTo>
                <a:lnTo>
                  <a:pt x="84356" y="38100"/>
                </a:lnTo>
                <a:cubicBezTo>
                  <a:pt x="86797" y="34975"/>
                  <a:pt x="88850" y="31819"/>
                  <a:pt x="90488" y="28575"/>
                </a:cubicBezTo>
                <a:lnTo>
                  <a:pt x="23783" y="28575"/>
                </a:lnTo>
                <a:cubicBezTo>
                  <a:pt x="25450" y="31819"/>
                  <a:pt x="27503" y="34975"/>
                  <a:pt x="29914" y="38100"/>
                </a:cubicBezTo>
                <a:close/>
                <a:moveTo>
                  <a:pt x="43458" y="52388"/>
                </a:moveTo>
                <a:cubicBezTo>
                  <a:pt x="47714" y="56257"/>
                  <a:pt x="52328" y="60067"/>
                  <a:pt x="57150" y="63996"/>
                </a:cubicBezTo>
                <a:cubicBezTo>
                  <a:pt x="61972" y="60097"/>
                  <a:pt x="66586" y="56257"/>
                  <a:pt x="70842" y="52388"/>
                </a:cubicBezTo>
                <a:lnTo>
                  <a:pt x="43458" y="52388"/>
                </a:ln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37" name="Text 35"/>
          <p:cNvSpPr/>
          <p:nvPr/>
        </p:nvSpPr>
        <p:spPr>
          <a:xfrm>
            <a:off x="4280376" y="4557713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الگوریتم ژنتیک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14400" y="4824413"/>
            <a:ext cx="460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05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✗ بدون توضیح منطقی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81000" y="5829300"/>
            <a:ext cx="11430000" cy="647700"/>
          </a:xfrm>
          <a:custGeom>
            <a:avLst/>
            <a:gdLst/>
            <a:ahLst/>
            <a:cxnLst/>
            <a:rect l="l" t="t" r="r" b="b"/>
            <a:pathLst>
              <a:path w="11430000" h="647700">
                <a:moveTo>
                  <a:pt x="114300" y="0"/>
                </a:moveTo>
                <a:lnTo>
                  <a:pt x="11315700" y="0"/>
                </a:lnTo>
                <a:cubicBezTo>
                  <a:pt x="11378826" y="0"/>
                  <a:pt x="11430000" y="51174"/>
                  <a:pt x="11430000" y="114300"/>
                </a:cubicBezTo>
                <a:lnTo>
                  <a:pt x="11430000" y="533400"/>
                </a:lnTo>
                <a:cubicBezTo>
                  <a:pt x="11430000" y="596526"/>
                  <a:pt x="11378826" y="647700"/>
                  <a:pt x="1131570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B6B"/>
              </a:gs>
              <a:gs pos="100000">
                <a:srgbClr val="FF6B6B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0" name="Shape 38"/>
          <p:cNvSpPr/>
          <p:nvPr/>
        </p:nvSpPr>
        <p:spPr>
          <a:xfrm>
            <a:off x="11391900" y="60388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2172176" y="6019800"/>
            <a:ext cx="909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نتیجه‌گیری:</a:t>
            </a:r>
            <a:r>
              <a:rPr lang="en-US" sz="135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عامل‌های</a:t>
            </a:r>
            <a:r>
              <a:rPr lang="en-US" sz="135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LLM</a:t>
            </a:r>
            <a:r>
              <a:rPr lang="fa-IR" sz="135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رفتارهایی</a:t>
            </a:r>
            <a:r>
              <a:rPr lang="en-US" sz="135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مشابه انسان واقعی از خود نشان می‌دهند: احتیاط، تدریجی‌گرایی، و شفافیت در تصمیم‌گیری.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600" y="495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430000" y="64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796756" y="381000"/>
            <a:ext cx="5419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80000"/>
              </a:lnSpc>
            </a:pPr>
            <a:r>
              <a:rPr lang="en-US" sz="36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چالش‌ها و محدودیت‌های فنی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796756" y="8763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50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Technical Challenges &amp; Limitations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128000" y="1390650"/>
            <a:ext cx="3686175" cy="3676650"/>
          </a:xfrm>
          <a:custGeom>
            <a:avLst/>
            <a:gdLst/>
            <a:ahLst/>
            <a:cxnLst/>
            <a:rect l="l" t="t" r="r" b="b"/>
            <a:pathLst>
              <a:path w="3686175" h="36766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524253"/>
                </a:lnTo>
                <a:cubicBezTo>
                  <a:pt x="3686175" y="3608363"/>
                  <a:pt x="3617888" y="3676650"/>
                  <a:pt x="3533778" y="3676650"/>
                </a:cubicBezTo>
                <a:lnTo>
                  <a:pt x="152397" y="3676650"/>
                </a:lnTo>
                <a:cubicBezTo>
                  <a:pt x="68287" y="3676650"/>
                  <a:pt x="0" y="3608363"/>
                  <a:pt x="0" y="35242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28000" y="13906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110490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229975" y="17907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7904" y="208553"/>
                </a:moveTo>
                <a:lnTo>
                  <a:pt x="12903" y="212571"/>
                </a:lnTo>
                <a:cubicBezTo>
                  <a:pt x="11475" y="213687"/>
                  <a:pt x="9733" y="214313"/>
                  <a:pt x="7947" y="214313"/>
                </a:cubicBezTo>
                <a:cubicBezTo>
                  <a:pt x="3572" y="214313"/>
                  <a:pt x="0" y="210741"/>
                  <a:pt x="0" y="206365"/>
                </a:cubicBezTo>
                <a:lnTo>
                  <a:pt x="0" y="85725"/>
                </a:lnTo>
                <a:cubicBezTo>
                  <a:pt x="0" y="38398"/>
                  <a:pt x="38398" y="0"/>
                  <a:pt x="85725" y="0"/>
                </a:cubicBezTo>
                <a:cubicBezTo>
                  <a:pt x="133052" y="0"/>
                  <a:pt x="171450" y="38398"/>
                  <a:pt x="171450" y="85725"/>
                </a:cubicBezTo>
                <a:lnTo>
                  <a:pt x="171450" y="206365"/>
                </a:lnTo>
                <a:cubicBezTo>
                  <a:pt x="171450" y="210741"/>
                  <a:pt x="167878" y="214313"/>
                  <a:pt x="163503" y="214313"/>
                </a:cubicBezTo>
                <a:cubicBezTo>
                  <a:pt x="161717" y="214313"/>
                  <a:pt x="159975" y="213687"/>
                  <a:pt x="158547" y="212571"/>
                </a:cubicBezTo>
                <a:lnTo>
                  <a:pt x="153546" y="208553"/>
                </a:lnTo>
                <a:cubicBezTo>
                  <a:pt x="147563" y="203775"/>
                  <a:pt x="138901" y="204534"/>
                  <a:pt x="133856" y="210294"/>
                </a:cubicBezTo>
                <a:lnTo>
                  <a:pt x="120238" y="225921"/>
                </a:lnTo>
                <a:cubicBezTo>
                  <a:pt x="118765" y="227618"/>
                  <a:pt x="116577" y="228600"/>
                  <a:pt x="114300" y="228600"/>
                </a:cubicBezTo>
                <a:cubicBezTo>
                  <a:pt x="112023" y="228600"/>
                  <a:pt x="109880" y="227618"/>
                  <a:pt x="108362" y="225921"/>
                </a:cubicBezTo>
                <a:lnTo>
                  <a:pt x="96485" y="212303"/>
                </a:lnTo>
                <a:cubicBezTo>
                  <a:pt x="90815" y="205785"/>
                  <a:pt x="80680" y="205785"/>
                  <a:pt x="74965" y="212303"/>
                </a:cubicBezTo>
                <a:lnTo>
                  <a:pt x="63088" y="225921"/>
                </a:lnTo>
                <a:cubicBezTo>
                  <a:pt x="61615" y="227618"/>
                  <a:pt x="59427" y="228600"/>
                  <a:pt x="57150" y="228600"/>
                </a:cubicBezTo>
                <a:cubicBezTo>
                  <a:pt x="54873" y="228600"/>
                  <a:pt x="52730" y="227618"/>
                  <a:pt x="51212" y="225921"/>
                </a:cubicBezTo>
                <a:lnTo>
                  <a:pt x="37594" y="210294"/>
                </a:lnTo>
                <a:cubicBezTo>
                  <a:pt x="32549" y="204534"/>
                  <a:pt x="23887" y="203775"/>
                  <a:pt x="17904" y="208553"/>
                </a:cubicBezTo>
                <a:close/>
                <a:moveTo>
                  <a:pt x="71438" y="85725"/>
                </a:moveTo>
                <a:cubicBezTo>
                  <a:pt x="71438" y="77840"/>
                  <a:pt x="65035" y="71438"/>
                  <a:pt x="57150" y="71438"/>
                </a:cubicBezTo>
                <a:cubicBezTo>
                  <a:pt x="49265" y="71438"/>
                  <a:pt x="42863" y="77840"/>
                  <a:pt x="42863" y="85725"/>
                </a:cubicBezTo>
                <a:cubicBezTo>
                  <a:pt x="42863" y="93610"/>
                  <a:pt x="49265" y="100013"/>
                  <a:pt x="57150" y="100013"/>
                </a:cubicBezTo>
                <a:cubicBezTo>
                  <a:pt x="65035" y="100013"/>
                  <a:pt x="71438" y="93610"/>
                  <a:pt x="71438" y="85725"/>
                </a:cubicBezTo>
                <a:close/>
                <a:moveTo>
                  <a:pt x="114300" y="100013"/>
                </a:moveTo>
                <a:cubicBezTo>
                  <a:pt x="122185" y="100013"/>
                  <a:pt x="128588" y="93610"/>
                  <a:pt x="128588" y="85725"/>
                </a:cubicBezTo>
                <a:cubicBezTo>
                  <a:pt x="128588" y="77840"/>
                  <a:pt x="122185" y="71438"/>
                  <a:pt x="114300" y="71438"/>
                </a:cubicBezTo>
                <a:cubicBezTo>
                  <a:pt x="106415" y="71438"/>
                  <a:pt x="100013" y="77840"/>
                  <a:pt x="100013" y="85725"/>
                </a:cubicBezTo>
                <a:cubicBezTo>
                  <a:pt x="100013" y="93610"/>
                  <a:pt x="106415" y="100013"/>
                  <a:pt x="114300" y="10001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9007643" y="1752600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توهم (Hallucination)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56600" y="2324100"/>
            <a:ext cx="33147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چالش ارائه </a:t>
            </a:r>
            <a:r>
              <a:rPr lang="en-US" sz="1350" b="1" dirty="0">
                <a:solidFill>
                  <a:srgbClr val="FF6B6B"/>
                </a:solidFill>
                <a:highlight>
                  <a:srgbClr val="FF6B6B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اعدادی خارج از محدوده 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که با کنترلرهای کد پایتون مهار شد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356600" y="3033713"/>
            <a:ext cx="3228975" cy="800100"/>
          </a:xfrm>
          <a:custGeom>
            <a:avLst/>
            <a:gdLst/>
            <a:ahLst/>
            <a:cxnLst/>
            <a:rect l="l" t="t" r="r" b="b"/>
            <a:pathLst>
              <a:path w="3228975" h="800100">
                <a:moveTo>
                  <a:pt x="114302" y="0"/>
                </a:moveTo>
                <a:lnTo>
                  <a:pt x="3114673" y="0"/>
                </a:lnTo>
                <a:cubicBezTo>
                  <a:pt x="3177758" y="0"/>
                  <a:pt x="3228975" y="51217"/>
                  <a:pt x="3228975" y="114302"/>
                </a:cubicBezTo>
                <a:lnTo>
                  <a:pt x="3228975" y="685798"/>
                </a:lnTo>
                <a:cubicBezTo>
                  <a:pt x="3228975" y="748883"/>
                  <a:pt x="3177758" y="800100"/>
                  <a:pt x="3114673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58550" y="32242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1665" y="3186113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راهکار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09000" y="3490913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05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لایه‌های اعتبارسنجی (Validation Layers)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54500" y="1390650"/>
            <a:ext cx="3686175" cy="3676650"/>
          </a:xfrm>
          <a:custGeom>
            <a:avLst/>
            <a:gdLst/>
            <a:ahLst/>
            <a:cxnLst/>
            <a:rect l="l" t="t" r="r" b="b"/>
            <a:pathLst>
              <a:path w="3686175" h="36766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524253"/>
                </a:lnTo>
                <a:cubicBezTo>
                  <a:pt x="3686175" y="3608363"/>
                  <a:pt x="3617888" y="3676650"/>
                  <a:pt x="3533778" y="3676650"/>
                </a:cubicBezTo>
                <a:lnTo>
                  <a:pt x="152397" y="3676650"/>
                </a:lnTo>
                <a:cubicBezTo>
                  <a:pt x="68287" y="3676650"/>
                  <a:pt x="0" y="3608363"/>
                  <a:pt x="0" y="35242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4500" y="13906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18" name="Shape 16"/>
          <p:cNvSpPr/>
          <p:nvPr/>
        </p:nvSpPr>
        <p:spPr>
          <a:xfrm>
            <a:off x="71755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7C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327900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20" name="Text 18"/>
          <p:cNvSpPr/>
          <p:nvPr/>
        </p:nvSpPr>
        <p:spPr>
          <a:xfrm>
            <a:off x="6000750" y="1752600"/>
            <a:ext cx="11145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تأخیر API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83100" y="2324100"/>
            <a:ext cx="33147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بررسی </a:t>
            </a:r>
            <a:r>
              <a:rPr lang="en-US" sz="1350" b="1" dirty="0">
                <a:solidFill>
                  <a:srgbClr val="4A6C7C"/>
                </a:solidFill>
                <a:highlight>
                  <a:srgbClr val="4A6C7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زمان پاسخ‌دهی 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مدل‌های مختلف و تأثیر آن بر سرعت شبیه‌سازی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83100" y="3033713"/>
            <a:ext cx="3228975" cy="1028700"/>
          </a:xfrm>
          <a:custGeom>
            <a:avLst/>
            <a:gdLst/>
            <a:ahLst/>
            <a:cxnLst/>
            <a:rect l="l" t="t" r="r" b="b"/>
            <a:pathLst>
              <a:path w="3228975" h="1028700">
                <a:moveTo>
                  <a:pt x="114299" y="0"/>
                </a:moveTo>
                <a:lnTo>
                  <a:pt x="3114676" y="0"/>
                </a:lnTo>
                <a:cubicBezTo>
                  <a:pt x="3177802" y="0"/>
                  <a:pt x="3228975" y="51173"/>
                  <a:pt x="3228975" y="114299"/>
                </a:cubicBezTo>
                <a:lnTo>
                  <a:pt x="3228975" y="914401"/>
                </a:lnTo>
                <a:cubicBezTo>
                  <a:pt x="3228975" y="977527"/>
                  <a:pt x="3177802" y="1028700"/>
                  <a:pt x="3114676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385050" y="32242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24" name="Text 22"/>
          <p:cNvSpPr/>
          <p:nvPr/>
        </p:nvSpPr>
        <p:spPr>
          <a:xfrm>
            <a:off x="6831489" y="318611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مقایسه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58355" y="3490913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GPT-4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35500" y="3490913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~2-3s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25176" y="3719512"/>
            <a:ext cx="49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Gemini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35500" y="3719512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~1-2s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81000" y="1390650"/>
            <a:ext cx="3686175" cy="3676650"/>
          </a:xfrm>
          <a:custGeom>
            <a:avLst/>
            <a:gdLst/>
            <a:ahLst/>
            <a:cxnLst/>
            <a:rect l="l" t="t" r="r" b="b"/>
            <a:pathLst>
              <a:path w="3686175" h="36766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524253"/>
                </a:lnTo>
                <a:cubicBezTo>
                  <a:pt x="3686175" y="3608363"/>
                  <a:pt x="3617888" y="3676650"/>
                  <a:pt x="3533778" y="3676650"/>
                </a:cubicBezTo>
                <a:lnTo>
                  <a:pt x="152397" y="3676650"/>
                </a:lnTo>
                <a:cubicBezTo>
                  <a:pt x="68287" y="3676650"/>
                  <a:pt x="0" y="3608363"/>
                  <a:pt x="0" y="35242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1000" y="13906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1" name="Shape 29"/>
          <p:cNvSpPr/>
          <p:nvPr/>
        </p:nvSpPr>
        <p:spPr>
          <a:xfrm>
            <a:off x="33020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68688" y="1790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5719" y="46434"/>
                </a:moveTo>
                <a:cubicBezTo>
                  <a:pt x="41633" y="46434"/>
                  <a:pt x="46434" y="41633"/>
                  <a:pt x="46434" y="35719"/>
                </a:cubicBezTo>
                <a:cubicBezTo>
                  <a:pt x="46434" y="29805"/>
                  <a:pt x="41633" y="25003"/>
                  <a:pt x="35719" y="25003"/>
                </a:cubicBezTo>
                <a:cubicBezTo>
                  <a:pt x="29805" y="25003"/>
                  <a:pt x="25003" y="29805"/>
                  <a:pt x="25003" y="35719"/>
                </a:cubicBezTo>
                <a:cubicBezTo>
                  <a:pt x="25003" y="41633"/>
                  <a:pt x="29805" y="46434"/>
                  <a:pt x="35719" y="46434"/>
                </a:cubicBezTo>
                <a:close/>
                <a:moveTo>
                  <a:pt x="71438" y="35719"/>
                </a:moveTo>
                <a:cubicBezTo>
                  <a:pt x="71438" y="50363"/>
                  <a:pt x="62642" y="62954"/>
                  <a:pt x="50006" y="68446"/>
                </a:cubicBezTo>
                <a:lnTo>
                  <a:pt x="50006" y="100013"/>
                </a:lnTo>
                <a:lnTo>
                  <a:pt x="128588" y="100013"/>
                </a:lnTo>
                <a:cubicBezTo>
                  <a:pt x="140419" y="100013"/>
                  <a:pt x="150019" y="90413"/>
                  <a:pt x="150019" y="78581"/>
                </a:cubicBezTo>
                <a:lnTo>
                  <a:pt x="150019" y="68446"/>
                </a:lnTo>
                <a:cubicBezTo>
                  <a:pt x="137383" y="62954"/>
                  <a:pt x="128588" y="50363"/>
                  <a:pt x="128588" y="35719"/>
                </a:cubicBezTo>
                <a:cubicBezTo>
                  <a:pt x="128588" y="15984"/>
                  <a:pt x="144572" y="0"/>
                  <a:pt x="164306" y="0"/>
                </a:cubicBezTo>
                <a:cubicBezTo>
                  <a:pt x="184041" y="0"/>
                  <a:pt x="200025" y="15984"/>
                  <a:pt x="200025" y="35719"/>
                </a:cubicBezTo>
                <a:cubicBezTo>
                  <a:pt x="200025" y="50363"/>
                  <a:pt x="191229" y="62954"/>
                  <a:pt x="178594" y="68446"/>
                </a:cubicBezTo>
                <a:lnTo>
                  <a:pt x="178594" y="78581"/>
                </a:lnTo>
                <a:cubicBezTo>
                  <a:pt x="178594" y="106219"/>
                  <a:pt x="156225" y="128588"/>
                  <a:pt x="128588" y="128588"/>
                </a:cubicBezTo>
                <a:lnTo>
                  <a:pt x="50006" y="128588"/>
                </a:lnTo>
                <a:lnTo>
                  <a:pt x="50006" y="160154"/>
                </a:lnTo>
                <a:cubicBezTo>
                  <a:pt x="62642" y="165646"/>
                  <a:pt x="71438" y="178237"/>
                  <a:pt x="71438" y="192881"/>
                </a:cubicBezTo>
                <a:cubicBezTo>
                  <a:pt x="71438" y="212616"/>
                  <a:pt x="55453" y="228600"/>
                  <a:pt x="35719" y="228600"/>
                </a:cubicBezTo>
                <a:cubicBezTo>
                  <a:pt x="15984" y="228600"/>
                  <a:pt x="0" y="212616"/>
                  <a:pt x="0" y="192881"/>
                </a:cubicBezTo>
                <a:cubicBezTo>
                  <a:pt x="0" y="178237"/>
                  <a:pt x="8796" y="165646"/>
                  <a:pt x="21431" y="160154"/>
                </a:cubicBezTo>
                <a:lnTo>
                  <a:pt x="21431" y="68491"/>
                </a:lnTo>
                <a:cubicBezTo>
                  <a:pt x="8796" y="62954"/>
                  <a:pt x="0" y="50363"/>
                  <a:pt x="0" y="35719"/>
                </a:cubicBezTo>
                <a:cubicBezTo>
                  <a:pt x="0" y="15984"/>
                  <a:pt x="15984" y="0"/>
                  <a:pt x="35719" y="0"/>
                </a:cubicBezTo>
                <a:cubicBezTo>
                  <a:pt x="55453" y="0"/>
                  <a:pt x="71438" y="15984"/>
                  <a:pt x="71438" y="35719"/>
                </a:cubicBezTo>
                <a:close/>
                <a:moveTo>
                  <a:pt x="175022" y="35719"/>
                </a:moveTo>
                <a:cubicBezTo>
                  <a:pt x="175022" y="29805"/>
                  <a:pt x="170220" y="25003"/>
                  <a:pt x="164306" y="25003"/>
                </a:cubicBezTo>
                <a:cubicBezTo>
                  <a:pt x="158392" y="25003"/>
                  <a:pt x="153591" y="29805"/>
                  <a:pt x="153591" y="35719"/>
                </a:cubicBezTo>
                <a:cubicBezTo>
                  <a:pt x="153591" y="41633"/>
                  <a:pt x="158392" y="46434"/>
                  <a:pt x="164306" y="46434"/>
                </a:cubicBezTo>
                <a:cubicBezTo>
                  <a:pt x="170220" y="46434"/>
                  <a:pt x="175022" y="41633"/>
                  <a:pt x="175022" y="35719"/>
                </a:cubicBezTo>
                <a:close/>
                <a:moveTo>
                  <a:pt x="35719" y="203597"/>
                </a:moveTo>
                <a:cubicBezTo>
                  <a:pt x="41633" y="203597"/>
                  <a:pt x="46434" y="198795"/>
                  <a:pt x="46434" y="192881"/>
                </a:cubicBezTo>
                <a:cubicBezTo>
                  <a:pt x="46434" y="186967"/>
                  <a:pt x="41633" y="182166"/>
                  <a:pt x="35719" y="182166"/>
                </a:cubicBezTo>
                <a:cubicBezTo>
                  <a:pt x="29805" y="182166"/>
                  <a:pt x="25003" y="186967"/>
                  <a:pt x="25003" y="192881"/>
                </a:cubicBezTo>
                <a:cubicBezTo>
                  <a:pt x="25003" y="198795"/>
                  <a:pt x="29805" y="203597"/>
                  <a:pt x="35719" y="203597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3" name="Text 31"/>
          <p:cNvSpPr/>
          <p:nvPr/>
        </p:nvSpPr>
        <p:spPr>
          <a:xfrm>
            <a:off x="1535430" y="1752600"/>
            <a:ext cx="17014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هماهنگی نسخه‌ها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09600" y="2324100"/>
            <a:ext cx="33147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چالش‌های </a:t>
            </a:r>
            <a:r>
              <a:rPr lang="en-US" sz="1350" b="1" dirty="0">
                <a:solidFill>
                  <a:srgbClr val="1A535C"/>
                </a:solidFill>
                <a:highlight>
                  <a:srgbClr val="1A535C">
                    <a:alpha val="10000"/>
                  </a:srgbClr>
                </a:highlight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ورژن‌های کتابخانه‌های پایتون 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که با فایل requirements.txt</a:t>
            </a:r>
            <a:r>
              <a:rPr lang="fa-IR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مرتفع</a:t>
            </a:r>
            <a:r>
              <a:rPr lang="en-US" sz="135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شد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09600" y="3033713"/>
            <a:ext cx="3228975" cy="800100"/>
          </a:xfrm>
          <a:custGeom>
            <a:avLst/>
            <a:gdLst/>
            <a:ahLst/>
            <a:cxnLst/>
            <a:rect l="l" t="t" r="r" b="b"/>
            <a:pathLst>
              <a:path w="3228975" h="800100">
                <a:moveTo>
                  <a:pt x="114302" y="0"/>
                </a:moveTo>
                <a:lnTo>
                  <a:pt x="3114673" y="0"/>
                </a:lnTo>
                <a:cubicBezTo>
                  <a:pt x="3177758" y="0"/>
                  <a:pt x="3228975" y="51217"/>
                  <a:pt x="3228975" y="114302"/>
                </a:cubicBezTo>
                <a:lnTo>
                  <a:pt x="3228975" y="685798"/>
                </a:lnTo>
                <a:cubicBezTo>
                  <a:pt x="3228975" y="748883"/>
                  <a:pt x="3177758" y="800100"/>
                  <a:pt x="3114673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6" name="Shape 34"/>
          <p:cNvSpPr/>
          <p:nvPr/>
        </p:nvSpPr>
        <p:spPr>
          <a:xfrm>
            <a:off x="3530600" y="322421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5899" y="87987"/>
                </a:moveTo>
                <a:cubicBezTo>
                  <a:pt x="48458" y="84981"/>
                  <a:pt x="48131" y="80486"/>
                  <a:pt x="45125" y="77926"/>
                </a:cubicBezTo>
                <a:cubicBezTo>
                  <a:pt x="42118" y="75367"/>
                  <a:pt x="37624" y="75694"/>
                  <a:pt x="35064" y="78700"/>
                </a:cubicBezTo>
                <a:lnTo>
                  <a:pt x="20776" y="95369"/>
                </a:lnTo>
                <a:cubicBezTo>
                  <a:pt x="18484" y="98048"/>
                  <a:pt x="18484" y="101977"/>
                  <a:pt x="20776" y="104656"/>
                </a:cubicBezTo>
                <a:lnTo>
                  <a:pt x="35064" y="121325"/>
                </a:lnTo>
                <a:cubicBezTo>
                  <a:pt x="37624" y="124331"/>
                  <a:pt x="42148" y="124658"/>
                  <a:pt x="45125" y="122099"/>
                </a:cubicBezTo>
                <a:cubicBezTo>
                  <a:pt x="48101" y="119539"/>
                  <a:pt x="48458" y="115014"/>
                  <a:pt x="45899" y="112038"/>
                </a:cubicBezTo>
                <a:lnTo>
                  <a:pt x="35600" y="100013"/>
                </a:lnTo>
                <a:lnTo>
                  <a:pt x="45899" y="87987"/>
                </a:lnTo>
                <a:close/>
                <a:moveTo>
                  <a:pt x="79236" y="78700"/>
                </a:moveTo>
                <a:cubicBezTo>
                  <a:pt x="76676" y="75694"/>
                  <a:pt x="72152" y="75367"/>
                  <a:pt x="69175" y="77926"/>
                </a:cubicBezTo>
                <a:cubicBezTo>
                  <a:pt x="66199" y="80486"/>
                  <a:pt x="65842" y="85011"/>
                  <a:pt x="68401" y="87987"/>
                </a:cubicBezTo>
                <a:lnTo>
                  <a:pt x="78700" y="100013"/>
                </a:lnTo>
                <a:lnTo>
                  <a:pt x="68401" y="112038"/>
                </a:lnTo>
                <a:cubicBezTo>
                  <a:pt x="65842" y="115044"/>
                  <a:pt x="66169" y="119539"/>
                  <a:pt x="69175" y="122099"/>
                </a:cubicBezTo>
                <a:cubicBezTo>
                  <a:pt x="72182" y="124658"/>
                  <a:pt x="76676" y="124331"/>
                  <a:pt x="79236" y="121325"/>
                </a:cubicBezTo>
                <a:lnTo>
                  <a:pt x="93524" y="104656"/>
                </a:lnTo>
                <a:cubicBezTo>
                  <a:pt x="95816" y="101977"/>
                  <a:pt x="95816" y="98048"/>
                  <a:pt x="93524" y="95369"/>
                </a:cubicBezTo>
                <a:lnTo>
                  <a:pt x="79236" y="78700"/>
                </a:ln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7" name="Text 35"/>
          <p:cNvSpPr/>
          <p:nvPr/>
        </p:nvSpPr>
        <p:spPr>
          <a:xfrm>
            <a:off x="3034665" y="3186113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راهکار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62000" y="3490913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05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requirements.txt</a:t>
            </a:r>
            <a:r>
              <a:rPr lang="fa-IR" sz="1050" dirty="0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050" dirty="0" err="1">
                <a:solidFill>
                  <a:srgbClr val="4A6C7C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استاندارد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191250" y="5257800"/>
            <a:ext cx="5619750" cy="1219200"/>
          </a:xfrm>
          <a:custGeom>
            <a:avLst/>
            <a:gdLst/>
            <a:ahLst/>
            <a:cxnLst/>
            <a:rect l="l" t="t" r="r" b="b"/>
            <a:pathLst>
              <a:path w="5619750" h="1219200">
                <a:moveTo>
                  <a:pt x="1143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1104900"/>
                </a:lnTo>
                <a:cubicBezTo>
                  <a:pt x="5619750" y="1167984"/>
                  <a:pt x="5568534" y="1219200"/>
                  <a:pt x="5505450" y="1219200"/>
                </a:cubicBezTo>
                <a:lnTo>
                  <a:pt x="114300" y="1219200"/>
                </a:lnTo>
                <a:cubicBezTo>
                  <a:pt x="51216" y="1219200"/>
                  <a:pt x="0" y="1167984"/>
                  <a:pt x="0" y="1104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1406188" y="5486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50378"/>
                </a:lnTo>
                <a:cubicBezTo>
                  <a:pt x="0" y="52908"/>
                  <a:pt x="1637" y="55066"/>
                  <a:pt x="3758" y="56443"/>
                </a:cubicBezTo>
                <a:cubicBezTo>
                  <a:pt x="8669" y="59643"/>
                  <a:pt x="11906" y="65150"/>
                  <a:pt x="11906" y="71438"/>
                </a:cubicBezTo>
                <a:cubicBezTo>
                  <a:pt x="11906" y="77725"/>
                  <a:pt x="8669" y="83232"/>
                  <a:pt x="3758" y="86432"/>
                </a:cubicBezTo>
                <a:cubicBezTo>
                  <a:pt x="1637" y="87809"/>
                  <a:pt x="0" y="89967"/>
                  <a:pt x="0" y="92497"/>
                </a:cubicBezTo>
                <a:lnTo>
                  <a:pt x="0" y="113109"/>
                </a:lnTo>
                <a:lnTo>
                  <a:pt x="190500" y="113109"/>
                </a:lnTo>
                <a:lnTo>
                  <a:pt x="190500" y="92497"/>
                </a:lnTo>
                <a:cubicBezTo>
                  <a:pt x="190500" y="89967"/>
                  <a:pt x="188863" y="87809"/>
                  <a:pt x="186742" y="86432"/>
                </a:cubicBezTo>
                <a:cubicBezTo>
                  <a:pt x="181831" y="83232"/>
                  <a:pt x="178594" y="77725"/>
                  <a:pt x="178594" y="71438"/>
                </a:cubicBezTo>
                <a:cubicBezTo>
                  <a:pt x="178594" y="65150"/>
                  <a:pt x="181831" y="59643"/>
                  <a:pt x="186742" y="56443"/>
                </a:cubicBezTo>
                <a:cubicBezTo>
                  <a:pt x="188863" y="55066"/>
                  <a:pt x="190500" y="52908"/>
                  <a:pt x="190500" y="50378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190500" y="154781"/>
                </a:moveTo>
                <a:lnTo>
                  <a:pt x="190500" y="130969"/>
                </a:lnTo>
                <a:lnTo>
                  <a:pt x="0" y="130969"/>
                </a:lnTo>
                <a:lnTo>
                  <a:pt x="0" y="154781"/>
                </a:lnTo>
                <a:cubicBezTo>
                  <a:pt x="0" y="161367"/>
                  <a:pt x="5321" y="166688"/>
                  <a:pt x="11906" y="166688"/>
                </a:cubicBezTo>
                <a:lnTo>
                  <a:pt x="35719" y="166688"/>
                </a:lnTo>
                <a:lnTo>
                  <a:pt x="35719" y="157758"/>
                </a:lnTo>
                <a:cubicBezTo>
                  <a:pt x="35719" y="152809"/>
                  <a:pt x="39700" y="148828"/>
                  <a:pt x="44648" y="148828"/>
                </a:cubicBezTo>
                <a:cubicBezTo>
                  <a:pt x="49597" y="148828"/>
                  <a:pt x="53578" y="152809"/>
                  <a:pt x="53578" y="157758"/>
                </a:cubicBezTo>
                <a:lnTo>
                  <a:pt x="53578" y="166688"/>
                </a:lnTo>
                <a:lnTo>
                  <a:pt x="86320" y="166688"/>
                </a:lnTo>
                <a:lnTo>
                  <a:pt x="86320" y="157758"/>
                </a:lnTo>
                <a:cubicBezTo>
                  <a:pt x="86320" y="152809"/>
                  <a:pt x="90301" y="148828"/>
                  <a:pt x="95250" y="148828"/>
                </a:cubicBezTo>
                <a:cubicBezTo>
                  <a:pt x="100199" y="148828"/>
                  <a:pt x="104180" y="152809"/>
                  <a:pt x="104180" y="157758"/>
                </a:cubicBezTo>
                <a:lnTo>
                  <a:pt x="104180" y="166688"/>
                </a:lnTo>
                <a:lnTo>
                  <a:pt x="136922" y="166688"/>
                </a:lnTo>
                <a:lnTo>
                  <a:pt x="136922" y="157758"/>
                </a:lnTo>
                <a:cubicBezTo>
                  <a:pt x="136922" y="152809"/>
                  <a:pt x="140903" y="148828"/>
                  <a:pt x="145852" y="148828"/>
                </a:cubicBezTo>
                <a:cubicBezTo>
                  <a:pt x="150800" y="148828"/>
                  <a:pt x="154781" y="152809"/>
                  <a:pt x="154781" y="157758"/>
                </a:cubicBezTo>
                <a:lnTo>
                  <a:pt x="154781" y="166688"/>
                </a:ln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lose/>
                <a:moveTo>
                  <a:pt x="59531" y="59531"/>
                </a:moveTo>
                <a:lnTo>
                  <a:pt x="59531" y="83344"/>
                </a:lnTo>
                <a:cubicBezTo>
                  <a:pt x="59531" y="89929"/>
                  <a:pt x="54211" y="95250"/>
                  <a:pt x="47625" y="95250"/>
                </a:cubicBezTo>
                <a:cubicBezTo>
                  <a:pt x="41039" y="95250"/>
                  <a:pt x="35719" y="89929"/>
                  <a:pt x="35719" y="83344"/>
                </a:cubicBezTo>
                <a:lnTo>
                  <a:pt x="35719" y="59531"/>
                </a:lnTo>
                <a:cubicBezTo>
                  <a:pt x="35719" y="52946"/>
                  <a:pt x="41039" y="47625"/>
                  <a:pt x="47625" y="47625"/>
                </a:cubicBezTo>
                <a:cubicBezTo>
                  <a:pt x="54211" y="47625"/>
                  <a:pt x="59531" y="52946"/>
                  <a:pt x="59531" y="59531"/>
                </a:cubicBezTo>
                <a:close/>
                <a:moveTo>
                  <a:pt x="107156" y="59531"/>
                </a:moveTo>
                <a:lnTo>
                  <a:pt x="107156" y="83344"/>
                </a:lnTo>
                <a:cubicBezTo>
                  <a:pt x="107156" y="89929"/>
                  <a:pt x="101836" y="95250"/>
                  <a:pt x="95250" y="95250"/>
                </a:cubicBezTo>
                <a:cubicBezTo>
                  <a:pt x="88664" y="95250"/>
                  <a:pt x="83344" y="89929"/>
                  <a:pt x="83344" y="83344"/>
                </a:cubicBezTo>
                <a:lnTo>
                  <a:pt x="83344" y="59531"/>
                </a:lnTo>
                <a:cubicBezTo>
                  <a:pt x="83344" y="52946"/>
                  <a:pt x="88664" y="47625"/>
                  <a:pt x="95250" y="47625"/>
                </a:cubicBezTo>
                <a:cubicBezTo>
                  <a:pt x="101836" y="47625"/>
                  <a:pt x="107156" y="52946"/>
                  <a:pt x="107156" y="59531"/>
                </a:cubicBezTo>
                <a:close/>
                <a:moveTo>
                  <a:pt x="154781" y="59531"/>
                </a:moveTo>
                <a:lnTo>
                  <a:pt x="154781" y="83344"/>
                </a:lnTo>
                <a:cubicBezTo>
                  <a:pt x="154781" y="89929"/>
                  <a:pt x="149461" y="95250"/>
                  <a:pt x="142875" y="95250"/>
                </a:cubicBezTo>
                <a:cubicBezTo>
                  <a:pt x="136289" y="95250"/>
                  <a:pt x="130969" y="89929"/>
                  <a:pt x="130969" y="83344"/>
                </a:cubicBezTo>
                <a:lnTo>
                  <a:pt x="130969" y="59531"/>
                </a:lnTo>
                <a:cubicBezTo>
                  <a:pt x="130969" y="52946"/>
                  <a:pt x="136289" y="47625"/>
                  <a:pt x="142875" y="47625"/>
                </a:cubicBezTo>
                <a:cubicBezTo>
                  <a:pt x="149461" y="47625"/>
                  <a:pt x="154781" y="52946"/>
                  <a:pt x="154781" y="59531"/>
                </a:cubicBezTo>
                <a:close/>
              </a:path>
            </a:pathLst>
          </a:custGeom>
          <a:solidFill>
            <a:srgbClr val="4A6C7C"/>
          </a:solidFill>
          <a:ln/>
        </p:spPr>
      </p:sp>
      <p:sp>
        <p:nvSpPr>
          <p:cNvPr id="41" name="Text 39"/>
          <p:cNvSpPr/>
          <p:nvPr/>
        </p:nvSpPr>
        <p:spPr>
          <a:xfrm>
            <a:off x="10400506" y="5448300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پنجره حافظه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81750" y="5829300"/>
            <a:ext cx="5314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با طولانی شدن شبیه‌سازی، حجم تاریخچه تصمیمات زیاد شده و ممکن است مدل جزئیات مراحل اولیه را فراموش کند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81000" y="5257800"/>
            <a:ext cx="5619750" cy="1219200"/>
          </a:xfrm>
          <a:custGeom>
            <a:avLst/>
            <a:gdLst/>
            <a:ahLst/>
            <a:cxnLst/>
            <a:rect l="l" t="t" r="r" b="b"/>
            <a:pathLst>
              <a:path w="5619750" h="1219200">
                <a:moveTo>
                  <a:pt x="1143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1104900"/>
                </a:lnTo>
                <a:cubicBezTo>
                  <a:pt x="5619750" y="1167984"/>
                  <a:pt x="5568534" y="1219200"/>
                  <a:pt x="5505450" y="1219200"/>
                </a:cubicBezTo>
                <a:lnTo>
                  <a:pt x="114300" y="1219200"/>
                </a:lnTo>
                <a:cubicBezTo>
                  <a:pt x="51216" y="1219200"/>
                  <a:pt x="0" y="1167984"/>
                  <a:pt x="0" y="1104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631656" y="5486400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5" name="Text 43"/>
          <p:cNvSpPr/>
          <p:nvPr/>
        </p:nvSpPr>
        <p:spPr>
          <a:xfrm>
            <a:off x="4581684" y="5448300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هزینه و زمان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71500" y="5829300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فراخوانی</a:t>
            </a: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API</a:t>
            </a:r>
            <a:r>
              <a:rPr lang="fa-IR" sz="120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برای</a:t>
            </a: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هر گام زمانی شبیه‌سازی در مقیاس بزرگ، زمان‌بر و پرهزینه است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53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07e06a6b406cefe3cdac036f28d9b949b9429426.jp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535C">
                  <a:alpha val="95000"/>
                </a:srgbClr>
              </a:gs>
              <a:gs pos="50000">
                <a:srgbClr val="1A535C">
                  <a:alpha val="90000"/>
                </a:srgbClr>
              </a:gs>
              <a:gs pos="100000">
                <a:srgbClr val="4A6C7C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11281410" y="49911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52400" y="0"/>
                </a:moveTo>
                <a:lnTo>
                  <a:pt x="369570" y="0"/>
                </a:lnTo>
                <a:cubicBezTo>
                  <a:pt x="453682" y="0"/>
                  <a:pt x="521970" y="68288"/>
                  <a:pt x="521970" y="152400"/>
                </a:cubicBezTo>
                <a:lnTo>
                  <a:pt x="521970" y="369570"/>
                </a:lnTo>
                <a:cubicBezTo>
                  <a:pt x="521970" y="453682"/>
                  <a:pt x="453682" y="521970"/>
                  <a:pt x="369570" y="521970"/>
                </a:cubicBezTo>
                <a:lnTo>
                  <a:pt x="152400" y="521970"/>
                </a:lnTo>
                <a:cubicBezTo>
                  <a:pt x="68288" y="521970"/>
                  <a:pt x="0" y="453682"/>
                  <a:pt x="0" y="36957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11456670" y="66775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0"/>
                </a:moveTo>
                <a:cubicBezTo>
                  <a:pt x="22190" y="0"/>
                  <a:pt x="28575" y="6385"/>
                  <a:pt x="28575" y="14288"/>
                </a:cubicBezTo>
                <a:lnTo>
                  <a:pt x="28575" y="21431"/>
                </a:lnTo>
                <a:lnTo>
                  <a:pt x="59382" y="13752"/>
                </a:lnTo>
                <a:cubicBezTo>
                  <a:pt x="76393" y="9510"/>
                  <a:pt x="94342" y="11475"/>
                  <a:pt x="110058" y="19333"/>
                </a:cubicBezTo>
                <a:cubicBezTo>
                  <a:pt x="130731" y="29691"/>
                  <a:pt x="155064" y="29691"/>
                  <a:pt x="175736" y="19333"/>
                </a:cubicBezTo>
                <a:lnTo>
                  <a:pt x="180023" y="17190"/>
                </a:lnTo>
                <a:cubicBezTo>
                  <a:pt x="189220" y="12546"/>
                  <a:pt x="200025" y="19243"/>
                  <a:pt x="200025" y="29513"/>
                </a:cubicBezTo>
                <a:lnTo>
                  <a:pt x="200025" y="154394"/>
                </a:lnTo>
                <a:cubicBezTo>
                  <a:pt x="200025" y="160333"/>
                  <a:pt x="196319" y="165690"/>
                  <a:pt x="190738" y="167789"/>
                </a:cubicBezTo>
                <a:lnTo>
                  <a:pt x="175245" y="173593"/>
                </a:lnTo>
                <a:cubicBezTo>
                  <a:pt x="154618" y="181317"/>
                  <a:pt x="131668" y="180112"/>
                  <a:pt x="111978" y="170289"/>
                </a:cubicBezTo>
                <a:cubicBezTo>
                  <a:pt x="95057" y="161806"/>
                  <a:pt x="75634" y="159707"/>
                  <a:pt x="57284" y="164306"/>
                </a:cubicBezTo>
                <a:lnTo>
                  <a:pt x="28575" y="171450"/>
                </a:ln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lnTo>
                  <a:pt x="0" y="14288"/>
                </a:lnTo>
                <a:cubicBezTo>
                  <a:pt x="0" y="6385"/>
                  <a:pt x="6385" y="0"/>
                  <a:pt x="14288" y="0"/>
                </a:cubicBezTo>
                <a:close/>
                <a:moveTo>
                  <a:pt x="28575" y="83537"/>
                </a:moveTo>
                <a:lnTo>
                  <a:pt x="57150" y="77331"/>
                </a:lnTo>
                <a:lnTo>
                  <a:pt x="57150" y="106576"/>
                </a:lnTo>
                <a:lnTo>
                  <a:pt x="28575" y="112782"/>
                </a:lnTo>
                <a:lnTo>
                  <a:pt x="28575" y="142027"/>
                </a:lnTo>
                <a:lnTo>
                  <a:pt x="50363" y="136580"/>
                </a:lnTo>
                <a:cubicBezTo>
                  <a:pt x="52641" y="135999"/>
                  <a:pt x="54873" y="135508"/>
                  <a:pt x="57150" y="135106"/>
                </a:cubicBezTo>
                <a:lnTo>
                  <a:pt x="57150" y="106576"/>
                </a:lnTo>
                <a:lnTo>
                  <a:pt x="74518" y="102825"/>
                </a:lnTo>
                <a:cubicBezTo>
                  <a:pt x="78224" y="102022"/>
                  <a:pt x="81975" y="101709"/>
                  <a:pt x="85725" y="101888"/>
                </a:cubicBezTo>
                <a:lnTo>
                  <a:pt x="85725" y="73313"/>
                </a:lnTo>
                <a:cubicBezTo>
                  <a:pt x="91797" y="73491"/>
                  <a:pt x="97869" y="74474"/>
                  <a:pt x="103763" y="76170"/>
                </a:cubicBezTo>
                <a:lnTo>
                  <a:pt x="114300" y="79251"/>
                </a:lnTo>
                <a:lnTo>
                  <a:pt x="114300" y="109031"/>
                </a:lnTo>
                <a:lnTo>
                  <a:pt x="95682" y="103540"/>
                </a:lnTo>
                <a:cubicBezTo>
                  <a:pt x="92422" y="102602"/>
                  <a:pt x="89074" y="102022"/>
                  <a:pt x="85725" y="101843"/>
                </a:cubicBezTo>
                <a:lnTo>
                  <a:pt x="85725" y="133722"/>
                </a:lnTo>
                <a:cubicBezTo>
                  <a:pt x="95458" y="134570"/>
                  <a:pt x="105058" y="136714"/>
                  <a:pt x="114300" y="140151"/>
                </a:cubicBezTo>
                <a:lnTo>
                  <a:pt x="114300" y="108987"/>
                </a:lnTo>
                <a:lnTo>
                  <a:pt x="124435" y="111978"/>
                </a:lnTo>
                <a:cubicBezTo>
                  <a:pt x="130463" y="113764"/>
                  <a:pt x="136624" y="114836"/>
                  <a:pt x="142875" y="115282"/>
                </a:cubicBezTo>
                <a:lnTo>
                  <a:pt x="142875" y="86618"/>
                </a:lnTo>
                <a:cubicBezTo>
                  <a:pt x="139392" y="86261"/>
                  <a:pt x="135910" y="85591"/>
                  <a:pt x="132517" y="84609"/>
                </a:cubicBezTo>
                <a:lnTo>
                  <a:pt x="114300" y="79251"/>
                </a:lnTo>
                <a:lnTo>
                  <a:pt x="114300" y="51569"/>
                </a:lnTo>
                <a:cubicBezTo>
                  <a:pt x="108496" y="49872"/>
                  <a:pt x="102781" y="47640"/>
                  <a:pt x="97244" y="44872"/>
                </a:cubicBezTo>
                <a:cubicBezTo>
                  <a:pt x="93583" y="43041"/>
                  <a:pt x="89699" y="41746"/>
                  <a:pt x="85725" y="40943"/>
                </a:cubicBezTo>
                <a:lnTo>
                  <a:pt x="85725" y="73268"/>
                </a:lnTo>
                <a:cubicBezTo>
                  <a:pt x="79921" y="73089"/>
                  <a:pt x="74116" y="73625"/>
                  <a:pt x="68446" y="74875"/>
                </a:cubicBezTo>
                <a:lnTo>
                  <a:pt x="57150" y="77331"/>
                </a:lnTo>
                <a:lnTo>
                  <a:pt x="57150" y="43755"/>
                </a:lnTo>
                <a:lnTo>
                  <a:pt x="28575" y="50899"/>
                </a:lnTo>
                <a:lnTo>
                  <a:pt x="28575" y="83537"/>
                </a:lnTo>
                <a:close/>
                <a:moveTo>
                  <a:pt x="142875" y="149885"/>
                </a:moveTo>
                <a:cubicBezTo>
                  <a:pt x="150376" y="150555"/>
                  <a:pt x="158011" y="149572"/>
                  <a:pt x="165199" y="146849"/>
                </a:cubicBezTo>
                <a:lnTo>
                  <a:pt x="171450" y="144527"/>
                </a:lnTo>
                <a:lnTo>
                  <a:pt x="171450" y="112514"/>
                </a:lnTo>
                <a:lnTo>
                  <a:pt x="167923" y="113318"/>
                </a:lnTo>
                <a:cubicBezTo>
                  <a:pt x="159707" y="115238"/>
                  <a:pt x="151269" y="115863"/>
                  <a:pt x="142875" y="115327"/>
                </a:cubicBezTo>
                <a:lnTo>
                  <a:pt x="142875" y="149885"/>
                </a:lnTo>
                <a:close/>
                <a:moveTo>
                  <a:pt x="171450" y="83180"/>
                </a:moveTo>
                <a:lnTo>
                  <a:pt x="171450" y="51569"/>
                </a:lnTo>
                <a:cubicBezTo>
                  <a:pt x="162118" y="54292"/>
                  <a:pt x="152519" y="55632"/>
                  <a:pt x="142875" y="55632"/>
                </a:cubicBezTo>
                <a:lnTo>
                  <a:pt x="142875" y="86618"/>
                </a:lnTo>
                <a:cubicBezTo>
                  <a:pt x="149081" y="87243"/>
                  <a:pt x="155377" y="86841"/>
                  <a:pt x="161493" y="85457"/>
                </a:cubicBezTo>
                <a:lnTo>
                  <a:pt x="171450" y="83135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6" name="Text 3"/>
          <p:cNvSpPr/>
          <p:nvPr/>
        </p:nvSpPr>
        <p:spPr>
          <a:xfrm>
            <a:off x="6331744" y="381000"/>
            <a:ext cx="4863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جمع‌بندی و چشم‌انداز آینده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31744" y="876300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Conclusion &amp; Future Vision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157210" y="1375410"/>
            <a:ext cx="3646170" cy="2912745"/>
          </a:xfrm>
          <a:custGeom>
            <a:avLst/>
            <a:gdLst/>
            <a:ahLst/>
            <a:cxnLst/>
            <a:rect l="l" t="t" r="r" b="b"/>
            <a:pathLst>
              <a:path w="3646170" h="2912745">
                <a:moveTo>
                  <a:pt x="152395" y="0"/>
                </a:moveTo>
                <a:lnTo>
                  <a:pt x="3493775" y="0"/>
                </a:lnTo>
                <a:cubicBezTo>
                  <a:pt x="3577941" y="0"/>
                  <a:pt x="3646170" y="68229"/>
                  <a:pt x="3646170" y="152395"/>
                </a:cubicBezTo>
                <a:lnTo>
                  <a:pt x="3646170" y="2760350"/>
                </a:lnTo>
                <a:cubicBezTo>
                  <a:pt x="3646170" y="2844516"/>
                  <a:pt x="3577941" y="2912745"/>
                  <a:pt x="3493775" y="2912745"/>
                </a:cubicBezTo>
                <a:lnTo>
                  <a:pt x="152395" y="2912745"/>
                </a:lnTo>
                <a:cubicBezTo>
                  <a:pt x="68229" y="2912745"/>
                  <a:pt x="0" y="2844516"/>
                  <a:pt x="0" y="276035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117580" y="16078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0" name="Shape 7"/>
          <p:cNvSpPr/>
          <p:nvPr/>
        </p:nvSpPr>
        <p:spPr>
          <a:xfrm>
            <a:off x="11250930" y="17411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0068084" y="1684018"/>
            <a:ext cx="9849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800" b="1" dirty="0">
                <a:solidFill>
                  <a:srgbClr val="333334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نتیجه‌گیری</a:t>
            </a:r>
            <a:endParaRPr lang="en-US" sz="1600" dirty="0">
              <a:solidFill>
                <a:srgbClr val="3333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389620" y="2217418"/>
            <a:ext cx="3267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350" dirty="0" err="1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ترکیب</a:t>
            </a:r>
            <a:r>
              <a:rPr lang="en-US" sz="13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b="1" dirty="0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LLM</a:t>
            </a:r>
            <a:r>
              <a:rPr lang="fa-IR" sz="1350" b="1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و مدل‌های زمین، ابزاری </a:t>
            </a:r>
            <a:r>
              <a:rPr lang="en-US" sz="1350" b="1" dirty="0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قدرتمند</a:t>
            </a:r>
            <a:r>
              <a:rPr lang="en-US" sz="13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برای آزمایش </a:t>
            </a:r>
            <a:r>
              <a:rPr lang="en-US" sz="1350" dirty="0" err="1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سیاست‌های</a:t>
            </a:r>
            <a:r>
              <a:rPr lang="en-US" sz="13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b="1" dirty="0" err="1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قبل</a:t>
            </a:r>
            <a:r>
              <a:rPr lang="en-US" sz="1350" b="1" dirty="0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b="1" dirty="0" err="1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از</a:t>
            </a:r>
            <a:r>
              <a:rPr lang="en-US" sz="1350" b="1" dirty="0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b="1" dirty="0" err="1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اجرا</a:t>
            </a:r>
            <a:r>
              <a:rPr lang="en-US" sz="13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است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389620" y="2927031"/>
            <a:ext cx="3181350" cy="533400"/>
          </a:xfrm>
          <a:custGeom>
            <a:avLst/>
            <a:gdLst/>
            <a:ahLst/>
            <a:cxnLst/>
            <a:rect l="l" t="t" r="r" b="b"/>
            <a:pathLst>
              <a:path w="3181350" h="533400">
                <a:moveTo>
                  <a:pt x="114302" y="0"/>
                </a:moveTo>
                <a:lnTo>
                  <a:pt x="3067048" y="0"/>
                </a:lnTo>
                <a:cubicBezTo>
                  <a:pt x="3130133" y="0"/>
                  <a:pt x="3181350" y="51217"/>
                  <a:pt x="3181350" y="114302"/>
                </a:cubicBezTo>
                <a:lnTo>
                  <a:pt x="3181350" y="419098"/>
                </a:lnTo>
                <a:cubicBezTo>
                  <a:pt x="3181350" y="482183"/>
                  <a:pt x="3130133" y="533400"/>
                  <a:pt x="306704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1260455" y="311753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0"/>
                </a:moveTo>
                <a:lnTo>
                  <a:pt x="38100" y="0"/>
                </a:lnTo>
                <a:cubicBezTo>
                  <a:pt x="32831" y="0"/>
                  <a:pt x="28575" y="4256"/>
                  <a:pt x="28575" y="9525"/>
                </a:cubicBezTo>
                <a:cubicBezTo>
                  <a:pt x="28575" y="14794"/>
                  <a:pt x="32831" y="19050"/>
                  <a:pt x="38100" y="19050"/>
                </a:cubicBezTo>
                <a:lnTo>
                  <a:pt x="38100" y="64145"/>
                </a:lnTo>
                <a:lnTo>
                  <a:pt x="2232" y="126891"/>
                </a:lnTo>
                <a:cubicBezTo>
                  <a:pt x="774" y="129480"/>
                  <a:pt x="0" y="132368"/>
                  <a:pt x="0" y="135344"/>
                </a:cubicBezTo>
                <a:cubicBezTo>
                  <a:pt x="0" y="144780"/>
                  <a:pt x="7620" y="152400"/>
                  <a:pt x="17056" y="152400"/>
                </a:cubicBezTo>
                <a:lnTo>
                  <a:pt x="116294" y="152400"/>
                </a:lnTo>
                <a:cubicBezTo>
                  <a:pt x="125700" y="152400"/>
                  <a:pt x="133350" y="144780"/>
                  <a:pt x="133350" y="135344"/>
                </a:cubicBezTo>
                <a:cubicBezTo>
                  <a:pt x="133350" y="132368"/>
                  <a:pt x="132576" y="129451"/>
                  <a:pt x="131118" y="126891"/>
                </a:cubicBezTo>
                <a:lnTo>
                  <a:pt x="95250" y="64145"/>
                </a:lnTo>
                <a:lnTo>
                  <a:pt x="95250" y="19050"/>
                </a:lnTo>
                <a:cubicBezTo>
                  <a:pt x="100519" y="19050"/>
                  <a:pt x="104775" y="14794"/>
                  <a:pt x="104775" y="9525"/>
                </a:cubicBezTo>
                <a:cubicBezTo>
                  <a:pt x="104775" y="4256"/>
                  <a:pt x="100519" y="0"/>
                  <a:pt x="95250" y="0"/>
                </a:cubicBezTo>
                <a:lnTo>
                  <a:pt x="85725" y="0"/>
                </a:lnTo>
                <a:close/>
                <a:moveTo>
                  <a:pt x="57150" y="64145"/>
                </a:moveTo>
                <a:lnTo>
                  <a:pt x="57150" y="19050"/>
                </a:lnTo>
                <a:lnTo>
                  <a:pt x="76200" y="19050"/>
                </a:lnTo>
                <a:lnTo>
                  <a:pt x="76200" y="64145"/>
                </a:lnTo>
                <a:cubicBezTo>
                  <a:pt x="76200" y="67449"/>
                  <a:pt x="77063" y="70723"/>
                  <a:pt x="78700" y="73610"/>
                </a:cubicBezTo>
                <a:lnTo>
                  <a:pt x="91083" y="95250"/>
                </a:lnTo>
                <a:lnTo>
                  <a:pt x="42267" y="95250"/>
                </a:lnTo>
                <a:lnTo>
                  <a:pt x="54650" y="73610"/>
                </a:lnTo>
                <a:cubicBezTo>
                  <a:pt x="56287" y="70723"/>
                  <a:pt x="57150" y="67479"/>
                  <a:pt x="57150" y="6414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5" name="Text 12"/>
          <p:cNvSpPr/>
          <p:nvPr/>
        </p:nvSpPr>
        <p:spPr>
          <a:xfrm>
            <a:off x="9347359" y="3079431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Sandbox for Policymakers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271010" y="1375410"/>
            <a:ext cx="3646170" cy="2912745"/>
          </a:xfrm>
          <a:custGeom>
            <a:avLst/>
            <a:gdLst/>
            <a:ahLst/>
            <a:cxnLst/>
            <a:rect l="l" t="t" r="r" b="b"/>
            <a:pathLst>
              <a:path w="3646170" h="2912745">
                <a:moveTo>
                  <a:pt x="152395" y="0"/>
                </a:moveTo>
                <a:lnTo>
                  <a:pt x="3493775" y="0"/>
                </a:lnTo>
                <a:cubicBezTo>
                  <a:pt x="3577941" y="0"/>
                  <a:pt x="3646170" y="68229"/>
                  <a:pt x="3646170" y="152395"/>
                </a:cubicBezTo>
                <a:lnTo>
                  <a:pt x="3646170" y="2760350"/>
                </a:lnTo>
                <a:cubicBezTo>
                  <a:pt x="3646170" y="2844516"/>
                  <a:pt x="3577941" y="2912745"/>
                  <a:pt x="3493775" y="2912745"/>
                </a:cubicBezTo>
                <a:lnTo>
                  <a:pt x="152395" y="2912745"/>
                </a:lnTo>
                <a:cubicBezTo>
                  <a:pt x="68229" y="2912745"/>
                  <a:pt x="0" y="2844516"/>
                  <a:pt x="0" y="276035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35190" y="1611628"/>
            <a:ext cx="445770" cy="445770"/>
          </a:xfrm>
          <a:custGeom>
            <a:avLst/>
            <a:gdLst/>
            <a:ahLst/>
            <a:cxnLst/>
            <a:rect l="l" t="t" r="r" b="b"/>
            <a:pathLst>
              <a:path w="445770" h="445770">
                <a:moveTo>
                  <a:pt x="114300" y="0"/>
                </a:moveTo>
                <a:lnTo>
                  <a:pt x="331470" y="0"/>
                </a:lnTo>
                <a:cubicBezTo>
                  <a:pt x="394554" y="0"/>
                  <a:pt x="445770" y="51216"/>
                  <a:pt x="445770" y="114300"/>
                </a:cubicBezTo>
                <a:lnTo>
                  <a:pt x="445770" y="331470"/>
                </a:lnTo>
                <a:cubicBezTo>
                  <a:pt x="445770" y="394554"/>
                  <a:pt x="394554" y="445770"/>
                  <a:pt x="331470" y="445770"/>
                </a:cubicBezTo>
                <a:lnTo>
                  <a:pt x="114300" y="445770"/>
                </a:lnTo>
                <a:cubicBezTo>
                  <a:pt x="51216" y="445770"/>
                  <a:pt x="0" y="394554"/>
                  <a:pt x="0" y="3314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64730" y="17411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113940" y="1684018"/>
            <a:ext cx="1056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800" b="1" dirty="0">
                <a:solidFill>
                  <a:srgbClr val="333334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توسعه آتی</a:t>
            </a:r>
            <a:endParaRPr lang="en-US" sz="1600" dirty="0">
              <a:solidFill>
                <a:srgbClr val="3333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03420" y="2217418"/>
            <a:ext cx="32670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3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پیاده‌سازی سیستم </a:t>
            </a:r>
            <a:r>
              <a:rPr lang="en-US" sz="1350" b="1" dirty="0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چند-عاملی (Multi-Agent)</a:t>
            </a:r>
            <a:r>
              <a:rPr lang="fa-IR" sz="1350" b="1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که</a:t>
            </a:r>
            <a:r>
              <a:rPr lang="en-US" sz="13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در آن </a:t>
            </a:r>
            <a:r>
              <a:rPr lang="en-US" sz="1350" dirty="0" err="1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چندین</a:t>
            </a:r>
            <a:r>
              <a:rPr lang="en-US" sz="13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Gemini</a:t>
            </a:r>
            <a:r>
              <a:rPr lang="fa-IR" sz="13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با</a:t>
            </a:r>
            <a:r>
              <a:rPr lang="en-US" sz="13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نقش‌های مختلف با هم مذاکره می‌کنند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503420" y="3205637"/>
            <a:ext cx="3181350" cy="342900"/>
          </a:xfrm>
          <a:custGeom>
            <a:avLst/>
            <a:gdLst/>
            <a:ahLst/>
            <a:cxnLst/>
            <a:rect l="l" t="t" r="r" b="b"/>
            <a:pathLst>
              <a:path w="3181350" h="342900">
                <a:moveTo>
                  <a:pt x="76199" y="0"/>
                </a:moveTo>
                <a:lnTo>
                  <a:pt x="3105151" y="0"/>
                </a:lnTo>
                <a:cubicBezTo>
                  <a:pt x="3147234" y="0"/>
                  <a:pt x="3181350" y="34116"/>
                  <a:pt x="3181350" y="76199"/>
                </a:cubicBezTo>
                <a:lnTo>
                  <a:pt x="3181350" y="266701"/>
                </a:lnTo>
                <a:cubicBezTo>
                  <a:pt x="3181350" y="308784"/>
                  <a:pt x="3147234" y="342900"/>
                  <a:pt x="31051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7434977" y="331041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41091" y="64591"/>
                  <a:pt x="27087" y="50587"/>
                  <a:pt x="27087" y="33338"/>
                </a:cubicBezTo>
                <a:cubicBezTo>
                  <a:pt x="27087" y="16088"/>
                  <a:pt x="41091" y="2084"/>
                  <a:pt x="58341" y="2084"/>
                </a:cubicBezTo>
                <a:cubicBezTo>
                  <a:pt x="75590" y="2084"/>
                  <a:pt x="89595" y="16088"/>
                  <a:pt x="89595" y="33337"/>
                </a:cubicBezTo>
                <a:cubicBezTo>
                  <a:pt x="89595" y="50587"/>
                  <a:pt x="75590" y="64591"/>
                  <a:pt x="58341" y="64591"/>
                </a:cubicBezTo>
                <a:close/>
                <a:moveTo>
                  <a:pt x="50397" y="79177"/>
                </a:moveTo>
                <a:lnTo>
                  <a:pt x="66284" y="79177"/>
                </a:lnTo>
                <a:cubicBezTo>
                  <a:pt x="68811" y="79177"/>
                  <a:pt x="70842" y="81208"/>
                  <a:pt x="70842" y="83734"/>
                </a:cubicBezTo>
                <a:cubicBezTo>
                  <a:pt x="70842" y="84828"/>
                  <a:pt x="70452" y="85870"/>
                  <a:pt x="69748" y="86704"/>
                </a:cubicBezTo>
                <a:lnTo>
                  <a:pt x="62612" y="95038"/>
                </a:lnTo>
                <a:lnTo>
                  <a:pt x="70686" y="125016"/>
                </a:lnTo>
                <a:lnTo>
                  <a:pt x="70842" y="125016"/>
                </a:lnTo>
                <a:lnTo>
                  <a:pt x="79854" y="88943"/>
                </a:lnTo>
                <a:cubicBezTo>
                  <a:pt x="80427" y="86678"/>
                  <a:pt x="82745" y="85297"/>
                  <a:pt x="84932" y="86131"/>
                </a:cubicBezTo>
                <a:cubicBezTo>
                  <a:pt x="101054" y="92277"/>
                  <a:pt x="112514" y="107904"/>
                  <a:pt x="112514" y="126188"/>
                </a:cubicBezTo>
                <a:cubicBezTo>
                  <a:pt x="112514" y="130120"/>
                  <a:pt x="109311" y="133324"/>
                  <a:pt x="105378" y="133324"/>
                </a:cubicBezTo>
                <a:lnTo>
                  <a:pt x="11303" y="133350"/>
                </a:lnTo>
                <a:cubicBezTo>
                  <a:pt x="7371" y="133350"/>
                  <a:pt x="4167" y="130146"/>
                  <a:pt x="4167" y="126214"/>
                </a:cubicBezTo>
                <a:cubicBezTo>
                  <a:pt x="4167" y="107930"/>
                  <a:pt x="15627" y="92303"/>
                  <a:pt x="31749" y="86157"/>
                </a:cubicBezTo>
                <a:cubicBezTo>
                  <a:pt x="33937" y="85323"/>
                  <a:pt x="36255" y="86704"/>
                  <a:pt x="36828" y="88969"/>
                </a:cubicBezTo>
                <a:lnTo>
                  <a:pt x="45839" y="125042"/>
                </a:lnTo>
                <a:lnTo>
                  <a:pt x="45995" y="125042"/>
                </a:lnTo>
                <a:lnTo>
                  <a:pt x="54069" y="95064"/>
                </a:lnTo>
                <a:lnTo>
                  <a:pt x="46933" y="86730"/>
                </a:lnTo>
                <a:cubicBezTo>
                  <a:pt x="46230" y="85896"/>
                  <a:pt x="45839" y="84854"/>
                  <a:pt x="45839" y="83760"/>
                </a:cubicBezTo>
                <a:cubicBezTo>
                  <a:pt x="45839" y="81234"/>
                  <a:pt x="47871" y="79203"/>
                  <a:pt x="50397" y="7920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3" name="Text 20"/>
          <p:cNvSpPr/>
          <p:nvPr/>
        </p:nvSpPr>
        <p:spPr>
          <a:xfrm>
            <a:off x="6580029" y="3281837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0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وزیر کشاورزی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503420" y="3624737"/>
            <a:ext cx="3181350" cy="342900"/>
          </a:xfrm>
          <a:custGeom>
            <a:avLst/>
            <a:gdLst/>
            <a:ahLst/>
            <a:cxnLst/>
            <a:rect l="l" t="t" r="r" b="b"/>
            <a:pathLst>
              <a:path w="3181350" h="342900">
                <a:moveTo>
                  <a:pt x="76199" y="0"/>
                </a:moveTo>
                <a:lnTo>
                  <a:pt x="3105151" y="0"/>
                </a:lnTo>
                <a:cubicBezTo>
                  <a:pt x="3147234" y="0"/>
                  <a:pt x="3181350" y="34116"/>
                  <a:pt x="3181350" y="76199"/>
                </a:cubicBezTo>
                <a:lnTo>
                  <a:pt x="3181350" y="266701"/>
                </a:lnTo>
                <a:cubicBezTo>
                  <a:pt x="3181350" y="308784"/>
                  <a:pt x="3147234" y="342900"/>
                  <a:pt x="31051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7426643" y="372951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2750" y="1745"/>
                </a:moveTo>
                <a:cubicBezTo>
                  <a:pt x="124417" y="156"/>
                  <a:pt x="126839" y="-417"/>
                  <a:pt x="129079" y="313"/>
                </a:cubicBezTo>
                <a:cubicBezTo>
                  <a:pt x="131631" y="1172"/>
                  <a:pt x="133350" y="3568"/>
                  <a:pt x="133350" y="6251"/>
                </a:cubicBezTo>
                <a:lnTo>
                  <a:pt x="133350" y="54929"/>
                </a:lnTo>
                <a:cubicBezTo>
                  <a:pt x="133350" y="89100"/>
                  <a:pt x="105195" y="116681"/>
                  <a:pt x="71155" y="116681"/>
                </a:cubicBezTo>
                <a:cubicBezTo>
                  <a:pt x="51100" y="116681"/>
                  <a:pt x="33806" y="103789"/>
                  <a:pt x="27529" y="85766"/>
                </a:cubicBezTo>
                <a:cubicBezTo>
                  <a:pt x="18310" y="93788"/>
                  <a:pt x="12502" y="105586"/>
                  <a:pt x="12502" y="118765"/>
                </a:cubicBezTo>
                <a:cubicBezTo>
                  <a:pt x="12502" y="122229"/>
                  <a:pt x="9715" y="125016"/>
                  <a:pt x="6251" y="125016"/>
                </a:cubicBezTo>
                <a:cubicBezTo>
                  <a:pt x="2787" y="125016"/>
                  <a:pt x="0" y="122229"/>
                  <a:pt x="0" y="118765"/>
                </a:cubicBezTo>
                <a:cubicBezTo>
                  <a:pt x="0" y="99257"/>
                  <a:pt x="9949" y="82068"/>
                  <a:pt x="25029" y="71962"/>
                </a:cubicBezTo>
                <a:cubicBezTo>
                  <a:pt x="34223" y="65816"/>
                  <a:pt x="45188" y="62508"/>
                  <a:pt x="56257" y="62508"/>
                </a:cubicBezTo>
                <a:lnTo>
                  <a:pt x="77093" y="62508"/>
                </a:lnTo>
                <a:cubicBezTo>
                  <a:pt x="80557" y="62508"/>
                  <a:pt x="83344" y="59721"/>
                  <a:pt x="83344" y="56257"/>
                </a:cubicBezTo>
                <a:cubicBezTo>
                  <a:pt x="83344" y="52793"/>
                  <a:pt x="80557" y="50006"/>
                  <a:pt x="77093" y="50006"/>
                </a:cubicBezTo>
                <a:lnTo>
                  <a:pt x="56257" y="50006"/>
                </a:lnTo>
                <a:cubicBezTo>
                  <a:pt x="45917" y="50006"/>
                  <a:pt x="36124" y="52298"/>
                  <a:pt x="27347" y="56387"/>
                </a:cubicBezTo>
                <a:cubicBezTo>
                  <a:pt x="33416" y="38156"/>
                  <a:pt x="50579" y="25003"/>
                  <a:pt x="70842" y="25003"/>
                </a:cubicBezTo>
                <a:cubicBezTo>
                  <a:pt x="88136" y="25003"/>
                  <a:pt x="101002" y="19247"/>
                  <a:pt x="109571" y="13543"/>
                </a:cubicBezTo>
                <a:cubicBezTo>
                  <a:pt x="114572" y="10210"/>
                  <a:pt x="118817" y="6225"/>
                  <a:pt x="122776" y="174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6" name="Text 23"/>
          <p:cNvSpPr/>
          <p:nvPr/>
        </p:nvSpPr>
        <p:spPr>
          <a:xfrm>
            <a:off x="6385401" y="3700937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0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وزیر محیط زیست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84810" y="1375410"/>
            <a:ext cx="3646170" cy="2912745"/>
          </a:xfrm>
          <a:custGeom>
            <a:avLst/>
            <a:gdLst/>
            <a:ahLst/>
            <a:cxnLst/>
            <a:rect l="l" t="t" r="r" b="b"/>
            <a:pathLst>
              <a:path w="3646170" h="2912745">
                <a:moveTo>
                  <a:pt x="152395" y="0"/>
                </a:moveTo>
                <a:lnTo>
                  <a:pt x="3493775" y="0"/>
                </a:lnTo>
                <a:cubicBezTo>
                  <a:pt x="3577941" y="0"/>
                  <a:pt x="3646170" y="68229"/>
                  <a:pt x="3646170" y="152395"/>
                </a:cubicBezTo>
                <a:lnTo>
                  <a:pt x="3646170" y="2760350"/>
                </a:lnTo>
                <a:cubicBezTo>
                  <a:pt x="3646170" y="2844516"/>
                  <a:pt x="3577941" y="2912745"/>
                  <a:pt x="3493775" y="2912745"/>
                </a:cubicBezTo>
                <a:lnTo>
                  <a:pt x="152395" y="2912745"/>
                </a:lnTo>
                <a:cubicBezTo>
                  <a:pt x="68229" y="2912745"/>
                  <a:pt x="0" y="2844516"/>
                  <a:pt x="0" y="276035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348990" y="1611628"/>
            <a:ext cx="445770" cy="445770"/>
          </a:xfrm>
          <a:custGeom>
            <a:avLst/>
            <a:gdLst/>
            <a:ahLst/>
            <a:cxnLst/>
            <a:rect l="l" t="t" r="r" b="b"/>
            <a:pathLst>
              <a:path w="445770" h="445770">
                <a:moveTo>
                  <a:pt x="114300" y="0"/>
                </a:moveTo>
                <a:lnTo>
                  <a:pt x="331470" y="0"/>
                </a:lnTo>
                <a:cubicBezTo>
                  <a:pt x="394554" y="0"/>
                  <a:pt x="445770" y="51216"/>
                  <a:pt x="445770" y="114300"/>
                </a:cubicBezTo>
                <a:lnTo>
                  <a:pt x="445770" y="331470"/>
                </a:lnTo>
                <a:cubicBezTo>
                  <a:pt x="445770" y="394554"/>
                  <a:pt x="394554" y="445770"/>
                  <a:pt x="331470" y="445770"/>
                </a:cubicBezTo>
                <a:lnTo>
                  <a:pt x="114300" y="445770"/>
                </a:lnTo>
                <a:cubicBezTo>
                  <a:pt x="51216" y="445770"/>
                  <a:pt x="0" y="394554"/>
                  <a:pt x="0" y="3314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466624" y="174116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2227739" y="1684018"/>
            <a:ext cx="10102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0000"/>
              </a:lnSpc>
            </a:pPr>
            <a:r>
              <a:rPr lang="en-US" sz="1800" b="1" dirty="0">
                <a:solidFill>
                  <a:srgbClr val="333334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تأکید نهایی</a:t>
            </a:r>
            <a:endParaRPr lang="en-US" sz="1600" dirty="0">
              <a:solidFill>
                <a:srgbClr val="3333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17220" y="2217418"/>
            <a:ext cx="3267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13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زیرساخت فعلی پروژه </a:t>
            </a:r>
            <a:r>
              <a:rPr lang="en-US" sz="1350" b="1" dirty="0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کاملاً آماده</a:t>
            </a:r>
            <a:r>
              <a:rPr lang="en-US" sz="13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توسعه برای مدل‌های پیچیده‌تر اقلیمی است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21030" y="2930841"/>
            <a:ext cx="3179445" cy="541020"/>
          </a:xfrm>
          <a:custGeom>
            <a:avLst/>
            <a:gdLst/>
            <a:ahLst/>
            <a:cxnLst/>
            <a:rect l="l" t="t" r="r" b="b"/>
            <a:pathLst>
              <a:path w="3179445" h="541020">
                <a:moveTo>
                  <a:pt x="114301" y="0"/>
                </a:moveTo>
                <a:lnTo>
                  <a:pt x="3065144" y="0"/>
                </a:lnTo>
                <a:cubicBezTo>
                  <a:pt x="3128271" y="0"/>
                  <a:pt x="3179445" y="51174"/>
                  <a:pt x="3179445" y="114301"/>
                </a:cubicBezTo>
                <a:lnTo>
                  <a:pt x="3179445" y="426719"/>
                </a:lnTo>
                <a:cubicBezTo>
                  <a:pt x="3179445" y="489846"/>
                  <a:pt x="3128271" y="541020"/>
                  <a:pt x="3065144" y="541020"/>
                </a:cubicBezTo>
                <a:lnTo>
                  <a:pt x="114301" y="541020"/>
                </a:lnTo>
                <a:cubicBezTo>
                  <a:pt x="51174" y="541020"/>
                  <a:pt x="0" y="489846"/>
                  <a:pt x="0" y="426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 w="1016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89960" y="312514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4" name="Text 31"/>
          <p:cNvSpPr/>
          <p:nvPr/>
        </p:nvSpPr>
        <p:spPr>
          <a:xfrm>
            <a:off x="1913255" y="3087049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20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آماده برای مقیاس‌پذیری</a:t>
            </a:r>
            <a:endParaRPr lang="en-US" sz="1600" dirty="0">
              <a:solidFill>
                <a:srgbClr val="3333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84810" y="4522464"/>
            <a:ext cx="11418570" cy="1950720"/>
          </a:xfrm>
          <a:custGeom>
            <a:avLst/>
            <a:gdLst/>
            <a:ahLst/>
            <a:cxnLst/>
            <a:rect l="l" t="t" r="r" b="b"/>
            <a:pathLst>
              <a:path w="11418570" h="1950720">
                <a:moveTo>
                  <a:pt x="152410" y="0"/>
                </a:moveTo>
                <a:lnTo>
                  <a:pt x="11266160" y="0"/>
                </a:lnTo>
                <a:cubicBezTo>
                  <a:pt x="11350334" y="0"/>
                  <a:pt x="11418570" y="68236"/>
                  <a:pt x="11418570" y="152410"/>
                </a:cubicBezTo>
                <a:lnTo>
                  <a:pt x="11418570" y="1798310"/>
                </a:lnTo>
                <a:cubicBezTo>
                  <a:pt x="11418570" y="1882484"/>
                  <a:pt x="11350334" y="1950720"/>
                  <a:pt x="11266160" y="1950720"/>
                </a:cubicBezTo>
                <a:lnTo>
                  <a:pt x="152410" y="1950720"/>
                </a:lnTo>
                <a:cubicBezTo>
                  <a:pt x="68236" y="1950720"/>
                  <a:pt x="0" y="1882484"/>
                  <a:pt x="0" y="179831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11331654" y="5500223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65199"/>
                </a:moveTo>
                <a:cubicBezTo>
                  <a:pt x="250031" y="202202"/>
                  <a:pt x="220061" y="232172"/>
                  <a:pt x="183059" y="232172"/>
                </a:cubicBezTo>
                <a:lnTo>
                  <a:pt x="178594" y="232172"/>
                </a:lnTo>
                <a:cubicBezTo>
                  <a:pt x="168715" y="232172"/>
                  <a:pt x="160734" y="224191"/>
                  <a:pt x="160734" y="214313"/>
                </a:cubicBezTo>
                <a:cubicBezTo>
                  <a:pt x="160734" y="204434"/>
                  <a:pt x="168715" y="196453"/>
                  <a:pt x="178594" y="196453"/>
                </a:cubicBezTo>
                <a:lnTo>
                  <a:pt x="183059" y="196453"/>
                </a:lnTo>
                <a:cubicBezTo>
                  <a:pt x="200304" y="196453"/>
                  <a:pt x="214313" y="182445"/>
                  <a:pt x="214313" y="165199"/>
                </a:cubicBezTo>
                <a:lnTo>
                  <a:pt x="214313" y="160734"/>
                </a:lnTo>
                <a:lnTo>
                  <a:pt x="178594" y="160734"/>
                </a:lnTo>
                <a:cubicBezTo>
                  <a:pt x="158893" y="160734"/>
                  <a:pt x="142875" y="144717"/>
                  <a:pt x="142875" y="125016"/>
                </a:cubicBezTo>
                <a:lnTo>
                  <a:pt x="142875" y="89297"/>
                </a:lnTo>
                <a:cubicBezTo>
                  <a:pt x="142875" y="69596"/>
                  <a:pt x="158893" y="53578"/>
                  <a:pt x="178594" y="53578"/>
                </a:cubicBezTo>
                <a:lnTo>
                  <a:pt x="214313" y="53578"/>
                </a:lnTo>
                <a:cubicBezTo>
                  <a:pt x="234014" y="53578"/>
                  <a:pt x="250031" y="69596"/>
                  <a:pt x="250031" y="89297"/>
                </a:cubicBezTo>
                <a:lnTo>
                  <a:pt x="250031" y="165199"/>
                </a:lnTo>
                <a:close/>
                <a:moveTo>
                  <a:pt x="107156" y="165199"/>
                </a:moveTo>
                <a:cubicBezTo>
                  <a:pt x="107156" y="202202"/>
                  <a:pt x="77186" y="232172"/>
                  <a:pt x="40184" y="232172"/>
                </a:cubicBezTo>
                <a:lnTo>
                  <a:pt x="35719" y="232172"/>
                </a:lnTo>
                <a:cubicBezTo>
                  <a:pt x="25840" y="232172"/>
                  <a:pt x="17859" y="224191"/>
                  <a:pt x="17859" y="214313"/>
                </a:cubicBezTo>
                <a:cubicBezTo>
                  <a:pt x="17859" y="204434"/>
                  <a:pt x="25840" y="196453"/>
                  <a:pt x="35719" y="196453"/>
                </a:cubicBezTo>
                <a:lnTo>
                  <a:pt x="40184" y="196453"/>
                </a:lnTo>
                <a:cubicBezTo>
                  <a:pt x="57429" y="196453"/>
                  <a:pt x="71438" y="182445"/>
                  <a:pt x="71438" y="165199"/>
                </a:cubicBezTo>
                <a:lnTo>
                  <a:pt x="71438" y="160734"/>
                </a:lnTo>
                <a:lnTo>
                  <a:pt x="35719" y="160734"/>
                </a:lnTo>
                <a:cubicBezTo>
                  <a:pt x="16018" y="160734"/>
                  <a:pt x="0" y="144717"/>
                  <a:pt x="0" y="125016"/>
                </a:cubicBezTo>
                <a:lnTo>
                  <a:pt x="0" y="89297"/>
                </a:lnTo>
                <a:cubicBezTo>
                  <a:pt x="0" y="69596"/>
                  <a:pt x="16018" y="53578"/>
                  <a:pt x="35719" y="53578"/>
                </a:cubicBezTo>
                <a:lnTo>
                  <a:pt x="71438" y="53578"/>
                </a:lnTo>
                <a:cubicBezTo>
                  <a:pt x="91139" y="53578"/>
                  <a:pt x="107156" y="69596"/>
                  <a:pt x="107156" y="89297"/>
                </a:cubicBezTo>
                <a:lnTo>
                  <a:pt x="107156" y="165199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7" name="Text 34"/>
          <p:cNvSpPr/>
          <p:nvPr/>
        </p:nvSpPr>
        <p:spPr>
          <a:xfrm>
            <a:off x="1975009" y="5078723"/>
            <a:ext cx="922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پیام پایانی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975009" y="5383523"/>
            <a:ext cx="9220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13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این پروژه می‌تواند به عنوان </a:t>
            </a:r>
            <a:r>
              <a:rPr lang="en-US" sz="1350" dirty="0" err="1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یک</a:t>
            </a:r>
            <a:r>
              <a:rPr lang="en-US" sz="13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b="1" dirty="0" err="1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جعبه</a:t>
            </a:r>
            <a:r>
              <a:rPr lang="en-US" sz="1350" b="1" dirty="0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b="1" dirty="0" err="1">
                <a:solidFill>
                  <a:srgbClr val="FF6B6B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شن</a:t>
            </a:r>
            <a:r>
              <a:rPr lang="en-US" sz="13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برای سیاست‌گذاران عمل کند تا قبل از تصویب یک لایحه، بازخوردهای احتمالی سیستم زمین را مشاهده کنند.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38BE5E3-F7D8-B5C5-6F90-DD71D24EB5CD}"/>
              </a:ext>
            </a:extLst>
          </p:cNvPr>
          <p:cNvGrpSpPr/>
          <p:nvPr/>
        </p:nvGrpSpPr>
        <p:grpSpPr>
          <a:xfrm>
            <a:off x="10886122" y="4637011"/>
            <a:ext cx="748665" cy="748665"/>
            <a:chOff x="10691813" y="4737827"/>
            <a:chExt cx="748665" cy="748665"/>
          </a:xfrm>
          <a:solidFill>
            <a:srgbClr val="FF6B6B"/>
          </a:solidFill>
        </p:grpSpPr>
        <p:sp>
          <p:nvSpPr>
            <p:cNvPr id="39" name="Shape 36"/>
            <p:cNvSpPr/>
            <p:nvPr/>
          </p:nvSpPr>
          <p:spPr>
            <a:xfrm>
              <a:off x="10691813" y="4737827"/>
              <a:ext cx="748665" cy="748665"/>
            </a:xfrm>
            <a:custGeom>
              <a:avLst/>
              <a:gdLst/>
              <a:ahLst/>
              <a:cxnLst/>
              <a:rect l="l" t="t" r="r" b="b"/>
              <a:pathLst>
                <a:path w="748665" h="748665">
                  <a:moveTo>
                    <a:pt x="374333" y="0"/>
                  </a:moveTo>
                  <a:lnTo>
                    <a:pt x="374333" y="0"/>
                  </a:lnTo>
                  <a:cubicBezTo>
                    <a:pt x="581071" y="0"/>
                    <a:pt x="748665" y="167594"/>
                    <a:pt x="748665" y="374333"/>
                  </a:cubicBezTo>
                  <a:lnTo>
                    <a:pt x="748665" y="374333"/>
                  </a:lnTo>
                  <a:cubicBezTo>
                    <a:pt x="748665" y="581071"/>
                    <a:pt x="581071" y="748665"/>
                    <a:pt x="374333" y="748665"/>
                  </a:cubicBezTo>
                  <a:lnTo>
                    <a:pt x="374333" y="748665"/>
                  </a:lnTo>
                  <a:cubicBezTo>
                    <a:pt x="167594" y="748665"/>
                    <a:pt x="0" y="581071"/>
                    <a:pt x="0" y="374333"/>
                  </a:cubicBezTo>
                  <a:lnTo>
                    <a:pt x="0" y="374333"/>
                  </a:lnTo>
                  <a:cubicBezTo>
                    <a:pt x="0" y="167594"/>
                    <a:pt x="167594" y="0"/>
                    <a:pt x="374332" y="0"/>
                  </a:cubicBezTo>
                  <a:close/>
                </a:path>
              </a:pathLst>
            </a:custGeom>
            <a:grpFill/>
            <a:ln w="20320">
              <a:solidFill>
                <a:srgbClr val="FFFFFF"/>
              </a:solidFill>
              <a:prstDash val="solid"/>
            </a:ln>
          </p:spPr>
        </p:sp>
        <p:sp>
          <p:nvSpPr>
            <p:cNvPr id="40" name="Shape 37"/>
            <p:cNvSpPr/>
            <p:nvPr/>
          </p:nvSpPr>
          <p:spPr>
            <a:xfrm>
              <a:off x="10918984" y="497935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66973" y="31254"/>
                  </a:moveTo>
                  <a:cubicBezTo>
                    <a:pt x="66973" y="14008"/>
                    <a:pt x="80981" y="0"/>
                    <a:pt x="98227" y="0"/>
                  </a:cubicBezTo>
                  <a:lnTo>
                    <a:pt x="111621" y="0"/>
                  </a:lnTo>
                  <a:cubicBezTo>
                    <a:pt x="121500" y="0"/>
                    <a:pt x="129480" y="7981"/>
                    <a:pt x="129480" y="17859"/>
                  </a:cubicBezTo>
                  <a:lnTo>
                    <a:pt x="129480" y="267891"/>
                  </a:lnTo>
                  <a:cubicBezTo>
                    <a:pt x="129480" y="277769"/>
                    <a:pt x="121500" y="285750"/>
                    <a:pt x="111621" y="285750"/>
                  </a:cubicBezTo>
                  <a:lnTo>
                    <a:pt x="93762" y="285750"/>
                  </a:lnTo>
                  <a:cubicBezTo>
                    <a:pt x="77130" y="285750"/>
                    <a:pt x="63122" y="274365"/>
                    <a:pt x="59159" y="258961"/>
                  </a:cubicBezTo>
                  <a:cubicBezTo>
                    <a:pt x="58769" y="258961"/>
                    <a:pt x="58434" y="258961"/>
                    <a:pt x="58043" y="258961"/>
                  </a:cubicBezTo>
                  <a:cubicBezTo>
                    <a:pt x="33375" y="258961"/>
                    <a:pt x="13395" y="238981"/>
                    <a:pt x="13395" y="214313"/>
                  </a:cubicBezTo>
                  <a:cubicBezTo>
                    <a:pt x="13395" y="204267"/>
                    <a:pt x="16743" y="195002"/>
                    <a:pt x="22324" y="187523"/>
                  </a:cubicBezTo>
                  <a:cubicBezTo>
                    <a:pt x="11497" y="179375"/>
                    <a:pt x="4465" y="166427"/>
                    <a:pt x="4465" y="151805"/>
                  </a:cubicBezTo>
                  <a:cubicBezTo>
                    <a:pt x="4465" y="134559"/>
                    <a:pt x="14288" y="119546"/>
                    <a:pt x="28575" y="112123"/>
                  </a:cubicBezTo>
                  <a:cubicBezTo>
                    <a:pt x="24612" y="105426"/>
                    <a:pt x="22324" y="97613"/>
                    <a:pt x="22324" y="89297"/>
                  </a:cubicBezTo>
                  <a:cubicBezTo>
                    <a:pt x="22324" y="64629"/>
                    <a:pt x="42304" y="44648"/>
                    <a:pt x="66973" y="44648"/>
                  </a:cubicBezTo>
                  <a:lnTo>
                    <a:pt x="66973" y="31254"/>
                  </a:lnTo>
                  <a:close/>
                  <a:moveTo>
                    <a:pt x="218777" y="31254"/>
                  </a:moveTo>
                  <a:lnTo>
                    <a:pt x="218777" y="44648"/>
                  </a:lnTo>
                  <a:cubicBezTo>
                    <a:pt x="243446" y="44648"/>
                    <a:pt x="263426" y="64629"/>
                    <a:pt x="263426" y="89297"/>
                  </a:cubicBezTo>
                  <a:cubicBezTo>
                    <a:pt x="263426" y="97668"/>
                    <a:pt x="261138" y="105482"/>
                    <a:pt x="257175" y="112123"/>
                  </a:cubicBezTo>
                  <a:cubicBezTo>
                    <a:pt x="271518" y="119546"/>
                    <a:pt x="281285" y="134503"/>
                    <a:pt x="281285" y="151805"/>
                  </a:cubicBezTo>
                  <a:cubicBezTo>
                    <a:pt x="281285" y="166427"/>
                    <a:pt x="274253" y="179375"/>
                    <a:pt x="263426" y="187523"/>
                  </a:cubicBezTo>
                  <a:cubicBezTo>
                    <a:pt x="269007" y="195002"/>
                    <a:pt x="272355" y="204267"/>
                    <a:pt x="272355" y="214313"/>
                  </a:cubicBezTo>
                  <a:cubicBezTo>
                    <a:pt x="272355" y="238981"/>
                    <a:pt x="252375" y="258961"/>
                    <a:pt x="227707" y="258961"/>
                  </a:cubicBezTo>
                  <a:cubicBezTo>
                    <a:pt x="227316" y="258961"/>
                    <a:pt x="226981" y="258961"/>
                    <a:pt x="226591" y="258961"/>
                  </a:cubicBezTo>
                  <a:cubicBezTo>
                    <a:pt x="222628" y="274365"/>
                    <a:pt x="208620" y="285750"/>
                    <a:pt x="191988" y="285750"/>
                  </a:cubicBezTo>
                  <a:lnTo>
                    <a:pt x="174129" y="285750"/>
                  </a:lnTo>
                  <a:cubicBezTo>
                    <a:pt x="164250" y="285750"/>
                    <a:pt x="156270" y="277769"/>
                    <a:pt x="156270" y="267891"/>
                  </a:cubicBezTo>
                  <a:lnTo>
                    <a:pt x="156270" y="17859"/>
                  </a:lnTo>
                  <a:cubicBezTo>
                    <a:pt x="156270" y="7981"/>
                    <a:pt x="164250" y="0"/>
                    <a:pt x="174129" y="0"/>
                  </a:cubicBezTo>
                  <a:lnTo>
                    <a:pt x="187523" y="0"/>
                  </a:lnTo>
                  <a:cubicBezTo>
                    <a:pt x="204769" y="0"/>
                    <a:pt x="218777" y="14008"/>
                    <a:pt x="218777" y="31254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1" name="Text 38"/>
          <p:cNvSpPr/>
          <p:nvPr/>
        </p:nvSpPr>
        <p:spPr>
          <a:xfrm>
            <a:off x="574358" y="5593073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33334"/>
                </a:solidFill>
                <a:latin typeface="Times New Roman" panose="02020603050405020304" pitchFamily="18" charset="0"/>
                <a:ea typeface="得意黑" pitchFamily="34" charset="-122"/>
                <a:cs typeface="Times New Roman" panose="02020603050405020304" pitchFamily="18" charset="0"/>
              </a:rPr>
              <a:t>ABM + LLM</a:t>
            </a:r>
            <a:endParaRPr lang="en-US" sz="1600" dirty="0">
              <a:solidFill>
                <a:srgbClr val="3333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583883" y="5859773"/>
            <a:ext cx="142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33334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Future of Policy Modeling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1211</Words>
  <Application>Microsoft Office PowerPoint</Application>
  <PresentationFormat>Widescreen</PresentationFormat>
  <Paragraphs>241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توسعه و ارتقای عامل‌های سیاست‌گذار هوشمند در مدل CRAFTY</dc:title>
  <dc:subject>توسعه و ارتقای عامل‌های سیاست‌گذار هوشمند در مدل CRAFTY</dc:subject>
  <dc:creator>Amir</dc:creator>
  <cp:lastModifiedBy>Amir</cp:lastModifiedBy>
  <cp:revision>3</cp:revision>
  <dcterms:created xsi:type="dcterms:W3CDTF">2026-02-02T16:58:04Z</dcterms:created>
  <dcterms:modified xsi:type="dcterms:W3CDTF">2026-02-02T18:36:17Z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{"Label":"توسعه و ارتقای عامل‌های سیاست‌گذار هوشمند در مدل CRAFTY","ContentProducer":"001191110108MACG2KBH8F10000","ProduceID":"19c1f47b-4372-8889-8000-00006d46d949","ReservedCode1":"","ContentPropagator":"001191110108MACG2KBH8F20000","PropagateID":"19c1f47b-4372-8889-8000-00006d46d949","ReservedCode2":""}</vt:lpwstr>
  </property>
</Properties>
</file>